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2dfc1d06f6d4b6a" /><Relationship Type="http://schemas.openxmlformats.org/officeDocument/2006/relationships/extended-properties" Target="/docProps/app.xml" Id="R085e142090bd4130" /><Relationship Type="http://schemas.openxmlformats.org/officeDocument/2006/relationships/officeDocument" Target="/ppt/presentation.xml" Id="R5083f144783c420e" /></Relationships>
</file>

<file path=ppt/presentation.xml><?xml version="1.0" encoding="utf-8"?>
<p:presentation xmlns:p="http://schemas.openxmlformats.org/presentationml/2006/main">
  <p:sldMasterIdLst>
    <p:sldMasterId xmlns:r="http://schemas.openxmlformats.org/officeDocument/2006/relationships" id="2147483648" r:id="R042e2b983e414b9c"/>
  </p:sldMasterIdLst>
  <p:notesMasterIdLst>
    <p:notesMasterId xmlns:r="http://schemas.openxmlformats.org/officeDocument/2006/relationships" r:id="Rb61e26a26be14ea8"/>
  </p:notesMasterIdLst>
  <p:sldIdLst>
    <p:sldId xmlns:r="http://schemas.openxmlformats.org/officeDocument/2006/relationships" id="256" r:id="Rf39b9eeffa164074"/>
    <p:sldId xmlns:r="http://schemas.openxmlformats.org/officeDocument/2006/relationships" id="257" r:id="R18433f3ce4694167"/>
    <p:sldId xmlns:r="http://schemas.openxmlformats.org/officeDocument/2006/relationships" id="258" r:id="Rbb45a627e23946a3"/>
    <p:sldId xmlns:r="http://schemas.openxmlformats.org/officeDocument/2006/relationships" id="259" r:id="Rd1543d250aae40f6"/>
    <p:sldId xmlns:r="http://schemas.openxmlformats.org/officeDocument/2006/relationships" id="260" r:id="R82ae5f363a7940c9"/>
    <p:sldId xmlns:r="http://schemas.openxmlformats.org/officeDocument/2006/relationships" id="261" r:id="Rf36e867badba44a7"/>
    <p:sldId xmlns:r="http://schemas.openxmlformats.org/officeDocument/2006/relationships" id="262" r:id="R8aed67db880d444a"/>
    <p:sldId xmlns:r="http://schemas.openxmlformats.org/officeDocument/2006/relationships" id="263" r:id="R59f112264bf84afc"/>
    <p:sldId xmlns:r="http://schemas.openxmlformats.org/officeDocument/2006/relationships" id="264" r:id="R13323d91b42944f8"/>
    <p:sldId xmlns:r="http://schemas.openxmlformats.org/officeDocument/2006/relationships" id="265" r:id="Rc352502db96e4e2e"/>
    <p:sldId xmlns:r="http://schemas.openxmlformats.org/officeDocument/2006/relationships" id="266" r:id="Rd6839dc28b0a4de6"/>
    <p:sldId xmlns:r="http://schemas.openxmlformats.org/officeDocument/2006/relationships" id="267" r:id="R1da6214b01204c01"/>
    <p:sldId xmlns:r="http://schemas.openxmlformats.org/officeDocument/2006/relationships" id="268" r:id="R08df480e573245f8"/>
    <p:sldId xmlns:r="http://schemas.openxmlformats.org/officeDocument/2006/relationships" id="269" r:id="R6daa0afc75f145c6"/>
    <p:sldId xmlns:r="http://schemas.openxmlformats.org/officeDocument/2006/relationships" id="270" r:id="R4b20984b89dc4431"/>
    <p:sldId xmlns:r="http://schemas.openxmlformats.org/officeDocument/2006/relationships" id="271" r:id="Ra0100d622de84653"/>
    <p:sldId xmlns:r="http://schemas.openxmlformats.org/officeDocument/2006/relationships" id="272" r:id="R4873cc5555284a8c"/>
    <p:sldId xmlns:r="http://schemas.openxmlformats.org/officeDocument/2006/relationships" id="273" r:id="Rcaddb8dc4fa847f8"/>
    <p:sldId xmlns:r="http://schemas.openxmlformats.org/officeDocument/2006/relationships" id="274" r:id="Rfe45580dfa504e13"/>
    <p:sldId xmlns:r="http://schemas.openxmlformats.org/officeDocument/2006/relationships" id="275" r:id="R869990d21c9c4aed"/>
    <p:sldId xmlns:r="http://schemas.openxmlformats.org/officeDocument/2006/relationships" id="276" r:id="R341297d19e6842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83012695a14ce1" /><Relationship Type="http://schemas.openxmlformats.org/officeDocument/2006/relationships/slideMaster" Target="/ppt/slideMasters/slideMaster1.xml" Id="R042e2b983e414b9c" /><Relationship Type="http://schemas.openxmlformats.org/officeDocument/2006/relationships/notesMaster" Target="/ppt/notesMasters/notesMaster1.xml" Id="Rb61e26a26be14ea8" /><Relationship Type="http://schemas.openxmlformats.org/officeDocument/2006/relationships/presProps" Target="/ppt/presProps.xml" Id="R94e5d5ae9b404ef1" /><Relationship Type="http://schemas.openxmlformats.org/officeDocument/2006/relationships/tableStyles" Target="/ppt/tableStyles.xml" Id="Rfaaa4448e0794c53" /><Relationship Type="http://schemas.openxmlformats.org/officeDocument/2006/relationships/slide" Target="/ppt/slides/slide1.xml" Id="Rf39b9eeffa164074" /><Relationship Type="http://schemas.openxmlformats.org/officeDocument/2006/relationships/slide" Target="/ppt/slides/slide2.xml" Id="R18433f3ce4694167" /><Relationship Type="http://schemas.openxmlformats.org/officeDocument/2006/relationships/slide" Target="/ppt/slides/slide3.xml" Id="Rbb45a627e23946a3" /><Relationship Type="http://schemas.openxmlformats.org/officeDocument/2006/relationships/slide" Target="/ppt/slides/slide4.xml" Id="Rd1543d250aae40f6" /><Relationship Type="http://schemas.openxmlformats.org/officeDocument/2006/relationships/slide" Target="/ppt/slides/slide5.xml" Id="R82ae5f363a7940c9" /><Relationship Type="http://schemas.openxmlformats.org/officeDocument/2006/relationships/slide" Target="/ppt/slides/slide6.xml" Id="Rf36e867badba44a7" /><Relationship Type="http://schemas.openxmlformats.org/officeDocument/2006/relationships/slide" Target="/ppt/slides/slide7.xml" Id="R8aed67db880d444a" /><Relationship Type="http://schemas.openxmlformats.org/officeDocument/2006/relationships/slide" Target="/ppt/slides/slide8.xml" Id="R59f112264bf84afc" /><Relationship Type="http://schemas.openxmlformats.org/officeDocument/2006/relationships/slide" Target="/ppt/slides/slide9.xml" Id="R13323d91b42944f8" /><Relationship Type="http://schemas.openxmlformats.org/officeDocument/2006/relationships/slide" Target="/ppt/slides/slide10.xml" Id="Rc352502db96e4e2e" /><Relationship Type="http://schemas.openxmlformats.org/officeDocument/2006/relationships/slide" Target="/ppt/slides/slide11.xml" Id="Rd6839dc28b0a4de6" /><Relationship Type="http://schemas.openxmlformats.org/officeDocument/2006/relationships/slide" Target="/ppt/slides/slide12.xml" Id="R1da6214b01204c01" /><Relationship Type="http://schemas.openxmlformats.org/officeDocument/2006/relationships/slide" Target="/ppt/slides/slide13.xml" Id="R08df480e573245f8" /><Relationship Type="http://schemas.openxmlformats.org/officeDocument/2006/relationships/slide" Target="/ppt/slides/slide14.xml" Id="R6daa0afc75f145c6" /><Relationship Type="http://schemas.openxmlformats.org/officeDocument/2006/relationships/slide" Target="/ppt/slides/slide15.xml" Id="R4b20984b89dc4431" /><Relationship Type="http://schemas.openxmlformats.org/officeDocument/2006/relationships/slide" Target="/ppt/slides/slide16.xml" Id="Ra0100d622de84653" /><Relationship Type="http://schemas.openxmlformats.org/officeDocument/2006/relationships/slide" Target="/ppt/slides/slide17.xml" Id="R4873cc5555284a8c" /><Relationship Type="http://schemas.openxmlformats.org/officeDocument/2006/relationships/slide" Target="/ppt/slides/slide18.xml" Id="Rcaddb8dc4fa847f8" /><Relationship Type="http://schemas.openxmlformats.org/officeDocument/2006/relationships/slide" Target="/ppt/slides/slide19.xml" Id="Rfe45580dfa504e13" /><Relationship Type="http://schemas.openxmlformats.org/officeDocument/2006/relationships/slide" Target="/ppt/slides/slide20.xml" Id="R869990d21c9c4aed" /><Relationship Type="http://schemas.openxmlformats.org/officeDocument/2006/relationships/slide" Target="/ppt/slides/slide21.xml" Id="R341297d19e6842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f36068337945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lceix Investor">
      <a:dk1>
        <a:srgbClr val="000000"/>
      </a:dk1>
      <a:lt1>
        <a:srgbClr val="FFFFFF"/>
      </a:lt1>
      <a:dk2>
        <a:srgbClr val="081B3A"/>
      </a:dk2>
      <a:lt2>
        <a:srgbClr val="F5F8FC"/>
      </a:lt2>
      <a:accent1>
        <a:srgbClr val="075FF7"/>
      </a:accent1>
      <a:accent2>
        <a:srgbClr val="19C5D8"/>
      </a:accent2>
      <a:accent3>
        <a:srgbClr val="081B3A"/>
      </a:accent3>
      <a:accent4>
        <a:srgbClr val="138060"/>
      </a:accent4>
      <a:accent5>
        <a:srgbClr val="8CA8D6"/>
      </a:accent5>
      <a:accent6>
        <a:srgbClr val="BAC8DA"/>
      </a:accent6>
      <a:hlink>
        <a:srgbClr val="075FF7"/>
      </a:hlink>
      <a:folHlink>
        <a:srgbClr val="075FF7"/>
      </a:folHlink>
    </a:clrScheme>
    <a:fontScheme name="">
      <a:majorFont>
        <a:latin typeface="Arial"/>
        <a:ea typeface=""/>
        <a:cs typeface=""/>
      </a:majorFont>
      <a:minorFont>
        <a:latin typeface="Arial"/>
        <a:ea typeface=""/>
        <a:cs typeface=""/>
      </a:minorFont>
    </a:fontScheme>
    <a:fmtScheme name="Alceix Investo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3c97a63dd5456e" /><Relationship Type="http://schemas.openxmlformats.org/officeDocument/2006/relationships/notesMaster" Target="/ppt/notesMasters/notesMaster1.xml" Id="R68c7927434dc41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b2d6da3ee84fd0" /><Relationship Type="http://schemas.openxmlformats.org/officeDocument/2006/relationships/notesMaster" Target="/ppt/notesMasters/notesMaster1.xml" Id="R71a6dd643b7b41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d8cf6420324a2f" /><Relationship Type="http://schemas.openxmlformats.org/officeDocument/2006/relationships/notesMaster" Target="/ppt/notesMasters/notesMaster1.xml" Id="R5ed535d579594c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315c40bf5143e3" /><Relationship Type="http://schemas.openxmlformats.org/officeDocument/2006/relationships/notesMaster" Target="/ppt/notesMasters/notesMaster1.xml" Id="Re1ec4ad68c764a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3b72e6980b46c7" /><Relationship Type="http://schemas.openxmlformats.org/officeDocument/2006/relationships/notesMaster" Target="/ppt/notesMasters/notesMaster1.xml" Id="R2345005a262e49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6ca7d6e736498e" /><Relationship Type="http://schemas.openxmlformats.org/officeDocument/2006/relationships/notesMaster" Target="/ppt/notesMasters/notesMaster1.xml" Id="Rc3198e5afb1a4a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9e0cb25a624867" /><Relationship Type="http://schemas.openxmlformats.org/officeDocument/2006/relationships/notesMaster" Target="/ppt/notesMasters/notesMaster1.xml" Id="R672678222fe64b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25cf9d551746fc" /><Relationship Type="http://schemas.openxmlformats.org/officeDocument/2006/relationships/notesMaster" Target="/ppt/notesMasters/notesMaster1.xml" Id="R42110b80cfe246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dbcf1eeec642c9" /><Relationship Type="http://schemas.openxmlformats.org/officeDocument/2006/relationships/notesMaster" Target="/ppt/notesMasters/notesMaster1.xml" Id="R9b2763aafc844a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85c7a62bed42bd" /><Relationship Type="http://schemas.openxmlformats.org/officeDocument/2006/relationships/notesMaster" Target="/ppt/notesMasters/notesMaster1.xml" Id="R3f3ce2bc1c0f44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c9ea1c2b144978" /><Relationship Type="http://schemas.openxmlformats.org/officeDocument/2006/relationships/notesMaster" Target="/ppt/notesMasters/notesMaster1.xml" Id="R20522c231e684b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e41a3dac684241" /><Relationship Type="http://schemas.openxmlformats.org/officeDocument/2006/relationships/notesMaster" Target="/ppt/notesMasters/notesMaster1.xml" Id="Rd467de216c534a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25326ee6ae4f13" /><Relationship Type="http://schemas.openxmlformats.org/officeDocument/2006/relationships/notesMaster" Target="/ppt/notesMasters/notesMaster1.xml" Id="Rd4edb2d3d88e42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fa776a0e9148ea" /><Relationship Type="http://schemas.openxmlformats.org/officeDocument/2006/relationships/notesMaster" Target="/ppt/notesMasters/notesMaster1.xml" Id="R1af465fbeb5e43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ab78254aa1493c" /><Relationship Type="http://schemas.openxmlformats.org/officeDocument/2006/relationships/notesMaster" Target="/ppt/notesMasters/notesMaster1.xml" Id="R1077934700664a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29f7d889d3a4032" /><Relationship Type="http://schemas.openxmlformats.org/officeDocument/2006/relationships/notesMaster" Target="/ppt/notesMasters/notesMaster1.xml" Id="Re37c02eb3ffc4f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fd1bacf2be45c4" /><Relationship Type="http://schemas.openxmlformats.org/officeDocument/2006/relationships/notesMaster" Target="/ppt/notesMasters/notesMaster1.xml" Id="R69c6c267430d43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3820f1ce2e43de" /><Relationship Type="http://schemas.openxmlformats.org/officeDocument/2006/relationships/notesMaster" Target="/ppt/notesMasters/notesMaster1.xml" Id="R712fdc52115c403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1c9b82f23294081" /><Relationship Type="http://schemas.openxmlformats.org/officeDocument/2006/relationships/notesMaster" Target="/ppt/notesMasters/notesMaster1.xml" Id="Rf2f0afb7234a4d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122a0cf4c214083" /><Relationship Type="http://schemas.openxmlformats.org/officeDocument/2006/relationships/notesMaster" Target="/ppt/notesMasters/notesMaster1.xml" Id="Rd51e5ddb2f264c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0a4ce39f3642be" /><Relationship Type="http://schemas.openxmlformats.org/officeDocument/2006/relationships/notesMaster" Target="/ppt/notesMasters/notesMaster1.xml" Id="R2d99b64987e94f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Alceix, mağaza işletmecisi, tedarikçi ve influencer iş birliğini aynı ticaret akışında birleştirmeyi hedefleyen bir yazılım projesidir. Türkiye başlangıç pazarıdır. Kurucu ticari veri bulunmadığını belirtti. Bu sunumda müşteri, gelir, GMV, yatırım turu veya ekip deneyimi uydurulmamıştır. Fiyatlama ve pilot adetleri önerilen çalışma senaryolarıdır. Görsel ve marka varlıkları mevcut projeden alınmıştır; şirket tescili veya gerçek müşteri ilişkisi kanıtı sayılmaz.</a:t>
            </a:r>
          </a:p>
          <a:p xmlns:a="http://schemas.openxmlformats.org/drawingml/2006/main">
            <a:r>
              <a:t>Sunum kurgusu: https://sequoiacap.com/article/writing-a-business-plan</a:t>
            </a:r>
          </a:p>
          <a:p xmlns:a="http://schemas.openxmlformats.org/drawingml/2006/main">
            <a:r>
              <a:t>Tasarım ilkeleri: https://www.ycombinator.com/blog/how-to-design-a-better-pitch-deck/</a:t>
            </a:r>
          </a:p>
          <a:p xmlns:a="http://schemas.openxmlformats.org/drawingml/2006/main">
            <a:r>
              <a:t>Görsel: frontend/public/marketing/image-4.webp. Projedeki temsili mağaza işletmecisi görseli, gerçek müşteri kanıtı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henüz Alceix müşteri görüşmeleriyle doğrulanmadı. Mağaza, tedarikçi ve içerik üreticisi arasında stok, ürün bilgisi, teslim, içerik onayı ve ödemeyi ayrı kanallarda takip etmenin yarattığı sürtünmeyi pilotta ölçmek gerekir. Rakiplerin bütünleşik çözümleri olduğunu biliyoruz; tüm pazarın aynı sorunu yaşadığını veya hiç çözüm bulunmadığını iddia etmiyoruz. Hedef segment görüşmelerinde bugün hangi araçların kullanıldığı, en pahalı hata ve mevcut çözüme geçiş nedenleri sorgulanmalıdır. Fotoğraf temsili operasyon görselidir, Alceix deposu değildir.</a:t>
            </a:r>
          </a:p>
          <a:p xmlns:a="http://schemas.openxmlformats.org/drawingml/2006/main">
            <a:r>
              <a:t>Rakip bağlamı: https://www.shopier.com/</a:t>
            </a:r>
          </a:p>
          <a:p xmlns:a="http://schemas.openxmlformats.org/drawingml/2006/main">
            <a:r>
              <a:t>https://ikas.com/tr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slide amaçlanan kullanıcı akışını anlatır. Backend, sahiplik/ekip, ürün/stok, ortaklık/teklif, ödeme/iade/finans kaynaklarını birbirine bağlar. Her mağazanın kendi vitrini ve yönetim alanı vardır; tedarikçi ve influencer ayrı namespace ve sahiplik kullanır. Tedarikçi kataloğunu içe aktarmak mağazada fiziksel stok yaratmaz. Otomatik son tüketici dropshipping fulfillment veya influencer numune sevki mevcut koddan çıkarılamaz. Frontend bağlantıları ve gerçek provider adaptörleri tamamlanmadan bu dört adım canlı ürün vaadi değildir.</a:t>
            </a:r>
          </a:p>
          <a:p xmlns:a="http://schemas.openxmlformats.org/drawingml/2006/main">
            <a:r>
              <a:t>Proje kaynağı: backend/docs/implementation-review-2026-10-13.md. Yazılım testleri ticari talep doğrulaması değildir.</a:t>
            </a:r>
          </a:p>
          <a:p xmlns:a="http://schemas.openxmlformats.org/drawingml/2006/main">
            <a:r>
              <a:t>Görsel: frontend/public/influencer/creator-desk.jpg. Temsili çalışma alanıdır. Telefon ekranındaki grafik Alceix performansı veya analitik ekranı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Görüntü gerçek frontend ve backend ile geçici, izole MongoDB replica set ortamında alındı. Luma Studio ve ürünler sunum için demo veridir. Vitrin ve ürün yönetimi prototipi çalışır; bu görsel ücretli müşteri, satış, gerçek marka iş ortaklığı veya production yayın kanıtı değildir. Alıcı checkout ve yeni ticari panellerin frontend bağlantıları ayrıca tamamlanmalıdır.</a:t>
            </a:r>
          </a:p>
          <a:p xmlns:a="http://schemas.openxmlformats.org/drawingml/2006/main">
            <a:r>
              <a:t>Görüntü: storefront.png, geçici localhost geliştirme ortamı.</a:t>
            </a:r>
          </a:p>
          <a:p xmlns:a="http://schemas.openxmlformats.org/drawingml/2006/main">
            <a:r>
              <a:t>Proje kaynağı: backend/docs/implementation-review-2026-10-13.md. Yazılım testleri ticari talep doğrulaması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Shopify 2025 Form 10-K raporunda GMV 2023 için 235,9 milyar USD, 2024 için 292,3 milyar USD ve 2025 için 378,4 milyar USD olarak yer alır. GMV, Shopify geliri değildir ve toplam küresel e-ticaret pazarı veya Alceix TAM hesabı değildir. IAB, ABD creator reklam harcamasını Kasım 2025 raporunda 2025 için 37 milyar USD olarak tahmin etti. Bu gerçekleşmiş 2025 sonuç veya global creator pazarı değildir. Bu iki farklı gösterge toplanmaz. Stratejik yorum: sektör büyük örnekler barındırır, fakat Alceix’in Türkiye’de ödeme isteğini ayrıca ölçmesi gerekir.</a:t>
            </a:r>
          </a:p>
          <a:p xmlns:a="http://schemas.openxmlformats.org/drawingml/2006/main">
            <a:r>
              <a:t>https://www.sec.gov/Archives/edgar/data/1594805/000159480526000007/shop-20251231.htm</a:t>
            </a:r>
          </a:p>
          <a:p xmlns:a="http://schemas.openxmlformats.org/drawingml/2006/main">
            <a:r>
              <a:t>https://www.iab.com/news/creator-economy-ad-spend-to-reach-37-billion-in-2025-growing-4x-faster-than-total-media-industry-according-to-iab/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2025 Türkiye e-ticaret raporuna göre e-ticaret faaliyetinde bulunan işletme sayısı 634.611, perakende e-ticaret hacmi 2,46 trilyon TL ve giyim/ayakkabı/aksesuar hacmi 428,7 milyar TL’dir. Hacimler cari TL’dir; nominal artış reel büyüme olarak yorumlanmaz. Bu rakamlar Alceix’in adresleyebildiği gelir değildir. Türkiye odaklı giriş stratejisi kullanıcı tarafından belirtildi. Dar ilk sektör bir pilot önerisidir.</a:t>
            </a:r>
          </a:p>
          <a:p xmlns:a="http://schemas.openxmlformats.org/drawingml/2006/main">
            <a:r>
              <a:t>https://etbis.ticaret.gov.tr/tr/Post/postturkiyede-e-ticaretin-gorunumu-2025-raporu-yayimlandi-3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Segment önerisi, proje ürünleri ve resmi sektör hacmi üzerinden kurulan bir hipotezdir. Henüz müşteri segmenti doğrulaması yoktur. İlk aşamada geniş bir pazaryeri açmak yerine zaten ürün satan küçük marka, yerel tedarikçi ve uygun içerik üreticilerinden oluşan dar bir kohort seçilmesi önerilir. Görüşmeler mağazanın tekrarlı satışı, stok ve tedarik yönetimi yükü, creator iş birliği deneyimi ve ödeme isteğini ölçmelidir. Creator veya tedarikçi ilişkilerinin bugün kurulmuş olduğu iddia edilmez.</a:t>
            </a:r>
          </a:p>
          <a:p xmlns:a="http://schemas.openxmlformats.org/drawingml/2006/main">
            <a:r>
              <a:t>https://etbis.ticaret.gov.tr/tr/Post/postturkiyede-e-ticaretin-gorunumu-2025-raporu-yayimlandi-3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tablo özelliklerin yokluğunu veya üstünlük sıralamasını iddia etmez. Shopier mağaza, ödeme ve gönderim sunar. ikas geniş e-ticaret ve pazarlama entegrasyonları sunar. Shopify, Collective ile tedarik iş birlikleri ve Collabs ile creator ilişkileri sunar. Alceix’in farkı henüz ticari olarak doğrulanmış değildir; Türkiye’de seçilen küçük marka kohortunda bütünleşik iş akışının kullanım kolaylığı ve sonuçları ölçülmelidir. Rakiplerin pazarı boş bırakmadığı özellikle dikkate alınmalıdır.</a:t>
            </a:r>
          </a:p>
          <a:p xmlns:a="http://schemas.openxmlformats.org/drawingml/2006/main">
            <a:r>
              <a:t>https://www.shopier.com/</a:t>
            </a:r>
          </a:p>
          <a:p xmlns:a="http://schemas.openxmlformats.org/drawingml/2006/main">
            <a:r>
              <a:t>https://ikas.com/tr</a:t>
            </a:r>
          </a:p>
          <a:p xmlns:a="http://schemas.openxmlformats.org/drawingml/2006/main">
            <a:r>
              <a:t>https://www.shopify.com/collective</a:t>
            </a:r>
          </a:p>
          <a:p xmlns:a="http://schemas.openxmlformats.org/drawingml/2006/main">
            <a:r>
              <a:t>https://www.shopify.com/collabs/find-influencers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Fiyatlar uygulanan ya da kurucu tarafından onaylanmış fiyatlar değildir. Kullanıcının özel ticari verisi olmadığı için model örnek çalışma varsayımıdır. İşlem ücreti iade sonrası uygun ticaret hacminin %1,5’i; bu Alceix servis ücretidir ve ödeme kuruluşu komisyonuna dahil değildir. Opsiyonel Pro abonelik aylık 500 TL varsayılır. Abonelik tahsilat altyapısı henüz uygulanmış bir canlı ürün değildir, geliştirilecek fiyatlama planıdır. AI ek geliri kullanım maliyetini ve katkı marjını karşılayacak biçimde ayrıca test edilir, sayısal modele eklenmez. Ödeme/kargo maliyetlerini ayrı yansıtma da doğrulanacak bir varsayımdır.</a:t>
            </a:r>
          </a:p>
          <a:p xmlns:a="http://schemas.openxmlformats.org/drawingml/2006/main">
            <a:r>
              <a:t>Proje policy’leri production’da otomatik bu değerlerle doldurulmaz.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Adetler gerçek kullanıcı veya imzalanmış partner sayıları değildir. Kontrollü pilot kohortu için önerilen hedeflerdir. Önce yerel tedarikçi ve gerçek ürün kataloğu, ardından düzenli ürün satan mağazalar ve içerik üreticileri ile kurucu destekli onboarding denenir. Paid checkout, provider sözleşmeleri ve müşteri destek akışı pilot kabul koşuludur. Eşleştirme toplu ağ etkisi varsayımından önce manuel yapılabilir. Pilot sonrasında tekrarlı sipariş, destek yükü ve ücret ödeme davranışı incelenir.</a:t>
            </a:r>
          </a:p>
          <a:p xmlns:a="http://schemas.openxmlformats.org/drawingml/2006/main">
            <a:r>
              <a:t>Görseller: frontend/public/marketing/image-2.webp, dropshipping/warehouse.jpg, influencer/selin-yilmaz.jpg. Hepsi projedeki temsili rol görselleridir. Görsel dosya adı bir gerçek kişiyle kurulmuş iş birliğini göstermez.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Alceix için henüz raporlanmış satış/gelir/müşteri verisi yoktur. Bu slide pilot ölçüm sözleşmesini önerir. Tamamlanmış satış tanımı gerçek tahsilat ve ilgili fulfillment/iade durumuyla sınırlandırılmalı; test kayıtları hariç tutulmalıdır. Aktif satıcı kohortu, ilk satışa kadar süre, 30/90 gün devamlılığı, ikinci sipariş, ücret ödeme davranışı, katkı marjı, churn, müşteri kazanım maliyeti ve CAC geri ödeme süresi izlenir. Teknik test sayısı müşteri çekişi yerine kullanılamaz. Finansal sayılar ölçülene kadar CAC veya LTV gerçekleşmiş gibi yazılmaz.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Ekim raporu backend için 101, frontend yardımcıları için 88 ve Chromium için 12 başarılı test bildirir. Bu teknik doğrulamadır, production güvenliği, yük testi, gerçek provider kabulü veya ticari çekiş kanıtı değildir. Mevcut bağlı ürün yönetimi arayüzü geçici fixture ile görüntülendi. Checkout/alıcı ekranları, partner panel bağlantıları ve gerçek ödeme/kargo/mesaj/AI/fiscal vendor adaptörleri eksiktir. Backend bazı kapsamları tam sipariş iadesi ve manuel B2B retail stok girişiyle sınırlar.</a:t>
            </a:r>
          </a:p>
          <a:p xmlns:a="http://schemas.openxmlformats.org/drawingml/2006/main">
            <a:r>
              <a:t>Proje kaynağı: backend/docs/implementation-review-2026-10-13.md. Yazılım testleri ticari talep doğrulaması değildir.</a:t>
            </a:r>
          </a:p>
          <a:p xmlns:a="http://schemas.openxmlformats.org/drawingml/2006/main">
            <a:r>
              <a:t>Görsel: products.png, demo ürünler ve fiyatlar.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strateji bir savunulabilirlik hipotezidir. Bugün kurulu ağ, proprietary veri üstünlüğü, exclusive tedarik sözleşmesi veya kanıtlanmış switching cost yoktur. Pilot kohortunda aynı mağazanın tekrar tedarik yapması, yeniden içerik iş birliği kurması ve iş durumunu sistemde takip etmesi değer hipotezini test eder. Güvenilir partner performans bilgisi izin ve erişim kapsamıyla oluşabilir; platform müşteri verisini sahibi dışında kullanamaz. Olası ağ etkisi ölçülmeden kazanılmış moat olarak sunulmaz.</a:t>
            </a:r>
          </a:p>
          <a:p xmlns:a="http://schemas.openxmlformats.org/drawingml/2006/main">
            <a:r>
              <a:t>Görsel: frontend/public/about/image-0.webp. Temsili iş birliği sahnesi, mevcut Alceix ekibi veya iş ortakları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Takvim tamamlanmış iş veya garanti değildir. İlk üç ayın kabul koşulu canlı provider, checkout ve partner frontend akışlarıdır. 4–6. ay kontrollü kohort, satıcı görüşmeleri ve tekrarlı sipariş ölçümüne ayrılır. 7–12. ay büyümeye otomatik geçilmez; retention ve katkı marjı yeterli değilse ürün/segment değişir. Kapasite planı, ücret ödeme davranışı ve gerçek personel bütçesi takvimi değiştirebilir.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Yatırım tutarı, kurucu/ekip bütçesi ve tur şartları verilmediği için uydurulmadı. Dağılım örnek planlama önerisidir, onaylanmış bütçe değildir. Ürün ve mühendislik %45, satış ve pilot %25, entegrasyon %20, operasyon %10; toplam %100. Runway yatırım tutarı ve aylık net nakit tüketimiyle hesaplanmalıdır, mevcut para/cash burn bilgisi yoktur. Native chart düzenlenebilir. Somut ask, personel ve vendor teklifleriyle yatırım görüşmesinden önce tamamlanmalıdır.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Kapanış, müşteri ve finansman verisinin henüz olmadığı bir proje için somut sonraki adımı tanımlar: çalışan ürün akışı, kontrol edilmiş ücretli pilot ve tekrar satışın ölçülmesi. İletişim kişisi, kurucu geçmişi, yatırım tutarı, kullanım bütçesi, şirket/IP bilgisi ve varsa görüşme/sözleşmeler yatırımcıya dış paylaşım öncesi kurucu tarafından doğrulanmalıdır. Kullanıcı bu aşamada özel ticari veri olmadığını belirtti.</a:t>
            </a:r>
          </a:p>
          <a:p xmlns:a="http://schemas.openxmlformats.org/drawingml/2006/main">
            <a:r>
              <a:t>Görsel: frontend/public/storefront/gallery/cardigan-alternate.png. Demo katalog için kullanılan temsili giyim ürünü görseli.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Tüm Alceix sayıları varsayımdır. Aktif mağaza başına aylık iade sonrası uygun hacim 40.000 TL; Alceix işlem servis ücreti %1,5, yani 600 TL. Mağazaların %20’si aylık 500 TL Pro öder, ağırlıklı 100 TL. Toplam mağaza başına 700 TL aylık platform geliri. 100, 300, 1000 mağaza için aylık gelirler 70.000, 210.000, 700.000 TL; yıllık eşdeğerler 840.000, 2.520.000, 8.400.000 TL. Yapay zeka ek geliri modele dahil değildir. Rakamlar ödeme kuruluşu/kargo bedelleri ve KDV hariçtir, giderler düşülmemiştir; kâr değildir. Her mağazanın aynı performansı ve abonelik dönüşümü göstermesi garanti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ETBİS işletme sayısı 634.611 ve giyim/ayakkabı/aksesuar işletme oranı %13,8 alınır: yaklaşık 87.600 işletme, yuvarlanmış sektör havuzu. Tümü ürün için uygun veya ücret ödemeye hazır değildir. SAM için %20 uygunluk/erişilebilirlik varsayımı 17.520 işletme verir. SOM bu örnekte üçüncü yıl için 1.000 mağaza hedef senaryosudur, mevcut kullanıcı veya güvenilir forecast değildir. Ek 1 modelindeki mağaza başına yıllık 8.400 TL platform gelirinden sırasıyla 735,84 milyon, 147,168 milyon ve 8,4 milyon TL teorik yıllık eşdeğer türetilir. Para birimi cari TL’dir, büyüklük enflasyon veya kurdan arındırılmamıştır. Bu modeller merchant görüşmeleri ve netGMV/retention ile tekrar kurulmalıdır.</a:t>
            </a:r>
          </a:p>
          <a:p xmlns:a="http://schemas.openxmlformats.org/drawingml/2006/main">
            <a:r>
              <a:t>https://etbis.ticaret.gov.tr/tr/Post/postturkiyede-e-ticaretin-gorunumu-2025-raporu-yayimlandi-3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Riskler projeye ve önerilen modelin varsayımlarına dayanır. Çok taraflı başlangıç bir sektör ve kurucu destekli eşleştirmeyle sınırlandırılabilir. Fiyatlandırma, ücretsiz yerel alternatiflerin karşısında satıcıların ödeme davranışıyla doğrulanmalıdır. Provider/KYC/fiscal ve uyum kapsamı gerçek sağlayıcı ve uzman incelemesi gerektirir. Uygulamadaki balance/escrow kayıtları ödeme lisansı veya banka faaliyeti kanıtı değildir. Ekonomik tutarlılık, refund/PSP/müşteri destek/AI maliyeti dahil değerlendirilmelidir. Henüz operasyonel veya hukuki onay verilmiş olduğu iddia edilmez.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Kurucu adı, ekip geçmişi ve çalışan sayısı verilmedi. Bu slide mevcut ekip ilanı değil gerekli yetkinlikleri ve görüşmede açıklanacak bilgileri tanımlar. Teknik projenin varlığı ekibin belirli bir kurucu deneyimi veya tam zamanlı çalışan sayısı olduğu anlamına gelmez. Yatırım büyüklüğü ve 12 ay runway örneği ancak gerçek ücret, vendor teklifi, müşteri edinme bütçesi ve başlangıç nakdiyle hesaplanabilir. Kurucunun biyografisi, şirket/IP sahipliği, hisse yapısı ve iletişim kişisi ayrıca teyit edilmelidir.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sequoia: https://sequoiacap.com/article/writing-a-business-plan</a:t>
            </a:r>
          </a:p>
          <a:p xmlns:a="http://schemas.openxmlformats.org/drawingml/2006/main">
            <a:r>
              <a:t>yc: https://www.ycombinator.com/blog/how-to-design-a-better-pitch-deck/</a:t>
            </a:r>
          </a:p>
          <a:p xmlns:a="http://schemas.openxmlformats.org/drawingml/2006/main">
            <a:r>
              <a:t>tr: https://etbis.ticaret.gov.tr/tr/Post/postturkiyede-e-ticaretin-gorunumu-2025-raporu-yayimlandi-3</a:t>
            </a:r>
          </a:p>
          <a:p xmlns:a="http://schemas.openxmlformats.org/drawingml/2006/main">
            <a:r>
              <a:t>shopify: https://www.sec.gov/Archives/edgar/data/1594805/000159480526000007/shop-20251231.htm</a:t>
            </a:r>
          </a:p>
          <a:p xmlns:a="http://schemas.openxmlformats.org/drawingml/2006/main">
            <a:r>
              <a:t>iab: https://www.iab.com/news/creator-economy-ad-spend-to-reach-37-billion-in-2025-growing-4x-faster-than-total-media-industry-according-to-iab/</a:t>
            </a:r>
          </a:p>
          <a:p xmlns:a="http://schemas.openxmlformats.org/drawingml/2006/main">
            <a:r>
              <a:t>shopier: https://www.shopier.com/</a:t>
            </a:r>
          </a:p>
          <a:p xmlns:a="http://schemas.openxmlformats.org/drawingml/2006/main">
            <a:r>
              <a:t>ikas: https://ikas.com/tr</a:t>
            </a:r>
          </a:p>
          <a:p xmlns:a="http://schemas.openxmlformats.org/drawingml/2006/main">
            <a:r>
              <a:t>collective: https://www.shopify.com/collective</a:t>
            </a:r>
          </a:p>
          <a:p xmlns:a="http://schemas.openxmlformats.org/drawingml/2006/main">
            <a:r>
              <a:t>collabs: https://www.shopify.com/collabs/find-influencers</a:t>
            </a:r>
          </a:p>
          <a:p xmlns:a="http://schemas.openxmlformats.org/drawingml/2006/main">
            <a:r>
              <a:t>repo: Proje kaynağı: backend/docs/implementation-review-2026-10-13.md. Yazılım testleri ticari talep doğrulaması değildir.</a:t>
            </a:r>
          </a:p>
          <a:p xmlns:a="http://schemas.openxmlformats.org/drawingml/2006/main">
            <a:r>
              <a:t>Görsel kaynakları: mevcut frontend/public varlıkları ve geçici test verisiyle gerçek prototip ekran görüntüleri. Pazar verisi, kendi proje durumu ve önerilen senaryolar birbirinden ayrılmıştır. Araştırma tarihi 13 Ekim 2026. Kurucu özel gelir/kullanıcı verisi bulunmadığını bildirdi. Görüşme öncesi kaynakların güncelliği ve kurucu bilgilerinin teyidi gerekir.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e7da79c68246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bb86764e9f44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1b6e37df864b1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042fb6782e4b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565b4a7c4a4c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1b316f5d3449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1C9FAC-05F9-4909-AE30-BC4503A8D7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7C524F4-0E2E-4D1E-84CB-2921031BAC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99AF70-7900-4E1F-B0E2-5B6D3F0311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2F386E-4C04-4F70-AC9A-C1DEDED719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3C4EA0-CF47-4901-8898-1ED84132F9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B41637-9F4D-4F41-B118-C9687C478E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ABCB4B-0802-429E-BA77-3B93518ABE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57E3CC-5B2A-4E7A-A05B-B8D7A74FFD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7C27EA-2554-4F7A-A8FC-7FE059F6FC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B93CA9-1011-44A1-BCAB-1CBCEB2D17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973875a0ef4a08" /><Relationship Type="http://schemas.openxmlformats.org/officeDocument/2006/relationships/slideLayout" Target="/ppt/slideLayouts/slideLayout1.xml" Id="R292babaf3c0a4c62" /><Relationship Type="http://schemas.openxmlformats.org/officeDocument/2006/relationships/slideLayout" Target="/ppt/slideLayouts/slideLayout2.xml" Id="R9c2cbf9ff27e4e76" /><Relationship Type="http://schemas.openxmlformats.org/officeDocument/2006/relationships/slideLayout" Target="/ppt/slideLayouts/slideLayout3.xml" Id="R4eed51fec8954aac" /><Relationship Type="http://schemas.openxmlformats.org/officeDocument/2006/relationships/slideLayout" Target="/ppt/slideLayouts/slideLayout4.xml" Id="R052c40a82e404e3e" /><Relationship Type="http://schemas.openxmlformats.org/officeDocument/2006/relationships/slideLayout" Target="/ppt/slideLayouts/slideLayout5.xml" Id="R2a5991f975324bd0" /><Relationship Type="http://schemas.openxmlformats.org/officeDocument/2006/relationships/slideLayout" Target="/ppt/slideLayouts/slideLayout6.xml" Id="Rf0d8d30582054f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2babaf3c0a4c62"/>
    <p:sldLayoutId xmlns:r="http://schemas.openxmlformats.org/officeDocument/2006/relationships" id="2147483650" r:id="R9c2cbf9ff27e4e76"/>
    <p:sldLayoutId xmlns:r="http://schemas.openxmlformats.org/officeDocument/2006/relationships" id="2147483651" r:id="R4eed51fec8954aac"/>
    <p:sldLayoutId xmlns:r="http://schemas.openxmlformats.org/officeDocument/2006/relationships" id="2147483652" r:id="R052c40a82e404e3e"/>
    <p:sldLayoutId xmlns:r="http://schemas.openxmlformats.org/officeDocument/2006/relationships" id="2147483653" r:id="R2a5991f975324bd0"/>
    <p:sldLayoutId xmlns:r="http://schemas.openxmlformats.org/officeDocument/2006/relationships" id="2147483654" r:id="Rf0d8d30582054f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lceix Investor">
      <a:dk1>
        <a:srgbClr val="000000"/>
      </a:dk1>
      <a:lt1>
        <a:srgbClr val="FFFFFF"/>
      </a:lt1>
      <a:dk2>
        <a:srgbClr val="081B3A"/>
      </a:dk2>
      <a:lt2>
        <a:srgbClr val="F5F8FC"/>
      </a:lt2>
      <a:accent1>
        <a:srgbClr val="075FF7"/>
      </a:accent1>
      <a:accent2>
        <a:srgbClr val="19C5D8"/>
      </a:accent2>
      <a:accent3>
        <a:srgbClr val="081B3A"/>
      </a:accent3>
      <a:accent4>
        <a:srgbClr val="138060"/>
      </a:accent4>
      <a:accent5>
        <a:srgbClr val="8CA8D6"/>
      </a:accent5>
      <a:accent6>
        <a:srgbClr val="BAC8DA"/>
      </a:accent6>
      <a:hlink>
        <a:srgbClr val="075FF7"/>
      </a:hlink>
      <a:folHlink>
        <a:srgbClr val="075FF7"/>
      </a:folHlink>
    </a:clrScheme>
    <a:fontScheme name="">
      <a:majorFont>
        <a:latin typeface="Arial"/>
        <a:ea typeface=""/>
        <a:cs typeface=""/>
      </a:majorFont>
      <a:minorFont>
        <a:latin typeface="Arial"/>
        <a:ea typeface=""/>
        <a:cs typeface=""/>
      </a:minorFont>
    </a:fontScheme>
    <a:fmtScheme name="Alceix Investo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cbebce10804eeb" /><Relationship Type="http://schemas.openxmlformats.org/officeDocument/2006/relationships/image" Target="/ppt/media/image.png" Id="R5e4ae0e35ae64eb3" /><Relationship Type="http://schemas.openxmlformats.org/officeDocument/2006/relationships/image" Target="/ppt/media/image.jpeg" Id="R2433a568d0fd4e05" /><Relationship Type="http://schemas.openxmlformats.org/officeDocument/2006/relationships/notesSlide" Target="/ppt/notesSlides/notesSlide1.xml" Id="Rec062f74f9b646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944a871b6e4095" /><Relationship Type="http://schemas.openxmlformats.org/officeDocument/2006/relationships/image" Target="/ppt/media/image.bin" Id="R87cc2c05e44e4f9e" /><Relationship Type="http://schemas.openxmlformats.org/officeDocument/2006/relationships/notesSlide" Target="/ppt/notesSlides/notesSlide2.xml" Id="R1b1d3c988a7f4f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be4f4bfc4842c9" /><Relationship Type="http://schemas.openxmlformats.org/officeDocument/2006/relationships/image" Target="/ppt/media/image2.jpeg" Id="R3211f947cb83481e" /><Relationship Type="http://schemas.openxmlformats.org/officeDocument/2006/relationships/notesSlide" Target="/ppt/notesSlides/notesSlide3.xml" Id="R38c932a098dd42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648ba1f50c4592" /><Relationship Type="http://schemas.openxmlformats.org/officeDocument/2006/relationships/image" Target="/ppt/media/image2.png" Id="R88b9e66587fd4bcd" /><Relationship Type="http://schemas.openxmlformats.org/officeDocument/2006/relationships/notesSlide" Target="/ppt/notesSlides/notesSlide4.xml" Id="Re06b14c5488f4b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e321e949c9471f" /><Relationship Type="http://schemas.openxmlformats.org/officeDocument/2006/relationships/chart" Target="/ppt/slides/charts/chart1.xml" Id="R96b6e8edd7c34013" /><Relationship Type="http://schemas.openxmlformats.org/officeDocument/2006/relationships/notesSlide" Target="/ppt/notesSlides/notesSlide5.xml" Id="Rfbe2c4c5a0eb4e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19f6cfed8b43c2" /><Relationship Type="http://schemas.openxmlformats.org/officeDocument/2006/relationships/notesSlide" Target="/ppt/notesSlides/notesSlide6.xml" Id="Rdc3d6a2a0b1742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505c2347214e84" /><Relationship Type="http://schemas.openxmlformats.org/officeDocument/2006/relationships/image" Target="/ppt/media/image3.jpeg" Id="Rea67c1ba42114118" /><Relationship Type="http://schemas.openxmlformats.org/officeDocument/2006/relationships/notesSlide" Target="/ppt/notesSlides/notesSlide7.xml" Id="R30966b1f850447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24815ae88143f7" /><Relationship Type="http://schemas.openxmlformats.org/officeDocument/2006/relationships/notesSlide" Target="/ppt/notesSlides/notesSlide8.xml" Id="R515d447cca7f41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355450d1dfe4e6d" /><Relationship Type="http://schemas.openxmlformats.org/officeDocument/2006/relationships/notesSlide" Target="/ppt/notesSlides/notesSlide9.xml" Id="Rc713dd78289047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4db2fd6c9f64120" /><Relationship Type="http://schemas.openxmlformats.org/officeDocument/2006/relationships/image" Target="/ppt/media/image4.jpeg" Id="R598b488fa5be4f6f" /><Relationship Type="http://schemas.openxmlformats.org/officeDocument/2006/relationships/image" Target="/ppt/media/image5.jpeg" Id="R2e01d5313e22409e" /><Relationship Type="http://schemas.openxmlformats.org/officeDocument/2006/relationships/image" Target="/ppt/media/image6.jpeg" Id="R377834a12d94451f" /><Relationship Type="http://schemas.openxmlformats.org/officeDocument/2006/relationships/notesSlide" Target="/ppt/notesSlides/notesSlide10.xml" Id="R86b7d83b464e4b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a6a007200c487c" /><Relationship Type="http://schemas.openxmlformats.org/officeDocument/2006/relationships/notesSlide" Target="/ppt/notesSlides/notesSlide11.xml" Id="R4765a1219ff740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02dd314e3d24b70" /><Relationship Type="http://schemas.openxmlformats.org/officeDocument/2006/relationships/image" Target="/ppt/media/image3.png" Id="R453a4cd313a14762" /><Relationship Type="http://schemas.openxmlformats.org/officeDocument/2006/relationships/notesSlide" Target="/ppt/notesSlides/notesSlide12.xml" Id="Rc87e3db139d047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4e767897f094e7e" /><Relationship Type="http://schemas.openxmlformats.org/officeDocument/2006/relationships/image" Target="/ppt/media/image2.bin" Id="R91b65b31f518421d" /><Relationship Type="http://schemas.openxmlformats.org/officeDocument/2006/relationships/notesSlide" Target="/ppt/notesSlides/notesSlide13.xml" Id="R016435aed6b042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797a0f289be420b" /><Relationship Type="http://schemas.openxmlformats.org/officeDocument/2006/relationships/notesSlide" Target="/ppt/notesSlides/notesSlide14.xml" Id="Rbd28a608e84340e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e6f936dd061453d" /><Relationship Type="http://schemas.openxmlformats.org/officeDocument/2006/relationships/chart" Target="/ppt/slides/charts/chart2.xml" Id="Rd8321ff0330d414f" /><Relationship Type="http://schemas.openxmlformats.org/officeDocument/2006/relationships/notesSlide" Target="/ppt/notesSlides/notesSlide15.xml" Id="R7108e03fa95e47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9b3421ee7954b96" /><Relationship Type="http://schemas.openxmlformats.org/officeDocument/2006/relationships/image" Target="/ppt/media/image4.png" Id="Re5d47059ae3c4993" /><Relationship Type="http://schemas.openxmlformats.org/officeDocument/2006/relationships/notesSlide" Target="/ppt/notesSlides/notesSlide16.xml" Id="Raeda880b22154f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89b4bcfa85d4cb3" /><Relationship Type="http://schemas.openxmlformats.org/officeDocument/2006/relationships/notesSlide" Target="/ppt/notesSlides/notesSlide17.xml" Id="R4ed9c31add784d1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25443d66efd46e8" /><Relationship Type="http://schemas.openxmlformats.org/officeDocument/2006/relationships/notesSlide" Target="/ppt/notesSlides/notesSlide18.xml" Id="R720d6475345c4a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ba2bb8a38f84b52" /><Relationship Type="http://schemas.openxmlformats.org/officeDocument/2006/relationships/notesSlide" Target="/ppt/notesSlides/notesSlide19.xml" Id="Rad5b448b0afd40a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ae283bcea4e4389" /><Relationship Type="http://schemas.openxmlformats.org/officeDocument/2006/relationships/notesSlide" Target="/ppt/notesSlides/notesSlide20.xml" Id="Re2f4a80041224f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d01c0e96ad141a6" /><Relationship Type="http://schemas.openxmlformats.org/officeDocument/2006/relationships/notesSlide" Target="/ppt/notesSlides/notesSlide21.xml" Id="R143dc8502e1747e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GMV</c:v>
          </c:tx>
          <c:spPr>
            <a:solidFill xmlns:a="http://schemas.openxmlformats.org/drawingml/2006/main">
              <a:srgbClr val="075FF7"/>
            </a:solidFill>
          </c:spPr>
          <c:invertIfNegative val="0"/>
          <c:cat>
            <c:numRef>
              <c:f>'Chart Data'!$A$2:$A$4</c:f>
              <c:numCache>
                <c:formatCode>General</c:formatCode>
                <c:ptCount val="3"/>
                <c:pt idx="0">
                  <c:v>2023</c:v>
                </c:pt>
                <c:pt idx="1">
                  <c:v>2024</c:v>
                </c:pt>
                <c:pt idx="2">
                  <c:v>2025</c:v>
                </c:pt>
              </c:numCache>
            </c:numRef>
          </c:cat>
          <c:val>
            <c:numRef>
              <c:f>'Chart Data'!$B$2:$B$4</c:f>
              <c:numCache>
                <c:formatCode>0.0</c:formatCode>
                <c:ptCount val="3"/>
                <c:pt idx="0">
                  <c:v>235.9</c:v>
                </c:pt>
                <c:pt idx="1">
                  <c:v>292.3</c:v>
                </c:pt>
                <c:pt idx="2">
                  <c:v>378.4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081B3A"/>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F0"/>
            </a:solidFill>
          </a:ln>
        </c:spPr>
        <c:txPr>
          <a:bodyPr xmlns:a="http://schemas.openxmlformats.org/drawingml/2006/main" anchorCtr="1"/>
          <a:lstStyle xmlns:a="http://schemas.openxmlformats.org/drawingml/2006/main"/>
          <a:p xmlns:a="http://schemas.openxmlformats.org/drawingml/2006/main">
            <a:pPr>
              <a:defRPr sz="1725">
                <a:solidFill>
                  <a:srgbClr val="596A82"/>
                </a:solidFill>
                <a:latin typeface="Arial"/>
                <a:ea typeface="Arial"/>
                <a:cs typeface="Arial"/>
              </a:defRPr>
            </a:pPr>
          </a:p>
        </c:txPr>
        <c:crossAx val="48672768"/>
      </c:catAx>
      <c:valAx>
        <c:axId val="48672768"/>
        <c:scaling>
          <c:orientation val="minMax"/>
          <c:max val="450"/>
          <c:min val="0"/>
        </c:scaling>
        <c:delete val="0"/>
        <c:axPos val="l"/>
        <c:majorGridlines>
          <c:spPr>
            <a:ln xmlns:a="http://schemas.openxmlformats.org/drawingml/2006/main" w="5715">
              <a:solidFill>
                <a:srgbClr val="DCE5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96A82"/>
                </a:solidFill>
                <a:latin typeface="Arial"/>
                <a:ea typeface="Arial"/>
                <a:cs typeface="Arial"/>
              </a:defRPr>
            </a:pPr>
          </a:p>
        </c:txPr>
        <c:crossAx val="48650112"/>
        <c:crossBetween val="between"/>
        <c:majorUnit val="15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doughnutChart>
        <c:ser>
          <c:idx val="0"/>
          <c:order val="0"/>
          <c:tx>
            <c:v>Önerilen pay</c:v>
          </c:tx>
          <c:dPt>
            <c:idx val="0"/>
            <c:spPr>
              <a:solidFill xmlns:a="http://schemas.openxmlformats.org/drawingml/2006/main">
                <a:srgbClr val="075FF7"/>
              </a:solidFill>
            </c:spPr>
          </c:dPt>
          <c:dPt>
            <c:idx val="1"/>
            <c:spPr>
              <a:solidFill xmlns:a="http://schemas.openxmlformats.org/drawingml/2006/main">
                <a:srgbClr val="19C5D8"/>
              </a:solidFill>
            </c:spPr>
          </c:dPt>
          <c:dPt>
            <c:idx val="2"/>
            <c:spPr>
              <a:solidFill xmlns:a="http://schemas.openxmlformats.org/drawingml/2006/main">
                <a:srgbClr val="081B3A"/>
              </a:solidFill>
            </c:spPr>
          </c:dPt>
          <c:dPt>
            <c:idx val="3"/>
            <c:spPr>
              <a:solidFill xmlns:a="http://schemas.openxmlformats.org/drawingml/2006/main">
                <a:srgbClr val="138060"/>
              </a:solidFill>
            </c:spPr>
          </c:dPt>
          <c:cat>
            <c:strRef>
              <c:f>'Chart Data'!$A$2:$A$5</c:f>
              <c:strCache>
                <c:ptCount val="4"/>
                <c:pt idx="0">
                  <c:v>Ürün</c:v>
                </c:pt>
                <c:pt idx="1">
                  <c:v>Satış ve pilot</c:v>
                </c:pt>
                <c:pt idx="2">
                  <c:v>Entegrasyon</c:v>
                </c:pt>
                <c:pt idx="3">
                  <c:v>Operasyon</c:v>
                </c:pt>
              </c:strCache>
            </c:strRef>
          </c:cat>
          <c:val>
            <c:numRef>
              <c:f>'Chart Data'!$B$2:$B$5</c:f>
              <c:numCache>
                <c:formatCode>General</c:formatCode>
                <c:ptCount val="4"/>
                <c:pt idx="0">
                  <c:v>45</c:v>
                </c:pt>
                <c:pt idx="1">
                  <c:v>25</c:v>
                </c:pt>
                <c:pt idx="2">
                  <c:v>20</c:v>
                </c:pt>
                <c:pt idx="3">
                  <c:v>10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FFFFF"/>
                  </a:solidFill>
                  <a:latin typeface="Arial"/>
                  <a:ea typeface="Arial"/>
                  <a:cs typeface="Arial"/>
                </a:defRPr>
              </a:pPr>
            </a:p>
          </c:txPr>
          <c:showLegendKey val="0"/>
          <c:showVal val="0"/>
          <c:showCatName val="0"/>
          <c:showSerName val="0"/>
          <c:showPercent val="1"/>
          <c:showBubbleSize val="0"/>
          <c:showLeaderLines val="0"/>
        </c:dLbls>
        <c:firstSliceAng val="270"/>
        <c:holeSize val="58"/>
      </c:doughnutChart>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BADB49AF-0663-4A7B-8536-916EFBB226AF}"/>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2" name="text-2">
            <a:extLst xmlns:a="http://schemas.openxmlformats.org/drawingml/2006/main">
              <a:ext uri="{FF2B5EF4-FFF2-40B4-BE49-F238E27FC236}">
                <a16:creationId xmlns:a16="http://schemas.microsoft.com/office/drawing/2014/main" id="{E9A909F6-CADB-417C-BED3-15DE0A544A8C}"/>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1BCBF252-8DD2-454C-A7CD-11E1BD34A873}"/>
              </a:ext>
            </a:extLst>
          </p:cNvPr>
          <p:cNvPicPr>
            <a:picLocks xmlns:a="http://schemas.openxmlformats.org/drawingml/2006/main" noChangeAspect="1"/>
          </p:cNvPicPr>
          <p:nvPr/>
        </p:nvPicPr>
        <p:blipFill>
          <a:blip xmlns:r="http://schemas.openxmlformats.org/officeDocument/2006/relationships" xmlns:a="http://schemas.openxmlformats.org/drawingml/2006/main" r:embed="R5e4ae0e35ae64eb3"/>
          <a:stretch xmlns:a="http://schemas.openxmlformats.org/drawingml/2006/main"/>
        </p:blipFill>
        <p:spPr>
          <a:xfrm xmlns:a="http://schemas.openxmlformats.org/drawingml/2006/main">
            <a:off x="729615" y="495300"/>
            <a:ext cx="2560320" cy="800100"/>
          </a:xfrm>
          <a:prstGeom xmlns:a="http://schemas.openxmlformats.org/drawingml/2006/main" prst="rect">
            <a:avLst/>
          </a:prstGeom>
        </p:spPr>
      </p:pic>
      <p:sp>
        <p:nvSpPr>
          <p:cNvPr id="4" name="text-3">
            <a:extLst xmlns:a="http://schemas.openxmlformats.org/drawingml/2006/main">
              <a:ext uri="{FF2B5EF4-FFF2-40B4-BE49-F238E27FC236}">
                <a16:creationId xmlns:a16="http://schemas.microsoft.com/office/drawing/2014/main" id="{8379E0A6-4878-45C8-BA15-56A3CFBD70AE}"/>
              </a:ext>
            </a:extLst>
          </p:cNvPr>
          <p:cNvSpPr>
            <a:spLocks xmlns:a="http://schemas.openxmlformats.org/drawingml/2006/main" noGrp="1"/>
          </p:cNvSpPr>
          <p:nvPr/>
        </p:nvSpPr>
        <p:spPr>
          <a:xfrm xmlns:a="http://schemas.openxmlformats.org/drawingml/2006/main">
            <a:off x="685800" y="2200275"/>
            <a:ext cx="6572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081B3A"/>
                </a:solidFill>
                <a:latin typeface="Arial"/>
                <a:ea typeface="Arial"/>
                <a:cs typeface="Arial"/>
              </a:defRPr>
            </a:defPPr>
          </a:lstStyle>
          <a:p xmlns:a="http://schemas.openxmlformats.org/drawingml/2006/main">
            <a:pPr algn="l">
              <a:defRPr sz="4425" b="1">
                <a:solidFill>
                  <a:srgbClr val="081B3A"/>
                </a:solidFill>
                <a:latin typeface="Arial"/>
                <a:ea typeface="Arial"/>
                <a:cs typeface="Arial"/>
              </a:defRPr>
            </a:pPr>
            <a:r>
              <a:rPr sz="4425" b="1">
                <a:solidFill>
                  <a:srgbClr val="081B3A"/>
                </a:solidFill>
                <a:latin typeface="Arial"/>
                <a:ea typeface="Arial"/>
                <a:cs typeface="Arial"/>
              </a:rPr>
              <a:t>Bağımsız markalar</a:t>
            </a:r>
          </a:p>
          <a:p xmlns:a="http://schemas.openxmlformats.org/drawingml/2006/main">
            <a:pPr algn="l">
              <a:defRPr sz="4425" b="1">
                <a:solidFill>
                  <a:srgbClr val="081B3A"/>
                </a:solidFill>
                <a:latin typeface="Arial"/>
                <a:ea typeface="Arial"/>
                <a:cs typeface="Arial"/>
              </a:defRPr>
            </a:pPr>
            <a:r>
              <a:rPr sz="4425" b="1">
                <a:solidFill>
                  <a:srgbClr val="081B3A"/>
                </a:solidFill>
                <a:latin typeface="Arial"/>
                <a:ea typeface="Arial"/>
                <a:cs typeface="Arial"/>
              </a:rPr>
              <a:t>için bağlantılı ticaret</a:t>
            </a:r>
          </a:p>
        </p:txBody>
      </p:sp>
      <p:sp>
        <p:nvSpPr>
          <p:cNvPr id="5" name="text-4">
            <a:extLst xmlns:a="http://schemas.openxmlformats.org/drawingml/2006/main">
              <a:ext uri="{FF2B5EF4-FFF2-40B4-BE49-F238E27FC236}">
                <a16:creationId xmlns:a16="http://schemas.microsoft.com/office/drawing/2014/main" id="{E3FB2A5D-4C78-4813-A4A6-881A21E3E80D}"/>
              </a:ext>
            </a:extLst>
          </p:cNvPr>
          <p:cNvSpPr>
            <a:spLocks xmlns:a="http://schemas.openxmlformats.org/drawingml/2006/main" noGrp="1"/>
          </p:cNvSpPr>
          <p:nvPr/>
        </p:nvSpPr>
        <p:spPr>
          <a:xfrm xmlns:a="http://schemas.openxmlformats.org/drawingml/2006/main">
            <a:off x="723900" y="4305300"/>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96A82"/>
                </a:solidFill>
                <a:latin typeface="Arial"/>
                <a:ea typeface="Arial"/>
                <a:cs typeface="Arial"/>
              </a:defRPr>
            </a:defPPr>
          </a:lstStyle>
          <a:p xmlns:a="http://schemas.openxmlformats.org/drawingml/2006/main">
            <a:pPr algn="l">
              <a:defRPr sz="2100" b="0">
                <a:solidFill>
                  <a:srgbClr val="596A82"/>
                </a:solidFill>
                <a:latin typeface="Arial"/>
                <a:ea typeface="Arial"/>
                <a:cs typeface="Arial"/>
              </a:defRPr>
            </a:pPr>
            <a:r>
              <a:rPr sz="2100" b="0">
                <a:solidFill>
                  <a:srgbClr val="596A82"/>
                </a:solidFill>
                <a:latin typeface="Arial"/>
                <a:ea typeface="Arial"/>
                <a:cs typeface="Arial"/>
              </a:rPr>
              <a:t>Mağaza, tedarik ve influencer iş birliği</a:t>
            </a:r>
          </a:p>
          <a:p xmlns:a="http://schemas.openxmlformats.org/drawingml/2006/main">
            <a:pPr algn="l">
              <a:defRPr sz="2100" b="0">
                <a:solidFill>
                  <a:srgbClr val="596A82"/>
                </a:solidFill>
                <a:latin typeface="Arial"/>
                <a:ea typeface="Arial"/>
                <a:cs typeface="Arial"/>
              </a:defRPr>
            </a:pPr>
            <a:r>
              <a:rPr sz="2100" b="0">
                <a:solidFill>
                  <a:srgbClr val="596A82"/>
                </a:solidFill>
                <a:latin typeface="Arial"/>
                <a:ea typeface="Arial"/>
                <a:cs typeface="Arial"/>
              </a:rPr>
              <a:t>aynı operasyon içinde</a:t>
            </a:r>
          </a:p>
        </p:txBody>
      </p:sp>
      <p:sp>
        <p:nvSpPr>
          <p:cNvPr id="6" name="text-5">
            <a:extLst xmlns:a="http://schemas.openxmlformats.org/drawingml/2006/main">
              <a:ext uri="{FF2B5EF4-FFF2-40B4-BE49-F238E27FC236}">
                <a16:creationId xmlns:a16="http://schemas.microsoft.com/office/drawing/2014/main" id="{CAFE1E41-6135-4007-86CF-05FC50FE78D1}"/>
              </a:ext>
            </a:extLst>
          </p:cNvPr>
          <p:cNvSpPr>
            <a:spLocks xmlns:a="http://schemas.openxmlformats.org/drawingml/2006/main" noGrp="1"/>
          </p:cNvSpPr>
          <p:nvPr/>
        </p:nvSpPr>
        <p:spPr>
          <a:xfrm xmlns:a="http://schemas.openxmlformats.org/drawingml/2006/main">
            <a:off x="723900" y="5534025"/>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A82"/>
                </a:solidFill>
                <a:latin typeface="Arial"/>
                <a:ea typeface="Arial"/>
                <a:cs typeface="Arial"/>
              </a:defRPr>
            </a:defPPr>
          </a:lstStyle>
          <a:p xmlns:a="http://schemas.openxmlformats.org/drawingml/2006/main">
            <a:pPr algn="l">
              <a:defRPr sz="1650" b="0">
                <a:solidFill>
                  <a:srgbClr val="596A82"/>
                </a:solidFill>
                <a:latin typeface="Arial"/>
                <a:ea typeface="Arial"/>
                <a:cs typeface="Arial"/>
              </a:defRPr>
            </a:pPr>
            <a:r>
              <a:rPr sz="1650" b="0">
                <a:solidFill>
                  <a:srgbClr val="596A82"/>
                </a:solidFill>
                <a:latin typeface="Arial"/>
                <a:ea typeface="Arial"/>
                <a:cs typeface="Arial"/>
              </a:rPr>
              <a:t>Yatırımcı sunumu</a:t>
            </a:r>
          </a:p>
          <a:p xmlns:a="http://schemas.openxmlformats.org/drawingml/2006/main">
            <a:pPr algn="l">
              <a:defRPr sz="1650" b="0">
                <a:solidFill>
                  <a:srgbClr val="596A82"/>
                </a:solidFill>
                <a:latin typeface="Arial"/>
                <a:ea typeface="Arial"/>
                <a:cs typeface="Arial"/>
              </a:defRPr>
            </a:pPr>
            <a:r>
              <a:rPr sz="1650" b="0">
                <a:solidFill>
                  <a:srgbClr val="596A82"/>
                </a:solidFill>
                <a:latin typeface="Arial"/>
                <a:ea typeface="Arial"/>
                <a:cs typeface="Arial"/>
              </a:rPr>
              <a:t>Türkiye, Ekim 2026</a:t>
            </a:r>
          </a:p>
        </p:txBody>
      </p:sp>
      <p:pic>
        <p:nvPicPr>
          <p:cNvPr id="7" name="">
            <a:extLst xmlns:a="http://schemas.openxmlformats.org/drawingml/2006/main">
              <a:ext uri="{FF2B5EF4-FFF2-40B4-BE49-F238E27FC236}">
                <a16:creationId xmlns:a16="http://schemas.microsoft.com/office/drawing/2014/main" id="{F20EBD3A-D654-452F-A2A7-35DC47801D4B}"/>
              </a:ext>
            </a:extLst>
          </p:cNvPr>
          <p:cNvPicPr>
            <a:picLocks xmlns:a="http://schemas.openxmlformats.org/drawingml/2006/main" noChangeAspect="1"/>
          </p:cNvPicPr>
          <p:nvPr/>
        </p:nvPicPr>
        <p:blipFill>
          <a:blip xmlns:r="http://schemas.openxmlformats.org/officeDocument/2006/relationships" xmlns:a="http://schemas.openxmlformats.org/drawingml/2006/main" r:embed="R2433a568d0fd4e05"/>
          <a:srcRect xmlns:a="http://schemas.openxmlformats.org/drawingml/2006/main" l="0" t="11115" r="0" b="11115"/>
          <a:stretch xmlns:a="http://schemas.openxmlformats.org/drawingml/2006/main">
            <a:fillRect l="0" t="0" r="0" b="0"/>
          </a:stretch>
        </p:blipFill>
        <p:spPr>
          <a:xfrm xmlns:a="http://schemas.openxmlformats.org/drawingml/2006/main">
            <a:off x="7572375" y="647700"/>
            <a:ext cx="3933825" cy="5476875"/>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A35ACDCD-2929-492D-AEB5-02F49E3E70E4}"/>
              </a:ext>
            </a:extLst>
          </p:cNvPr>
          <p:cNvSpPr>
            <a:spLocks xmlns:a="http://schemas.openxmlformats.org/drawingml/2006/main" noGrp="1"/>
          </p:cNvSpPr>
          <p:nvPr/>
        </p:nvSpPr>
        <p:spPr>
          <a:xfrm xmlns:a="http://schemas.openxmlformats.org/drawingml/2006/main">
            <a:off x="7620000" y="6153150"/>
            <a:ext cx="3886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6A82"/>
                </a:solidFill>
                <a:latin typeface="Arial"/>
                <a:ea typeface="Arial"/>
                <a:cs typeface="Arial"/>
              </a:defRPr>
            </a:defPPr>
          </a:lstStyle>
          <a:p xmlns:a="http://schemas.openxmlformats.org/drawingml/2006/main">
            <a:pPr algn="l">
              <a:defRPr sz="1275" b="0">
                <a:solidFill>
                  <a:srgbClr val="596A82"/>
                </a:solidFill>
                <a:latin typeface="Arial"/>
                <a:ea typeface="Arial"/>
                <a:cs typeface="Arial"/>
              </a:defRPr>
            </a:pPr>
            <a:r>
              <a:rPr sz="1275" b="0">
                <a:solidFill>
                  <a:srgbClr val="596A82"/>
                </a:solidFill>
                <a:latin typeface="Arial"/>
                <a:ea typeface="Arial"/>
                <a:cs typeface="Arial"/>
              </a:rPr>
              <a:t>Temsili mağaza işletmecisi</a:t>
            </a:r>
          </a:p>
        </p:txBody>
      </p:sp>
    </p:spTree>
    <p:extLst>
      <p:ext uri="{BB962C8B-B14F-4D97-AF65-F5344CB8AC3E}">
        <p14:creationId xmlns:p14="http://schemas.microsoft.com/office/powerpoint/2010/main" val="5010183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7">
            <a:extLst xmlns:a="http://schemas.openxmlformats.org/drawingml/2006/main">
              <a:ext uri="{FF2B5EF4-FFF2-40B4-BE49-F238E27FC236}">
                <a16:creationId xmlns:a16="http://schemas.microsoft.com/office/drawing/2014/main" id="{86301D8C-B0FB-43A4-BB15-7B4D20EAF6E9}"/>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Satıcının operasyonu parçalı</a:t>
            </a:r>
          </a:p>
        </p:txBody>
      </p:sp>
      <p:sp>
        <p:nvSpPr>
          <p:cNvPr id="2" name="text-8">
            <a:extLst xmlns:a="http://schemas.openxmlformats.org/drawingml/2006/main">
              <a:ext uri="{FF2B5EF4-FFF2-40B4-BE49-F238E27FC236}">
                <a16:creationId xmlns:a16="http://schemas.microsoft.com/office/drawing/2014/main" id="{8C3BE2E4-0041-46D8-B760-D6B75969A398}"/>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Pilot hipotezi: satış, tedarik ve içerik iş birliği arasındaki takip yükü</a:t>
            </a:r>
          </a:p>
        </p:txBody>
      </p:sp>
      <p:sp>
        <p:nvSpPr>
          <p:cNvPr id="3" name="text-9">
            <a:extLst xmlns:a="http://schemas.openxmlformats.org/drawingml/2006/main">
              <a:ext uri="{FF2B5EF4-FFF2-40B4-BE49-F238E27FC236}">
                <a16:creationId xmlns:a16="http://schemas.microsoft.com/office/drawing/2014/main" id="{6AA09982-0701-4836-9EB4-61DB5ABC4B2E}"/>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0">
            <a:extLst xmlns:a="http://schemas.openxmlformats.org/drawingml/2006/main">
              <a:ext uri="{FF2B5EF4-FFF2-40B4-BE49-F238E27FC236}">
                <a16:creationId xmlns:a16="http://schemas.microsoft.com/office/drawing/2014/main" id="{1F838C9E-09C5-4E2E-92DE-1FF0CEC986E8}"/>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02</a:t>
            </a:r>
          </a:p>
        </p:txBody>
      </p:sp>
      <p:sp>
        <p:nvSpPr>
          <p:cNvPr id="5" name="text-11">
            <a:extLst xmlns:a="http://schemas.openxmlformats.org/drawingml/2006/main">
              <a:ext uri="{FF2B5EF4-FFF2-40B4-BE49-F238E27FC236}">
                <a16:creationId xmlns:a16="http://schemas.microsoft.com/office/drawing/2014/main" id="{9CC09D65-0939-443C-8642-A4F50E1BCFFE}"/>
              </a:ext>
            </a:extLst>
          </p:cNvPr>
          <p:cNvSpPr>
            <a:spLocks xmlns:a="http://schemas.openxmlformats.org/drawingml/2006/main" noGrp="1"/>
          </p:cNvSpPr>
          <p:nvPr/>
        </p:nvSpPr>
        <p:spPr>
          <a:xfrm xmlns:a="http://schemas.openxmlformats.org/drawingml/2006/main">
            <a:off x="685800" y="240030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75FF7"/>
                </a:solidFill>
                <a:latin typeface="Arial"/>
                <a:ea typeface="Arial"/>
                <a:cs typeface="Arial"/>
              </a:defRPr>
            </a:defPPr>
          </a:lstStyle>
          <a:p xmlns:a="http://schemas.openxmlformats.org/drawingml/2006/main">
            <a:pPr algn="l">
              <a:defRPr sz="3000" b="1">
                <a:solidFill>
                  <a:srgbClr val="075FF7"/>
                </a:solidFill>
                <a:latin typeface="Arial"/>
                <a:ea typeface="Arial"/>
                <a:cs typeface="Arial"/>
              </a:defRPr>
            </a:pPr>
            <a:r>
              <a:rPr sz="3000" b="1">
                <a:solidFill>
                  <a:srgbClr val="075FF7"/>
                </a:solidFill>
                <a:latin typeface="Arial"/>
                <a:ea typeface="Arial"/>
                <a:cs typeface="Arial"/>
              </a:rPr>
              <a:t>01</a:t>
            </a:r>
          </a:p>
        </p:txBody>
      </p:sp>
      <p:sp>
        <p:nvSpPr>
          <p:cNvPr id="6" name="text-12">
            <a:extLst xmlns:a="http://schemas.openxmlformats.org/drawingml/2006/main">
              <a:ext uri="{FF2B5EF4-FFF2-40B4-BE49-F238E27FC236}">
                <a16:creationId xmlns:a16="http://schemas.microsoft.com/office/drawing/2014/main" id="{502B6488-D336-400D-9EF8-61C04C75995E}"/>
              </a:ext>
            </a:extLst>
          </p:cNvPr>
          <p:cNvSpPr>
            <a:spLocks xmlns:a="http://schemas.openxmlformats.org/drawingml/2006/main" noGrp="1"/>
          </p:cNvSpPr>
          <p:nvPr/>
        </p:nvSpPr>
        <p:spPr>
          <a:xfrm xmlns:a="http://schemas.openxmlformats.org/drawingml/2006/main">
            <a:off x="1495425" y="2419350"/>
            <a:ext cx="604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Ürün ve stok</a:t>
            </a:r>
          </a:p>
        </p:txBody>
      </p:sp>
      <p:sp>
        <p:nvSpPr>
          <p:cNvPr id="7" name="text-13">
            <a:extLst xmlns:a="http://schemas.openxmlformats.org/drawingml/2006/main">
              <a:ext uri="{FF2B5EF4-FFF2-40B4-BE49-F238E27FC236}">
                <a16:creationId xmlns:a16="http://schemas.microsoft.com/office/drawing/2014/main" id="{6532C46E-70D3-4B76-B195-38C5F27B6D83}"/>
              </a:ext>
            </a:extLst>
          </p:cNvPr>
          <p:cNvSpPr>
            <a:spLocks xmlns:a="http://schemas.openxmlformats.org/drawingml/2006/main" noGrp="1"/>
          </p:cNvSpPr>
          <p:nvPr/>
        </p:nvSpPr>
        <p:spPr>
          <a:xfrm xmlns:a="http://schemas.openxmlformats.org/drawingml/2006/main">
            <a:off x="1495425" y="2876550"/>
            <a:ext cx="604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Mağaza ile tedarikçi arasında güncellik ve teslim takibi</a:t>
            </a:r>
          </a:p>
        </p:txBody>
      </p:sp>
      <p:sp>
        <p:nvSpPr>
          <p:cNvPr id="8" name="text-14">
            <a:extLst xmlns:a="http://schemas.openxmlformats.org/drawingml/2006/main">
              <a:ext uri="{FF2B5EF4-FFF2-40B4-BE49-F238E27FC236}">
                <a16:creationId xmlns:a16="http://schemas.microsoft.com/office/drawing/2014/main" id="{601E4633-6461-4939-B98F-5E55C2211B23}"/>
              </a:ext>
            </a:extLst>
          </p:cNvPr>
          <p:cNvSpPr>
            <a:spLocks xmlns:a="http://schemas.openxmlformats.org/drawingml/2006/main" noGrp="1"/>
          </p:cNvSpPr>
          <p:nvPr/>
        </p:nvSpPr>
        <p:spPr>
          <a:xfrm xmlns:a="http://schemas.openxmlformats.org/drawingml/2006/main">
            <a:off x="685800" y="3590925"/>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75FF7"/>
                </a:solidFill>
                <a:latin typeface="Arial"/>
                <a:ea typeface="Arial"/>
                <a:cs typeface="Arial"/>
              </a:defRPr>
            </a:defPPr>
          </a:lstStyle>
          <a:p xmlns:a="http://schemas.openxmlformats.org/drawingml/2006/main">
            <a:pPr algn="l">
              <a:defRPr sz="3000" b="1">
                <a:solidFill>
                  <a:srgbClr val="075FF7"/>
                </a:solidFill>
                <a:latin typeface="Arial"/>
                <a:ea typeface="Arial"/>
                <a:cs typeface="Arial"/>
              </a:defRPr>
            </a:pPr>
            <a:r>
              <a:rPr sz="3000" b="1">
                <a:solidFill>
                  <a:srgbClr val="075FF7"/>
                </a:solidFill>
                <a:latin typeface="Arial"/>
                <a:ea typeface="Arial"/>
                <a:cs typeface="Arial"/>
              </a:rPr>
              <a:t>02</a:t>
            </a:r>
          </a:p>
        </p:txBody>
      </p:sp>
      <p:sp>
        <p:nvSpPr>
          <p:cNvPr id="9" name="text-15">
            <a:extLst xmlns:a="http://schemas.openxmlformats.org/drawingml/2006/main">
              <a:ext uri="{FF2B5EF4-FFF2-40B4-BE49-F238E27FC236}">
                <a16:creationId xmlns:a16="http://schemas.microsoft.com/office/drawing/2014/main" id="{1EAB01D8-0B3B-4DEA-94EA-6608222109DD}"/>
              </a:ext>
            </a:extLst>
          </p:cNvPr>
          <p:cNvSpPr>
            <a:spLocks xmlns:a="http://schemas.openxmlformats.org/drawingml/2006/main" noGrp="1"/>
          </p:cNvSpPr>
          <p:nvPr/>
        </p:nvSpPr>
        <p:spPr>
          <a:xfrm xmlns:a="http://schemas.openxmlformats.org/drawingml/2006/main">
            <a:off x="1495425" y="3609975"/>
            <a:ext cx="604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İş birliği</a:t>
            </a:r>
          </a:p>
        </p:txBody>
      </p:sp>
      <p:sp>
        <p:nvSpPr>
          <p:cNvPr id="10" name="text-16">
            <a:extLst xmlns:a="http://schemas.openxmlformats.org/drawingml/2006/main">
              <a:ext uri="{FF2B5EF4-FFF2-40B4-BE49-F238E27FC236}">
                <a16:creationId xmlns:a16="http://schemas.microsoft.com/office/drawing/2014/main" id="{8ACEF789-D8C7-44A7-992B-3917F0A63D02}"/>
              </a:ext>
            </a:extLst>
          </p:cNvPr>
          <p:cNvSpPr>
            <a:spLocks xmlns:a="http://schemas.openxmlformats.org/drawingml/2006/main" noGrp="1"/>
          </p:cNvSpPr>
          <p:nvPr/>
        </p:nvSpPr>
        <p:spPr>
          <a:xfrm xmlns:a="http://schemas.openxmlformats.org/drawingml/2006/main">
            <a:off x="1495425" y="4067175"/>
            <a:ext cx="604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Teklif, içerik teslimi ve onay için dağınık iletişim</a:t>
            </a:r>
          </a:p>
        </p:txBody>
      </p:sp>
      <p:sp>
        <p:nvSpPr>
          <p:cNvPr id="11" name="text-17">
            <a:extLst xmlns:a="http://schemas.openxmlformats.org/drawingml/2006/main">
              <a:ext uri="{FF2B5EF4-FFF2-40B4-BE49-F238E27FC236}">
                <a16:creationId xmlns:a16="http://schemas.microsoft.com/office/drawing/2014/main" id="{6B6B7DE9-8019-4AC7-8B21-A8C5BE29506B}"/>
              </a:ext>
            </a:extLst>
          </p:cNvPr>
          <p:cNvSpPr>
            <a:spLocks xmlns:a="http://schemas.openxmlformats.org/drawingml/2006/main" noGrp="1"/>
          </p:cNvSpPr>
          <p:nvPr/>
        </p:nvSpPr>
        <p:spPr>
          <a:xfrm xmlns:a="http://schemas.openxmlformats.org/drawingml/2006/main">
            <a:off x="685800" y="47815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75FF7"/>
                </a:solidFill>
                <a:latin typeface="Arial"/>
                <a:ea typeface="Arial"/>
                <a:cs typeface="Arial"/>
              </a:defRPr>
            </a:defPPr>
          </a:lstStyle>
          <a:p xmlns:a="http://schemas.openxmlformats.org/drawingml/2006/main">
            <a:pPr algn="l">
              <a:defRPr sz="3000" b="1">
                <a:solidFill>
                  <a:srgbClr val="075FF7"/>
                </a:solidFill>
                <a:latin typeface="Arial"/>
                <a:ea typeface="Arial"/>
                <a:cs typeface="Arial"/>
              </a:defRPr>
            </a:pPr>
            <a:r>
              <a:rPr sz="3000" b="1">
                <a:solidFill>
                  <a:srgbClr val="075FF7"/>
                </a:solidFill>
                <a:latin typeface="Arial"/>
                <a:ea typeface="Arial"/>
                <a:cs typeface="Arial"/>
              </a:rPr>
              <a:t>03</a:t>
            </a:r>
          </a:p>
        </p:txBody>
      </p:sp>
      <p:sp>
        <p:nvSpPr>
          <p:cNvPr id="12" name="text-18">
            <a:extLst xmlns:a="http://schemas.openxmlformats.org/drawingml/2006/main">
              <a:ext uri="{FF2B5EF4-FFF2-40B4-BE49-F238E27FC236}">
                <a16:creationId xmlns:a16="http://schemas.microsoft.com/office/drawing/2014/main" id="{64615D1E-D073-482D-8E30-1F9CC80CAB8A}"/>
              </a:ext>
            </a:extLst>
          </p:cNvPr>
          <p:cNvSpPr>
            <a:spLocks xmlns:a="http://schemas.openxmlformats.org/drawingml/2006/main" noGrp="1"/>
          </p:cNvSpPr>
          <p:nvPr/>
        </p:nvSpPr>
        <p:spPr>
          <a:xfrm xmlns:a="http://schemas.openxmlformats.org/drawingml/2006/main">
            <a:off x="1495425" y="4800600"/>
            <a:ext cx="604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Ödeme ve iade</a:t>
            </a:r>
          </a:p>
        </p:txBody>
      </p:sp>
      <p:sp>
        <p:nvSpPr>
          <p:cNvPr id="13" name="text-19">
            <a:extLst xmlns:a="http://schemas.openxmlformats.org/drawingml/2006/main">
              <a:ext uri="{FF2B5EF4-FFF2-40B4-BE49-F238E27FC236}">
                <a16:creationId xmlns:a16="http://schemas.microsoft.com/office/drawing/2014/main" id="{22F33626-441A-4B29-8BC4-D023F59E9285}"/>
              </a:ext>
            </a:extLst>
          </p:cNvPr>
          <p:cNvSpPr>
            <a:spLocks xmlns:a="http://schemas.openxmlformats.org/drawingml/2006/main" noGrp="1"/>
          </p:cNvSpPr>
          <p:nvPr/>
        </p:nvSpPr>
        <p:spPr>
          <a:xfrm xmlns:a="http://schemas.openxmlformats.org/drawingml/2006/main">
            <a:off x="1495425" y="5257800"/>
            <a:ext cx="604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Sipariş durumu ile hakedişi birlikte izleme ihtiyacı</a:t>
            </a:r>
          </a:p>
        </p:txBody>
      </p:sp>
      <p:pic>
        <p:nvPicPr>
          <p:cNvPr id="14" name="">
            <a:extLst xmlns:a="http://schemas.openxmlformats.org/drawingml/2006/main">
              <a:ext uri="{FF2B5EF4-FFF2-40B4-BE49-F238E27FC236}">
                <a16:creationId xmlns:a16="http://schemas.microsoft.com/office/drawing/2014/main" id="{5F666C5F-5CFD-4CCD-80FC-E508DACA4988}"/>
              </a:ext>
            </a:extLst>
          </p:cNvPr>
          <p:cNvPicPr>
            <a:picLocks xmlns:a="http://schemas.openxmlformats.org/drawingml/2006/main" noChangeAspect="1"/>
          </p:cNvPicPr>
          <p:nvPr/>
        </p:nvPicPr>
        <p:blipFill>
          <a:blip xmlns:r="http://schemas.openxmlformats.org/officeDocument/2006/relationships" xmlns:a="http://schemas.openxmlformats.org/drawingml/2006/main" r:embed="R87cc2c05e44e4f9e"/>
          <a:srcRect xmlns:a="http://schemas.openxmlformats.org/drawingml/2006/main" l="21979" t="0" r="21979" b="0"/>
          <a:stretch xmlns:a="http://schemas.openxmlformats.org/drawingml/2006/main">
            <a:fillRect l="0" t="0" r="0" b="0"/>
          </a:stretch>
        </p:blipFill>
        <p:spPr>
          <a:xfrm xmlns:a="http://schemas.openxmlformats.org/drawingml/2006/main">
            <a:off x="8572500" y="2381250"/>
            <a:ext cx="2914650" cy="2905125"/>
          </a:xfrm>
          <a:prstGeom xmlns:a="http://schemas.openxmlformats.org/drawingml/2006/main" prst="rect">
            <a:avLst/>
          </a:prstGeom>
        </p:spPr>
      </p:pic>
      <p:sp>
        <p:nvSpPr>
          <p:cNvPr id="15" name="text-20">
            <a:extLst xmlns:a="http://schemas.openxmlformats.org/drawingml/2006/main">
              <a:ext uri="{FF2B5EF4-FFF2-40B4-BE49-F238E27FC236}">
                <a16:creationId xmlns:a16="http://schemas.microsoft.com/office/drawing/2014/main" id="{C670E117-5559-438B-944E-F7E37A5DEB69}"/>
              </a:ext>
            </a:extLst>
          </p:cNvPr>
          <p:cNvSpPr>
            <a:spLocks xmlns:a="http://schemas.openxmlformats.org/drawingml/2006/main" noGrp="1"/>
          </p:cNvSpPr>
          <p:nvPr/>
        </p:nvSpPr>
        <p:spPr>
          <a:xfrm xmlns:a="http://schemas.openxmlformats.org/drawingml/2006/main">
            <a:off x="8620125" y="5467350"/>
            <a:ext cx="2876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6A82"/>
                </a:solidFill>
                <a:latin typeface="Arial"/>
                <a:ea typeface="Arial"/>
                <a:cs typeface="Arial"/>
              </a:defRPr>
            </a:defPPr>
          </a:lstStyle>
          <a:p xmlns:a="http://schemas.openxmlformats.org/drawingml/2006/main">
            <a:pPr algn="l">
              <a:defRPr sz="1275" b="0">
                <a:solidFill>
                  <a:srgbClr val="596A82"/>
                </a:solidFill>
                <a:latin typeface="Arial"/>
                <a:ea typeface="Arial"/>
                <a:cs typeface="Arial"/>
              </a:defRPr>
            </a:pPr>
            <a:r>
              <a:rPr sz="1275" b="0">
                <a:solidFill>
                  <a:srgbClr val="596A82"/>
                </a:solidFill>
                <a:latin typeface="Arial"/>
                <a:ea typeface="Arial"/>
                <a:cs typeface="Arial"/>
              </a:rPr>
              <a:t>Temsili tedarik operasyonu</a:t>
            </a:r>
          </a:p>
        </p:txBody>
      </p:sp>
    </p:spTree>
    <p:extLst>
      <p:ext uri="{BB962C8B-B14F-4D97-AF65-F5344CB8AC3E}">
        <p14:creationId xmlns:p14="http://schemas.microsoft.com/office/powerpoint/2010/main" val="912530669"/>
      </p:ext>
    </p:extLst>
  </p:cSld>
</p:sld>
</file>

<file path=ppt/slides/slide3.xml><?xml version="1.0" encoding="utf-8"?>
<p:sld xmlns:p="http://schemas.openxmlformats.org/presentationml/2006/main">
  <p:cSld>
    <p:bg>
      <p:bgPr>
        <a:solidFill xmlns:a="http://schemas.openxmlformats.org/drawingml/2006/main">
          <a:srgbClr val="081B3A"/>
        </a:solidFill>
      </p:bgPr>
    </p:bg>
    <p:spTree>
      <p:nvGrpSpPr>
        <p:cNvPr id="1" name=""/>
        <p:cNvGrpSpPr/>
        <p:nvPr/>
      </p:nvGrpSpPr>
      <p:grpSpPr>
        <a:xfrm xmlns:a="http://schemas.openxmlformats.org/drawingml/2006/main"/>
      </p:grpSpPr>
      <p:sp>
        <p:nvSpPr>
          <p:cNvPr id="19" name="text-21">
            <a:extLst xmlns:a="http://schemas.openxmlformats.org/drawingml/2006/main">
              <a:ext uri="{FF2B5EF4-FFF2-40B4-BE49-F238E27FC236}">
                <a16:creationId xmlns:a16="http://schemas.microsoft.com/office/drawing/2014/main" id="{A3C9F0A5-7308-4259-9868-5DABBA00CEE5}"/>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Alceix’in ticaret akışı</a:t>
            </a:r>
          </a:p>
        </p:txBody>
      </p:sp>
      <p:sp>
        <p:nvSpPr>
          <p:cNvPr id="2" name="text-22">
            <a:extLst xmlns:a="http://schemas.openxmlformats.org/drawingml/2006/main">
              <a:ext uri="{FF2B5EF4-FFF2-40B4-BE49-F238E27FC236}">
                <a16:creationId xmlns:a16="http://schemas.microsoft.com/office/drawing/2014/main" id="{2F68D5CA-1AA3-43FE-9E81-4502D7C1967E}"/>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AE1"/>
                </a:solidFill>
                <a:latin typeface="Arial"/>
                <a:ea typeface="Arial"/>
                <a:cs typeface="Arial"/>
              </a:defRPr>
            </a:defPPr>
          </a:lstStyle>
          <a:p xmlns:a="http://schemas.openxmlformats.org/drawingml/2006/main">
            <a:pPr algn="l">
              <a:defRPr sz="1800" b="0">
                <a:solidFill>
                  <a:srgbClr val="BDCAE1"/>
                </a:solidFill>
                <a:latin typeface="Arial"/>
                <a:ea typeface="Arial"/>
                <a:cs typeface="Arial"/>
              </a:defRPr>
            </a:pPr>
            <a:r>
              <a:rPr sz="1800" b="0">
                <a:solidFill>
                  <a:srgbClr val="BDCAE1"/>
                </a:solidFill>
                <a:latin typeface="Arial"/>
                <a:ea typeface="Arial"/>
                <a:cs typeface="Arial"/>
              </a:rPr>
              <a:t>Her taraf kendi panelini kullanır, işlemler aynı kayıtları paylaşır</a:t>
            </a:r>
          </a:p>
        </p:txBody>
      </p:sp>
      <p:sp>
        <p:nvSpPr>
          <p:cNvPr id="3" name="text-23">
            <a:extLst xmlns:a="http://schemas.openxmlformats.org/drawingml/2006/main">
              <a:ext uri="{FF2B5EF4-FFF2-40B4-BE49-F238E27FC236}">
                <a16:creationId xmlns:a16="http://schemas.microsoft.com/office/drawing/2014/main" id="{EC3B8826-72DD-4A84-99E8-A8FC4A6344B0}"/>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BDCAE1"/>
                </a:solidFill>
                <a:latin typeface="Arial"/>
                <a:ea typeface="Arial"/>
                <a:cs typeface="Arial"/>
              </a:defRPr>
            </a:defPPr>
          </a:lstStyle>
          <a:p xmlns:a="http://schemas.openxmlformats.org/drawingml/2006/main">
            <a:pPr algn="l">
              <a:defRPr sz="1125" b="1">
                <a:solidFill>
                  <a:srgbClr val="BDCAE1"/>
                </a:solidFill>
                <a:latin typeface="Arial"/>
                <a:ea typeface="Arial"/>
                <a:cs typeface="Arial"/>
              </a:defRPr>
            </a:pPr>
            <a:r>
              <a:rPr sz="1125" b="1">
                <a:solidFill>
                  <a:srgbClr val="BDCAE1"/>
                </a:solidFill>
                <a:latin typeface="Arial"/>
                <a:ea typeface="Arial"/>
                <a:cs typeface="Arial"/>
              </a:rPr>
              <a:t>ALCEIX</a:t>
            </a:r>
          </a:p>
        </p:txBody>
      </p:sp>
      <p:sp>
        <p:nvSpPr>
          <p:cNvPr id="4" name="text-24">
            <a:extLst xmlns:a="http://schemas.openxmlformats.org/drawingml/2006/main">
              <a:ext uri="{FF2B5EF4-FFF2-40B4-BE49-F238E27FC236}">
                <a16:creationId xmlns:a16="http://schemas.microsoft.com/office/drawing/2014/main" id="{CFAB7FAD-CCEA-4217-AE63-468337DB67D9}"/>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AE1"/>
                </a:solidFill>
                <a:latin typeface="Arial"/>
                <a:ea typeface="Arial"/>
                <a:cs typeface="Arial"/>
              </a:defRPr>
            </a:defPPr>
          </a:lstStyle>
          <a:p xmlns:a="http://schemas.openxmlformats.org/drawingml/2006/main">
            <a:pPr algn="r">
              <a:defRPr sz="1125" b="0">
                <a:solidFill>
                  <a:srgbClr val="BDCAE1"/>
                </a:solidFill>
                <a:latin typeface="Arial"/>
                <a:ea typeface="Arial"/>
                <a:cs typeface="Arial"/>
              </a:defRPr>
            </a:pPr>
            <a:r>
              <a:rPr sz="1125" b="0">
                <a:solidFill>
                  <a:srgbClr val="BDCAE1"/>
                </a:solidFill>
                <a:latin typeface="Arial"/>
                <a:ea typeface="Arial"/>
                <a:cs typeface="Arial"/>
              </a:rPr>
              <a:t>03</a:t>
            </a:r>
          </a:p>
        </p:txBody>
      </p:sp>
      <p:sp>
        <p:nvSpPr>
          <p:cNvPr id="5" name="text-25">
            <a:extLst xmlns:a="http://schemas.openxmlformats.org/drawingml/2006/main">
              <a:ext uri="{FF2B5EF4-FFF2-40B4-BE49-F238E27FC236}">
                <a16:creationId xmlns:a16="http://schemas.microsoft.com/office/drawing/2014/main" id="{020B7C0F-3B5F-4A33-A50E-F97C0DF2094B}"/>
              </a:ext>
            </a:extLst>
          </p:cNvPr>
          <p:cNvSpPr>
            <a:spLocks xmlns:a="http://schemas.openxmlformats.org/drawingml/2006/main" noGrp="1"/>
          </p:cNvSpPr>
          <p:nvPr/>
        </p:nvSpPr>
        <p:spPr>
          <a:xfrm xmlns:a="http://schemas.openxmlformats.org/drawingml/2006/main">
            <a:off x="685800" y="2333625"/>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C5D8"/>
                </a:solidFill>
                <a:latin typeface="Arial"/>
                <a:ea typeface="Arial"/>
                <a:cs typeface="Arial"/>
              </a:defRPr>
            </a:defPPr>
          </a:lstStyle>
          <a:p xmlns:a="http://schemas.openxmlformats.org/drawingml/2006/main">
            <a:pPr algn="l">
              <a:defRPr sz="3000" b="1">
                <a:solidFill>
                  <a:srgbClr val="19C5D8"/>
                </a:solidFill>
                <a:latin typeface="Arial"/>
                <a:ea typeface="Arial"/>
                <a:cs typeface="Arial"/>
              </a:defRPr>
            </a:pPr>
            <a:r>
              <a:rPr sz="3000" b="1">
                <a:solidFill>
                  <a:srgbClr val="19C5D8"/>
                </a:solidFill>
                <a:latin typeface="Arial"/>
                <a:ea typeface="Arial"/>
                <a:cs typeface="Arial"/>
              </a:rPr>
              <a:t>01</a:t>
            </a:r>
          </a:p>
        </p:txBody>
      </p:sp>
      <p:sp>
        <p:nvSpPr>
          <p:cNvPr id="6" name="text-26">
            <a:extLst xmlns:a="http://schemas.openxmlformats.org/drawingml/2006/main">
              <a:ext uri="{FF2B5EF4-FFF2-40B4-BE49-F238E27FC236}">
                <a16:creationId xmlns:a16="http://schemas.microsoft.com/office/drawing/2014/main" id="{B1E38E86-C8F4-45F1-B7F7-0856EE8BADB3}"/>
              </a:ext>
            </a:extLst>
          </p:cNvPr>
          <p:cNvSpPr>
            <a:spLocks xmlns:a="http://schemas.openxmlformats.org/drawingml/2006/main" noGrp="1"/>
          </p:cNvSpPr>
          <p:nvPr/>
        </p:nvSpPr>
        <p:spPr>
          <a:xfrm xmlns:a="http://schemas.openxmlformats.org/drawingml/2006/main">
            <a:off x="1495425" y="2352675"/>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Mağaza vitrini</a:t>
            </a:r>
          </a:p>
        </p:txBody>
      </p:sp>
      <p:sp>
        <p:nvSpPr>
          <p:cNvPr id="7" name="text-27">
            <a:extLst xmlns:a="http://schemas.openxmlformats.org/drawingml/2006/main">
              <a:ext uri="{FF2B5EF4-FFF2-40B4-BE49-F238E27FC236}">
                <a16:creationId xmlns:a16="http://schemas.microsoft.com/office/drawing/2014/main" id="{01B4449E-D83A-4B78-8E23-C07BD49610EB}"/>
              </a:ext>
            </a:extLst>
          </p:cNvPr>
          <p:cNvSpPr>
            <a:spLocks xmlns:a="http://schemas.openxmlformats.org/drawingml/2006/main" noGrp="1"/>
          </p:cNvSpPr>
          <p:nvPr/>
        </p:nvSpPr>
        <p:spPr>
          <a:xfrm xmlns:a="http://schemas.openxmlformats.org/drawingml/2006/main">
            <a:off x="1495425" y="2809875"/>
            <a:ext cx="609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AE1"/>
                </a:solidFill>
                <a:latin typeface="Arial"/>
                <a:ea typeface="Arial"/>
                <a:cs typeface="Arial"/>
              </a:defRPr>
            </a:defPPr>
          </a:lstStyle>
          <a:p xmlns:a="http://schemas.openxmlformats.org/drawingml/2006/main">
            <a:pPr algn="l">
              <a:defRPr sz="1800" b="0">
                <a:solidFill>
                  <a:srgbClr val="BDCAE1"/>
                </a:solidFill>
                <a:latin typeface="Arial"/>
                <a:ea typeface="Arial"/>
                <a:cs typeface="Arial"/>
              </a:defRPr>
            </a:pPr>
            <a:r>
              <a:rPr sz="1800" b="0">
                <a:solidFill>
                  <a:srgbClr val="BDCAE1"/>
                </a:solidFill>
                <a:latin typeface="Arial"/>
                <a:ea typeface="Arial"/>
                <a:cs typeface="Arial"/>
              </a:rPr>
              <a:t>Mağaza sahibi katalog ve satışını yönetir</a:t>
            </a:r>
          </a:p>
        </p:txBody>
      </p:sp>
      <p:sp>
        <p:nvSpPr>
          <p:cNvPr id="8" name="text-28">
            <a:extLst xmlns:a="http://schemas.openxmlformats.org/drawingml/2006/main">
              <a:ext uri="{FF2B5EF4-FFF2-40B4-BE49-F238E27FC236}">
                <a16:creationId xmlns:a16="http://schemas.microsoft.com/office/drawing/2014/main" id="{C2C03A36-1C9F-48D7-AFB9-366F1785470C}"/>
              </a:ext>
            </a:extLst>
          </p:cNvPr>
          <p:cNvSpPr>
            <a:spLocks xmlns:a="http://schemas.openxmlformats.org/drawingml/2006/main" noGrp="1"/>
          </p:cNvSpPr>
          <p:nvPr/>
        </p:nvSpPr>
        <p:spPr>
          <a:xfrm xmlns:a="http://schemas.openxmlformats.org/drawingml/2006/main">
            <a:off x="685800" y="3286125"/>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C5D8"/>
                </a:solidFill>
                <a:latin typeface="Arial"/>
                <a:ea typeface="Arial"/>
                <a:cs typeface="Arial"/>
              </a:defRPr>
            </a:defPPr>
          </a:lstStyle>
          <a:p xmlns:a="http://schemas.openxmlformats.org/drawingml/2006/main">
            <a:pPr algn="l">
              <a:defRPr sz="3000" b="1">
                <a:solidFill>
                  <a:srgbClr val="19C5D8"/>
                </a:solidFill>
                <a:latin typeface="Arial"/>
                <a:ea typeface="Arial"/>
                <a:cs typeface="Arial"/>
              </a:defRPr>
            </a:pPr>
            <a:r>
              <a:rPr sz="3000" b="1">
                <a:solidFill>
                  <a:srgbClr val="19C5D8"/>
                </a:solidFill>
                <a:latin typeface="Arial"/>
                <a:ea typeface="Arial"/>
                <a:cs typeface="Arial"/>
              </a:rPr>
              <a:t>02</a:t>
            </a:r>
          </a:p>
        </p:txBody>
      </p:sp>
      <p:sp>
        <p:nvSpPr>
          <p:cNvPr id="9" name="text-29">
            <a:extLst xmlns:a="http://schemas.openxmlformats.org/drawingml/2006/main">
              <a:ext uri="{FF2B5EF4-FFF2-40B4-BE49-F238E27FC236}">
                <a16:creationId xmlns:a16="http://schemas.microsoft.com/office/drawing/2014/main" id="{2021309B-C6BF-4C4C-BB99-22A16673C408}"/>
              </a:ext>
            </a:extLst>
          </p:cNvPr>
          <p:cNvSpPr>
            <a:spLocks xmlns:a="http://schemas.openxmlformats.org/drawingml/2006/main" noGrp="1"/>
          </p:cNvSpPr>
          <p:nvPr/>
        </p:nvSpPr>
        <p:spPr>
          <a:xfrm xmlns:a="http://schemas.openxmlformats.org/drawingml/2006/main">
            <a:off x="1495425" y="3305175"/>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Tedarik bağlantısı</a:t>
            </a:r>
          </a:p>
        </p:txBody>
      </p:sp>
      <p:sp>
        <p:nvSpPr>
          <p:cNvPr id="10" name="text-30">
            <a:extLst xmlns:a="http://schemas.openxmlformats.org/drawingml/2006/main">
              <a:ext uri="{FF2B5EF4-FFF2-40B4-BE49-F238E27FC236}">
                <a16:creationId xmlns:a16="http://schemas.microsoft.com/office/drawing/2014/main" id="{79BCA668-2706-43E7-BDB1-3415931B4D82}"/>
              </a:ext>
            </a:extLst>
          </p:cNvPr>
          <p:cNvSpPr>
            <a:spLocks xmlns:a="http://schemas.openxmlformats.org/drawingml/2006/main" noGrp="1"/>
          </p:cNvSpPr>
          <p:nvPr/>
        </p:nvSpPr>
        <p:spPr>
          <a:xfrm xmlns:a="http://schemas.openxmlformats.org/drawingml/2006/main">
            <a:off x="1495425" y="3762375"/>
            <a:ext cx="609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AE1"/>
                </a:solidFill>
                <a:latin typeface="Arial"/>
                <a:ea typeface="Arial"/>
                <a:cs typeface="Arial"/>
              </a:defRPr>
            </a:defPPr>
          </a:lstStyle>
          <a:p xmlns:a="http://schemas.openxmlformats.org/drawingml/2006/main">
            <a:pPr algn="l">
              <a:defRPr sz="1800" b="0">
                <a:solidFill>
                  <a:srgbClr val="BDCAE1"/>
                </a:solidFill>
                <a:latin typeface="Arial"/>
                <a:ea typeface="Arial"/>
                <a:cs typeface="Arial"/>
              </a:defRPr>
            </a:pPr>
            <a:r>
              <a:rPr sz="1800" b="0">
                <a:solidFill>
                  <a:srgbClr val="BDCAE1"/>
                </a:solidFill>
                <a:latin typeface="Arial"/>
                <a:ea typeface="Arial"/>
                <a:cs typeface="Arial"/>
              </a:rPr>
              <a:t>Ürün ve B2B sipariş ilişkisi kayıt altına girer</a:t>
            </a:r>
          </a:p>
        </p:txBody>
      </p:sp>
      <p:sp>
        <p:nvSpPr>
          <p:cNvPr id="11" name="text-31">
            <a:extLst xmlns:a="http://schemas.openxmlformats.org/drawingml/2006/main">
              <a:ext uri="{FF2B5EF4-FFF2-40B4-BE49-F238E27FC236}">
                <a16:creationId xmlns:a16="http://schemas.microsoft.com/office/drawing/2014/main" id="{7560DE76-CFDD-4B72-9C68-7A3AF12F2CB7}"/>
              </a:ext>
            </a:extLst>
          </p:cNvPr>
          <p:cNvSpPr>
            <a:spLocks xmlns:a="http://schemas.openxmlformats.org/drawingml/2006/main" noGrp="1"/>
          </p:cNvSpPr>
          <p:nvPr/>
        </p:nvSpPr>
        <p:spPr>
          <a:xfrm xmlns:a="http://schemas.openxmlformats.org/drawingml/2006/main">
            <a:off x="685800" y="4238625"/>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C5D8"/>
                </a:solidFill>
                <a:latin typeface="Arial"/>
                <a:ea typeface="Arial"/>
                <a:cs typeface="Arial"/>
              </a:defRPr>
            </a:defPPr>
          </a:lstStyle>
          <a:p xmlns:a="http://schemas.openxmlformats.org/drawingml/2006/main">
            <a:pPr algn="l">
              <a:defRPr sz="3000" b="1">
                <a:solidFill>
                  <a:srgbClr val="19C5D8"/>
                </a:solidFill>
                <a:latin typeface="Arial"/>
                <a:ea typeface="Arial"/>
                <a:cs typeface="Arial"/>
              </a:defRPr>
            </a:pPr>
            <a:r>
              <a:rPr sz="3000" b="1">
                <a:solidFill>
                  <a:srgbClr val="19C5D8"/>
                </a:solidFill>
                <a:latin typeface="Arial"/>
                <a:ea typeface="Arial"/>
                <a:cs typeface="Arial"/>
              </a:rPr>
              <a:t>03</a:t>
            </a:r>
          </a:p>
        </p:txBody>
      </p:sp>
      <p:sp>
        <p:nvSpPr>
          <p:cNvPr id="12" name="text-32">
            <a:extLst xmlns:a="http://schemas.openxmlformats.org/drawingml/2006/main">
              <a:ext uri="{FF2B5EF4-FFF2-40B4-BE49-F238E27FC236}">
                <a16:creationId xmlns:a16="http://schemas.microsoft.com/office/drawing/2014/main" id="{299D0BBB-F28A-4668-A362-1D9F80AEA639}"/>
              </a:ext>
            </a:extLst>
          </p:cNvPr>
          <p:cNvSpPr>
            <a:spLocks xmlns:a="http://schemas.openxmlformats.org/drawingml/2006/main" noGrp="1"/>
          </p:cNvSpPr>
          <p:nvPr/>
        </p:nvSpPr>
        <p:spPr>
          <a:xfrm xmlns:a="http://schemas.openxmlformats.org/drawingml/2006/main">
            <a:off x="1495425" y="4257675"/>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Influencer iş birliği</a:t>
            </a:r>
          </a:p>
        </p:txBody>
      </p:sp>
      <p:sp>
        <p:nvSpPr>
          <p:cNvPr id="13" name="text-33">
            <a:extLst xmlns:a="http://schemas.openxmlformats.org/drawingml/2006/main">
              <a:ext uri="{FF2B5EF4-FFF2-40B4-BE49-F238E27FC236}">
                <a16:creationId xmlns:a16="http://schemas.microsoft.com/office/drawing/2014/main" id="{29620615-2944-4405-8A96-E932D83D8003}"/>
              </a:ext>
            </a:extLst>
          </p:cNvPr>
          <p:cNvSpPr>
            <a:spLocks xmlns:a="http://schemas.openxmlformats.org/drawingml/2006/main" noGrp="1"/>
          </p:cNvSpPr>
          <p:nvPr/>
        </p:nvSpPr>
        <p:spPr>
          <a:xfrm xmlns:a="http://schemas.openxmlformats.org/drawingml/2006/main">
            <a:off x="1495425" y="4714875"/>
            <a:ext cx="609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AE1"/>
                </a:solidFill>
                <a:latin typeface="Arial"/>
                <a:ea typeface="Arial"/>
                <a:cs typeface="Arial"/>
              </a:defRPr>
            </a:defPPr>
          </a:lstStyle>
          <a:p xmlns:a="http://schemas.openxmlformats.org/drawingml/2006/main">
            <a:pPr algn="l">
              <a:defRPr sz="1800" b="0">
                <a:solidFill>
                  <a:srgbClr val="BDCAE1"/>
                </a:solidFill>
                <a:latin typeface="Arial"/>
                <a:ea typeface="Arial"/>
                <a:cs typeface="Arial"/>
              </a:defRPr>
            </a:pPr>
            <a:r>
              <a:rPr sz="1800" b="0">
                <a:solidFill>
                  <a:srgbClr val="BDCAE1"/>
                </a:solidFill>
                <a:latin typeface="Arial"/>
                <a:ea typeface="Arial"/>
                <a:cs typeface="Arial"/>
              </a:rPr>
              <a:t>Teklif, teslim ve içerik onayı takip edilir</a:t>
            </a:r>
          </a:p>
        </p:txBody>
      </p:sp>
      <p:sp>
        <p:nvSpPr>
          <p:cNvPr id="14" name="text-34">
            <a:extLst xmlns:a="http://schemas.openxmlformats.org/drawingml/2006/main">
              <a:ext uri="{FF2B5EF4-FFF2-40B4-BE49-F238E27FC236}">
                <a16:creationId xmlns:a16="http://schemas.microsoft.com/office/drawing/2014/main" id="{E88E7636-5ED6-4513-BE37-C06D8214C22E}"/>
              </a:ext>
            </a:extLst>
          </p:cNvPr>
          <p:cNvSpPr>
            <a:spLocks xmlns:a="http://schemas.openxmlformats.org/drawingml/2006/main" noGrp="1"/>
          </p:cNvSpPr>
          <p:nvPr/>
        </p:nvSpPr>
        <p:spPr>
          <a:xfrm xmlns:a="http://schemas.openxmlformats.org/drawingml/2006/main">
            <a:off x="685800" y="5191125"/>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9C5D8"/>
                </a:solidFill>
                <a:latin typeface="Arial"/>
                <a:ea typeface="Arial"/>
                <a:cs typeface="Arial"/>
              </a:defRPr>
            </a:defPPr>
          </a:lstStyle>
          <a:p xmlns:a="http://schemas.openxmlformats.org/drawingml/2006/main">
            <a:pPr algn="l">
              <a:defRPr sz="3000" b="1">
                <a:solidFill>
                  <a:srgbClr val="19C5D8"/>
                </a:solidFill>
                <a:latin typeface="Arial"/>
                <a:ea typeface="Arial"/>
                <a:cs typeface="Arial"/>
              </a:defRPr>
            </a:pPr>
            <a:r>
              <a:rPr sz="3000" b="1">
                <a:solidFill>
                  <a:srgbClr val="19C5D8"/>
                </a:solidFill>
                <a:latin typeface="Arial"/>
                <a:ea typeface="Arial"/>
                <a:cs typeface="Arial"/>
              </a:rPr>
              <a:t>04</a:t>
            </a:r>
          </a:p>
        </p:txBody>
      </p:sp>
      <p:sp>
        <p:nvSpPr>
          <p:cNvPr id="15" name="text-35">
            <a:extLst xmlns:a="http://schemas.openxmlformats.org/drawingml/2006/main">
              <a:ext uri="{FF2B5EF4-FFF2-40B4-BE49-F238E27FC236}">
                <a16:creationId xmlns:a16="http://schemas.microsoft.com/office/drawing/2014/main" id="{AE7A5553-6FFB-415F-A168-9F1966A495CD}"/>
              </a:ext>
            </a:extLst>
          </p:cNvPr>
          <p:cNvSpPr>
            <a:spLocks xmlns:a="http://schemas.openxmlformats.org/drawingml/2006/main" noGrp="1"/>
          </p:cNvSpPr>
          <p:nvPr/>
        </p:nvSpPr>
        <p:spPr>
          <a:xfrm xmlns:a="http://schemas.openxmlformats.org/drawingml/2006/main">
            <a:off x="1495425" y="5210175"/>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Sipariş ve hakediş</a:t>
            </a:r>
          </a:p>
        </p:txBody>
      </p:sp>
      <p:sp>
        <p:nvSpPr>
          <p:cNvPr id="16" name="text-36">
            <a:extLst xmlns:a="http://schemas.openxmlformats.org/drawingml/2006/main">
              <a:ext uri="{FF2B5EF4-FFF2-40B4-BE49-F238E27FC236}">
                <a16:creationId xmlns:a16="http://schemas.microsoft.com/office/drawing/2014/main" id="{5A9768E2-0685-41CE-B4C7-9D7818A54B8C}"/>
              </a:ext>
            </a:extLst>
          </p:cNvPr>
          <p:cNvSpPr>
            <a:spLocks xmlns:a="http://schemas.openxmlformats.org/drawingml/2006/main" noGrp="1"/>
          </p:cNvSpPr>
          <p:nvPr/>
        </p:nvSpPr>
        <p:spPr>
          <a:xfrm xmlns:a="http://schemas.openxmlformats.org/drawingml/2006/main">
            <a:off x="1495425" y="5667375"/>
            <a:ext cx="609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AE1"/>
                </a:solidFill>
                <a:latin typeface="Arial"/>
                <a:ea typeface="Arial"/>
                <a:cs typeface="Arial"/>
              </a:defRPr>
            </a:defPPr>
          </a:lstStyle>
          <a:p xmlns:a="http://schemas.openxmlformats.org/drawingml/2006/main">
            <a:pPr algn="l">
              <a:defRPr sz="1800" b="0">
                <a:solidFill>
                  <a:srgbClr val="BDCAE1"/>
                </a:solidFill>
                <a:latin typeface="Arial"/>
                <a:ea typeface="Arial"/>
                <a:cs typeface="Arial"/>
              </a:defRPr>
            </a:pPr>
            <a:r>
              <a:rPr sz="1800" b="0">
                <a:solidFill>
                  <a:srgbClr val="BDCAE1"/>
                </a:solidFill>
                <a:latin typeface="Arial"/>
                <a:ea typeface="Arial"/>
                <a:cs typeface="Arial"/>
              </a:rPr>
              <a:t>Tahsilat, kargo ve iade sonucu birlikte izlenir</a:t>
            </a:r>
          </a:p>
        </p:txBody>
      </p:sp>
      <p:pic>
        <p:nvPicPr>
          <p:cNvPr id="17" name="">
            <a:extLst xmlns:a="http://schemas.openxmlformats.org/drawingml/2006/main">
              <a:ext uri="{FF2B5EF4-FFF2-40B4-BE49-F238E27FC236}">
                <a16:creationId xmlns:a16="http://schemas.microsoft.com/office/drawing/2014/main" id="{759FAA55-3C9E-48EE-A0F9-581FDEBFED16}"/>
              </a:ext>
            </a:extLst>
          </p:cNvPr>
          <p:cNvPicPr>
            <a:picLocks xmlns:a="http://schemas.openxmlformats.org/drawingml/2006/main" noChangeAspect="1"/>
          </p:cNvPicPr>
          <p:nvPr/>
        </p:nvPicPr>
        <p:blipFill>
          <a:blip xmlns:r="http://schemas.openxmlformats.org/officeDocument/2006/relationships" xmlns:a="http://schemas.openxmlformats.org/drawingml/2006/main" r:embed="R3211f947cb83481e"/>
          <a:srcRect xmlns:a="http://schemas.openxmlformats.org/drawingml/2006/main" l="8050" t="0" r="8050" b="0"/>
          <a:stretch xmlns:a="http://schemas.openxmlformats.org/drawingml/2006/main">
            <a:fillRect l="0" t="0" r="0" b="0"/>
          </a:stretch>
        </p:blipFill>
        <p:spPr>
          <a:xfrm xmlns:a="http://schemas.openxmlformats.org/drawingml/2006/main">
            <a:off x="7915275" y="2867025"/>
            <a:ext cx="3590925" cy="2390775"/>
          </a:xfrm>
          <a:prstGeom xmlns:a="http://schemas.openxmlformats.org/drawingml/2006/main" prst="rect">
            <a:avLst/>
          </a:prstGeom>
        </p:spPr>
      </p:pic>
      <p:sp>
        <p:nvSpPr>
          <p:cNvPr id="18" name="text-37">
            <a:extLst xmlns:a="http://schemas.openxmlformats.org/drawingml/2006/main">
              <a:ext uri="{FF2B5EF4-FFF2-40B4-BE49-F238E27FC236}">
                <a16:creationId xmlns:a16="http://schemas.microsoft.com/office/drawing/2014/main" id="{6C7BF85B-7220-49E5-A844-0E91F49F52F0}"/>
              </a:ext>
            </a:extLst>
          </p:cNvPr>
          <p:cNvSpPr>
            <a:spLocks xmlns:a="http://schemas.openxmlformats.org/drawingml/2006/main" noGrp="1"/>
          </p:cNvSpPr>
          <p:nvPr/>
        </p:nvSpPr>
        <p:spPr>
          <a:xfrm xmlns:a="http://schemas.openxmlformats.org/drawingml/2006/main">
            <a:off x="7953375" y="548640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DCAE1"/>
                </a:solidFill>
                <a:latin typeface="Arial"/>
                <a:ea typeface="Arial"/>
                <a:cs typeface="Arial"/>
              </a:defRPr>
            </a:defPPr>
          </a:lstStyle>
          <a:p xmlns:a="http://schemas.openxmlformats.org/drawingml/2006/main">
            <a:pPr algn="l">
              <a:defRPr sz="1350" b="0">
                <a:solidFill>
                  <a:srgbClr val="BDCAE1"/>
                </a:solidFill>
                <a:latin typeface="Arial"/>
                <a:ea typeface="Arial"/>
                <a:cs typeface="Arial"/>
              </a:defRPr>
            </a:pPr>
            <a:r>
              <a:rPr sz="1350" b="0">
                <a:solidFill>
                  <a:srgbClr val="BDCAE1"/>
                </a:solidFill>
                <a:latin typeface="Arial"/>
                <a:ea typeface="Arial"/>
                <a:cs typeface="Arial"/>
              </a:rPr>
              <a:t>Temsili içerik üretimi</a:t>
            </a:r>
          </a:p>
        </p:txBody>
      </p:sp>
    </p:spTree>
    <p:extLst>
      <p:ext uri="{BB962C8B-B14F-4D97-AF65-F5344CB8AC3E}">
        <p14:creationId xmlns:p14="http://schemas.microsoft.com/office/powerpoint/2010/main" val="6502149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38">
            <a:extLst xmlns:a="http://schemas.openxmlformats.org/drawingml/2006/main">
              <a:ext uri="{FF2B5EF4-FFF2-40B4-BE49-F238E27FC236}">
                <a16:creationId xmlns:a16="http://schemas.microsoft.com/office/drawing/2014/main" id="{BCD1601C-85C6-4450-9065-A518194365AB}"/>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Mağazanın kendi vitrini</a:t>
            </a:r>
          </a:p>
        </p:txBody>
      </p:sp>
      <p:sp>
        <p:nvSpPr>
          <p:cNvPr id="2" name="text-39">
            <a:extLst xmlns:a="http://schemas.openxmlformats.org/drawingml/2006/main">
              <a:ext uri="{FF2B5EF4-FFF2-40B4-BE49-F238E27FC236}">
                <a16:creationId xmlns:a16="http://schemas.microsoft.com/office/drawing/2014/main" id="{401A71E9-4C75-439F-AECC-527B74127A75}"/>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3" name="text-40">
            <a:extLst xmlns:a="http://schemas.openxmlformats.org/drawingml/2006/main">
              <a:ext uri="{FF2B5EF4-FFF2-40B4-BE49-F238E27FC236}">
                <a16:creationId xmlns:a16="http://schemas.microsoft.com/office/drawing/2014/main" id="{C40B396B-70AC-4866-A624-AC02D9944983}"/>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04</a:t>
            </a:r>
          </a:p>
        </p:txBody>
      </p:sp>
      <p:sp>
        <p:nvSpPr>
          <p:cNvPr id="4" name="text-41">
            <a:extLst xmlns:a="http://schemas.openxmlformats.org/drawingml/2006/main">
              <a:ext uri="{FF2B5EF4-FFF2-40B4-BE49-F238E27FC236}">
                <a16:creationId xmlns:a16="http://schemas.microsoft.com/office/drawing/2014/main" id="{5563AA61-F926-43B8-85D9-A9B57B325A83}"/>
              </a:ext>
            </a:extLst>
          </p:cNvPr>
          <p:cNvSpPr>
            <a:spLocks xmlns:a="http://schemas.openxmlformats.org/drawingml/2006/main" noGrp="1"/>
          </p:cNvSpPr>
          <p:nvPr/>
        </p:nvSpPr>
        <p:spPr>
          <a:xfrm xmlns:a="http://schemas.openxmlformats.org/drawingml/2006/main">
            <a:off x="704850" y="1809750"/>
            <a:ext cx="31718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1B3A"/>
                </a:solidFill>
                <a:latin typeface="Arial"/>
                <a:ea typeface="Arial"/>
                <a:cs typeface="Arial"/>
              </a:defRPr>
            </a:defPPr>
          </a:lstStyle>
          <a:p xmlns:a="http://schemas.openxmlformats.org/drawingml/2006/main">
            <a:pPr algn="l">
              <a:defRPr sz="2625" b="1">
                <a:solidFill>
                  <a:srgbClr val="081B3A"/>
                </a:solidFill>
                <a:latin typeface="Arial"/>
                <a:ea typeface="Arial"/>
                <a:cs typeface="Arial"/>
              </a:defRPr>
            </a:pPr>
            <a:r>
              <a:rPr sz="2625" b="1">
                <a:solidFill>
                  <a:srgbClr val="081B3A"/>
                </a:solidFill>
                <a:latin typeface="Arial"/>
                <a:ea typeface="Arial"/>
                <a:cs typeface="Arial"/>
              </a:rPr>
              <a:t>İşletmecinin kendi markasıyla</a:t>
            </a:r>
          </a:p>
          <a:p xmlns:a="http://schemas.openxmlformats.org/drawingml/2006/main">
            <a:pPr algn="l">
              <a:defRPr sz="2625" b="1">
                <a:solidFill>
                  <a:srgbClr val="081B3A"/>
                </a:solidFill>
                <a:latin typeface="Arial"/>
                <a:ea typeface="Arial"/>
                <a:cs typeface="Arial"/>
              </a:defRPr>
            </a:pPr>
            <a:r>
              <a:rPr sz="2625" b="1">
                <a:solidFill>
                  <a:srgbClr val="081B3A"/>
                </a:solidFill>
                <a:latin typeface="Arial"/>
                <a:ea typeface="Arial"/>
                <a:cs typeface="Arial"/>
              </a:rPr>
              <a:t>satış alanı</a:t>
            </a:r>
          </a:p>
        </p:txBody>
      </p:sp>
      <p:sp>
        <p:nvSpPr>
          <p:cNvPr id="5" name="text-42">
            <a:extLst xmlns:a="http://schemas.openxmlformats.org/drawingml/2006/main">
              <a:ext uri="{FF2B5EF4-FFF2-40B4-BE49-F238E27FC236}">
                <a16:creationId xmlns:a16="http://schemas.microsoft.com/office/drawing/2014/main" id="{67483F51-FCDE-4FEB-8185-2715966408B5}"/>
              </a:ext>
            </a:extLst>
          </p:cNvPr>
          <p:cNvSpPr>
            <a:spLocks xmlns:a="http://schemas.openxmlformats.org/drawingml/2006/main" noGrp="1"/>
          </p:cNvSpPr>
          <p:nvPr/>
        </p:nvSpPr>
        <p:spPr>
          <a:xfrm xmlns:a="http://schemas.openxmlformats.org/drawingml/2006/main">
            <a:off x="723900" y="3381375"/>
            <a:ext cx="3143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96A82"/>
                </a:solidFill>
                <a:latin typeface="Arial"/>
                <a:ea typeface="Arial"/>
                <a:cs typeface="Arial"/>
              </a:defRPr>
            </a:defPPr>
          </a:lstStyle>
          <a:p xmlns:a="http://schemas.openxmlformats.org/drawingml/2006/main">
            <a:pPr algn="l">
              <a:defRPr sz="1950" b="0">
                <a:solidFill>
                  <a:srgbClr val="596A82"/>
                </a:solidFill>
                <a:latin typeface="Arial"/>
                <a:ea typeface="Arial"/>
                <a:cs typeface="Arial"/>
              </a:defRPr>
            </a:pPr>
            <a:r>
              <a:rPr sz="1950" b="0">
                <a:solidFill>
                  <a:srgbClr val="596A82"/>
                </a:solidFill>
                <a:latin typeface="Arial"/>
                <a:ea typeface="Arial"/>
                <a:cs typeface="Arial"/>
              </a:rPr>
              <a:t>Katalog, ürün bilgisi ve</a:t>
            </a:r>
          </a:p>
          <a:p xmlns:a="http://schemas.openxmlformats.org/drawingml/2006/main">
            <a:pPr algn="l">
              <a:defRPr sz="1950" b="0">
                <a:solidFill>
                  <a:srgbClr val="596A82"/>
                </a:solidFill>
                <a:latin typeface="Arial"/>
                <a:ea typeface="Arial"/>
                <a:cs typeface="Arial"/>
              </a:defRPr>
            </a:pPr>
            <a:r>
              <a:rPr sz="1950" b="0">
                <a:solidFill>
                  <a:srgbClr val="596A82"/>
                </a:solidFill>
                <a:latin typeface="Arial"/>
                <a:ea typeface="Arial"/>
                <a:cs typeface="Arial"/>
              </a:rPr>
              <a:t>mağaza yönetimi aynı</a:t>
            </a:r>
          </a:p>
          <a:p xmlns:a="http://schemas.openxmlformats.org/drawingml/2006/main">
            <a:pPr algn="l">
              <a:defRPr sz="1950" b="0">
                <a:solidFill>
                  <a:srgbClr val="596A82"/>
                </a:solidFill>
                <a:latin typeface="Arial"/>
                <a:ea typeface="Arial"/>
                <a:cs typeface="Arial"/>
              </a:defRPr>
            </a:pPr>
            <a:r>
              <a:rPr sz="1950" b="0">
                <a:solidFill>
                  <a:srgbClr val="596A82"/>
                </a:solidFill>
                <a:latin typeface="Arial"/>
                <a:ea typeface="Arial"/>
                <a:cs typeface="Arial"/>
              </a:rPr>
              <a:t>veri kaynağını kullanır</a:t>
            </a:r>
          </a:p>
        </p:txBody>
      </p:sp>
      <p:pic>
        <p:nvPicPr>
          <p:cNvPr id="6" name="">
            <a:extLst xmlns:a="http://schemas.openxmlformats.org/drawingml/2006/main">
              <a:ext uri="{FF2B5EF4-FFF2-40B4-BE49-F238E27FC236}">
                <a16:creationId xmlns:a16="http://schemas.microsoft.com/office/drawing/2014/main" id="{0DB94C4D-1E99-4720-85CD-F895DED7BE85}"/>
              </a:ext>
            </a:extLst>
          </p:cNvPr>
          <p:cNvPicPr>
            <a:picLocks xmlns:a="http://schemas.openxmlformats.org/drawingml/2006/main" noChangeAspect="1"/>
          </p:cNvPicPr>
          <p:nvPr/>
        </p:nvPicPr>
        <p:blipFill>
          <a:blip xmlns:r="http://schemas.openxmlformats.org/officeDocument/2006/relationships" xmlns:a="http://schemas.openxmlformats.org/drawingml/2006/main" r:embed="R88b9e66587fd4bcd"/>
          <a:stretch xmlns:a="http://schemas.openxmlformats.org/drawingml/2006/main"/>
        </p:blipFill>
        <p:spPr>
          <a:xfrm xmlns:a="http://schemas.openxmlformats.org/drawingml/2006/main">
            <a:off x="4791853" y="1771650"/>
            <a:ext cx="6018245" cy="4095750"/>
          </a:xfrm>
          <a:prstGeom xmlns:a="http://schemas.openxmlformats.org/drawingml/2006/main" prst="rect">
            <a:avLst/>
          </a:prstGeom>
        </p:spPr>
      </p:pic>
      <p:sp>
        <p:nvSpPr>
          <p:cNvPr id="7" name="text-43">
            <a:extLst xmlns:a="http://schemas.openxmlformats.org/drawingml/2006/main">
              <a:ext uri="{FF2B5EF4-FFF2-40B4-BE49-F238E27FC236}">
                <a16:creationId xmlns:a16="http://schemas.microsoft.com/office/drawing/2014/main" id="{678B0318-E46C-4F0E-96EA-154D3DB7C785}"/>
              </a:ext>
            </a:extLst>
          </p:cNvPr>
          <p:cNvSpPr>
            <a:spLocks xmlns:a="http://schemas.openxmlformats.org/drawingml/2006/main" noGrp="1"/>
          </p:cNvSpPr>
          <p:nvPr/>
        </p:nvSpPr>
        <p:spPr>
          <a:xfrm xmlns:a="http://schemas.openxmlformats.org/drawingml/2006/main">
            <a:off x="723900" y="59626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6A82"/>
                </a:solidFill>
                <a:latin typeface="Arial"/>
                <a:ea typeface="Arial"/>
                <a:cs typeface="Arial"/>
              </a:defRPr>
            </a:defPPr>
          </a:lstStyle>
          <a:p xmlns:a="http://schemas.openxmlformats.org/drawingml/2006/main">
            <a:pPr algn="l">
              <a:defRPr sz="1500" b="0">
                <a:solidFill>
                  <a:srgbClr val="596A82"/>
                </a:solidFill>
                <a:latin typeface="Arial"/>
                <a:ea typeface="Arial"/>
                <a:cs typeface="Arial"/>
              </a:defRPr>
            </a:pPr>
            <a:r>
              <a:rPr sz="1500" b="0">
                <a:solidFill>
                  <a:srgbClr val="596A82"/>
                </a:solidFill>
                <a:latin typeface="Arial"/>
                <a:ea typeface="Arial"/>
                <a:cs typeface="Arial"/>
              </a:rPr>
              <a:t>Ürün prototipi, demo katalog. Ticari performans verisi değildir.</a:t>
            </a:r>
          </a:p>
        </p:txBody>
      </p:sp>
    </p:spTree>
    <p:extLst>
      <p:ext uri="{BB962C8B-B14F-4D97-AF65-F5344CB8AC3E}">
        <p14:creationId xmlns:p14="http://schemas.microsoft.com/office/powerpoint/2010/main" val="19825238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44">
            <a:extLst xmlns:a="http://schemas.openxmlformats.org/drawingml/2006/main">
              <a:ext uri="{FF2B5EF4-FFF2-40B4-BE49-F238E27FC236}">
                <a16:creationId xmlns:a16="http://schemas.microsoft.com/office/drawing/2014/main" id="{7D4DC77C-AC95-486C-ADD1-E25D6B30E55B}"/>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Ticaret ve creator iş birlikleri ölçek kazanıyor</a:t>
            </a:r>
          </a:p>
        </p:txBody>
      </p:sp>
      <p:sp>
        <p:nvSpPr>
          <p:cNvPr id="2" name="text-45">
            <a:extLst xmlns:a="http://schemas.openxmlformats.org/drawingml/2006/main">
              <a:ext uri="{FF2B5EF4-FFF2-40B4-BE49-F238E27FC236}">
                <a16:creationId xmlns:a16="http://schemas.microsoft.com/office/drawing/2014/main" id="{E52DBA2D-3B53-4CA1-BE44-F626CCF881F4}"/>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Küresel örnekler kategoriye işaret ediyor, Alceix gelirine değil</a:t>
            </a:r>
          </a:p>
        </p:txBody>
      </p:sp>
      <p:sp>
        <p:nvSpPr>
          <p:cNvPr id="3" name="text-46">
            <a:extLst xmlns:a="http://schemas.openxmlformats.org/drawingml/2006/main">
              <a:ext uri="{FF2B5EF4-FFF2-40B4-BE49-F238E27FC236}">
                <a16:creationId xmlns:a16="http://schemas.microsoft.com/office/drawing/2014/main" id="{83B47998-B94A-4E8C-AC4F-81EF3E8C21D0}"/>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47">
            <a:extLst xmlns:a="http://schemas.openxmlformats.org/drawingml/2006/main">
              <a:ext uri="{FF2B5EF4-FFF2-40B4-BE49-F238E27FC236}">
                <a16:creationId xmlns:a16="http://schemas.microsoft.com/office/drawing/2014/main" id="{BDB0DA63-4A8C-4A64-A98D-149CBD713988}"/>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05</a:t>
            </a:r>
          </a:p>
        </p:txBody>
      </p:sp>
      <p:sp>
        <p:nvSpPr>
          <p:cNvPr id="5" name="text-48">
            <a:extLst xmlns:a="http://schemas.openxmlformats.org/drawingml/2006/main">
              <a:ext uri="{FF2B5EF4-FFF2-40B4-BE49-F238E27FC236}">
                <a16:creationId xmlns:a16="http://schemas.microsoft.com/office/drawing/2014/main" id="{8EF82809-6F79-4F90-86FA-B7C489C79B07}"/>
              </a:ext>
            </a:extLst>
          </p:cNvPr>
          <p:cNvSpPr>
            <a:spLocks xmlns:a="http://schemas.openxmlformats.org/drawingml/2006/main" noGrp="1"/>
          </p:cNvSpPr>
          <p:nvPr/>
        </p:nvSpPr>
        <p:spPr>
          <a:xfrm xmlns:a="http://schemas.openxmlformats.org/drawingml/2006/main">
            <a:off x="704850" y="60674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96A82"/>
                </a:solidFill>
                <a:latin typeface="Arial"/>
                <a:ea typeface="Arial"/>
                <a:cs typeface="Arial"/>
              </a:defRPr>
            </a:defPPr>
          </a:lstStyle>
          <a:p xmlns:a="http://schemas.openxmlformats.org/drawingml/2006/main">
            <a:pPr algn="l">
              <a:defRPr sz="1200" b="0">
                <a:solidFill>
                  <a:srgbClr val="596A82"/>
                </a:solidFill>
                <a:latin typeface="Arial"/>
                <a:ea typeface="Arial"/>
                <a:cs typeface="Arial"/>
              </a:defRPr>
            </a:pPr>
            <a:r>
              <a:rPr sz="1200" b="0">
                <a:solidFill>
                  <a:srgbClr val="596A82"/>
                </a:solidFill>
                <a:latin typeface="Arial"/>
                <a:ea typeface="Arial"/>
                <a:cs typeface="Arial"/>
              </a:rPr>
              <a:t>Kaynak: Shopify 2025 Form 10-K ve IAB 2025 Creator Economy raporu</a:t>
            </a:r>
          </a:p>
        </p:txBody>
      </p:sp>
      <p:sp>
        <p:nvSpPr>
          <p:cNvPr id="6" name="text-49">
            <a:extLst xmlns:a="http://schemas.openxmlformats.org/drawingml/2006/main">
              <a:ext uri="{FF2B5EF4-FFF2-40B4-BE49-F238E27FC236}">
                <a16:creationId xmlns:a16="http://schemas.microsoft.com/office/drawing/2014/main" id="{AE4B84D1-0A89-416F-A927-FB685E99E939}"/>
              </a:ext>
            </a:extLst>
          </p:cNvPr>
          <p:cNvSpPr>
            <a:spLocks xmlns:a="http://schemas.openxmlformats.org/drawingml/2006/main" noGrp="1"/>
          </p:cNvSpPr>
          <p:nvPr/>
        </p:nvSpPr>
        <p:spPr>
          <a:xfrm xmlns:a="http://schemas.openxmlformats.org/drawingml/2006/main">
            <a:off x="704850" y="2305050"/>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1B3A"/>
                </a:solidFill>
                <a:latin typeface="Arial"/>
                <a:ea typeface="Arial"/>
                <a:cs typeface="Arial"/>
              </a:defRPr>
            </a:defPPr>
          </a:lstStyle>
          <a:p xmlns:a="http://schemas.openxmlformats.org/drawingml/2006/main">
            <a:pPr algn="l">
              <a:defRPr sz="1950" b="1">
                <a:solidFill>
                  <a:srgbClr val="081B3A"/>
                </a:solidFill>
                <a:latin typeface="Arial"/>
                <a:ea typeface="Arial"/>
                <a:cs typeface="Arial"/>
              </a:defRPr>
            </a:pPr>
            <a:r>
              <a:rPr sz="1950" b="1">
                <a:solidFill>
                  <a:srgbClr val="081B3A"/>
                </a:solidFill>
                <a:latin typeface="Arial"/>
                <a:ea typeface="Arial"/>
                <a:cs typeface="Arial"/>
              </a:rPr>
              <a:t>Shopify GMV, milyar USD</a:t>
            </a:r>
          </a:p>
        </p:txBody>
      </p:sp>
      <p:graphicFrame>
        <p:nvGraphicFramePr>
          <p:cNvPr id="7" name="Chart">
            <a:extLst xmlns:a="http://schemas.openxmlformats.org/drawingml/2006/main">
              <a:ext uri="{FF2B5EF4-FFF2-40B4-BE49-F238E27FC236}">
                <a16:creationId xmlns:a16="http://schemas.microsoft.com/office/drawing/2014/main" id="{8BD2AD03-D9EA-4BD0-BA9D-1980079A50F6}"/>
              </a:ext>
            </a:extLst>
          </p:cNvPr>
          <p:cNvGraphicFramePr/>
          <p:nvPr/>
        </p:nvGraphicFramePr>
        <p:xfrm>
          <a:off xmlns:a="http://schemas.openxmlformats.org/drawingml/2006/main" x="666750" y="2838450"/>
          <a:ext xmlns:a="http://schemas.openxmlformats.org/drawingml/2006/main" cx="7000875" cy="2981325"/>
        </p:xfrm>
        <a:graphic xmlns:a="http://schemas.openxmlformats.org/drawingml/2006/main">
          <a:graphicData uri="http://schemas.openxmlformats.org/drawingml/2006/chart">
            <c:chart xmlns:r="http://schemas.openxmlformats.org/officeDocument/2006/relationships" xmlns:c="http://schemas.openxmlformats.org/drawingml/2006/chart" r:id="R96b6e8edd7c34013"/>
          </a:graphicData>
        </a:graphic>
      </p:graphicFrame>
      <p:sp>
        <p:nvSpPr>
          <p:cNvPr id="8" name="text-50">
            <a:extLst xmlns:a="http://schemas.openxmlformats.org/drawingml/2006/main">
              <a:ext uri="{FF2B5EF4-FFF2-40B4-BE49-F238E27FC236}">
                <a16:creationId xmlns:a16="http://schemas.microsoft.com/office/drawing/2014/main" id="{E08EB657-4B81-49B7-9A16-3CF09B242218}"/>
              </a:ext>
            </a:extLst>
          </p:cNvPr>
          <p:cNvSpPr>
            <a:spLocks xmlns:a="http://schemas.openxmlformats.org/drawingml/2006/main" noGrp="1"/>
          </p:cNvSpPr>
          <p:nvPr/>
        </p:nvSpPr>
        <p:spPr>
          <a:xfrm xmlns:a="http://schemas.openxmlformats.org/drawingml/2006/main">
            <a:off x="8143875" y="2762250"/>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75FF7"/>
                </a:solidFill>
                <a:latin typeface="Arial"/>
                <a:ea typeface="Arial"/>
                <a:cs typeface="Arial"/>
              </a:defRPr>
            </a:defPPr>
          </a:lstStyle>
          <a:p xmlns:a="http://schemas.openxmlformats.org/drawingml/2006/main">
            <a:pPr algn="l">
              <a:defRPr sz="3900" b="1">
                <a:solidFill>
                  <a:srgbClr val="075FF7"/>
                </a:solidFill>
                <a:latin typeface="Arial"/>
                <a:ea typeface="Arial"/>
                <a:cs typeface="Arial"/>
              </a:defRPr>
            </a:pPr>
            <a:r>
              <a:rPr sz="3900" b="1">
                <a:solidFill>
                  <a:srgbClr val="075FF7"/>
                </a:solidFill>
                <a:latin typeface="Arial"/>
                <a:ea typeface="Arial"/>
                <a:cs typeface="Arial"/>
              </a:rPr>
              <a:t>37 milyar $</a:t>
            </a:r>
          </a:p>
        </p:txBody>
      </p:sp>
      <p:sp>
        <p:nvSpPr>
          <p:cNvPr id="9" name="text-51">
            <a:extLst xmlns:a="http://schemas.openxmlformats.org/drawingml/2006/main">
              <a:ext uri="{FF2B5EF4-FFF2-40B4-BE49-F238E27FC236}">
                <a16:creationId xmlns:a16="http://schemas.microsoft.com/office/drawing/2014/main" id="{B9234169-DA08-4266-B7AA-69AFC0BD6425}"/>
              </a:ext>
            </a:extLst>
          </p:cNvPr>
          <p:cNvSpPr>
            <a:spLocks xmlns:a="http://schemas.openxmlformats.org/drawingml/2006/main" noGrp="1"/>
          </p:cNvSpPr>
          <p:nvPr/>
        </p:nvSpPr>
        <p:spPr>
          <a:xfrm xmlns:a="http://schemas.openxmlformats.org/drawingml/2006/main">
            <a:off x="8181975" y="3762375"/>
            <a:ext cx="3190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A82"/>
                </a:solidFill>
                <a:latin typeface="Arial"/>
                <a:ea typeface="Arial"/>
                <a:cs typeface="Arial"/>
              </a:defRPr>
            </a:defPPr>
          </a:lstStyle>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ABD creator reklam harcaması</a:t>
            </a:r>
          </a:p>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2025 için IAB tahmini</a:t>
            </a:r>
          </a:p>
        </p:txBody>
      </p:sp>
      <p:sp>
        <p:nvSpPr>
          <p:cNvPr id="10" name="text-52">
            <a:extLst xmlns:a="http://schemas.openxmlformats.org/drawingml/2006/main">
              <a:ext uri="{FF2B5EF4-FFF2-40B4-BE49-F238E27FC236}">
                <a16:creationId xmlns:a16="http://schemas.microsoft.com/office/drawing/2014/main" id="{55D185F2-E12E-474F-A5F4-1F4BE0940054}"/>
              </a:ext>
            </a:extLst>
          </p:cNvPr>
          <p:cNvSpPr>
            <a:spLocks xmlns:a="http://schemas.openxmlformats.org/drawingml/2006/main" noGrp="1"/>
          </p:cNvSpPr>
          <p:nvPr/>
        </p:nvSpPr>
        <p:spPr>
          <a:xfrm xmlns:a="http://schemas.openxmlformats.org/drawingml/2006/main">
            <a:off x="8181975" y="48958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81B3A"/>
                </a:solidFill>
                <a:latin typeface="Arial"/>
                <a:ea typeface="Arial"/>
                <a:cs typeface="Arial"/>
              </a:defRPr>
            </a:defPPr>
          </a:lstStyle>
          <a:p xmlns:a="http://schemas.openxmlformats.org/drawingml/2006/main">
            <a:pPr algn="l">
              <a:defRPr sz="1800" b="0">
                <a:solidFill>
                  <a:srgbClr val="081B3A"/>
                </a:solidFill>
                <a:latin typeface="Arial"/>
                <a:ea typeface="Arial"/>
                <a:cs typeface="Arial"/>
              </a:defRPr>
            </a:pPr>
            <a:r>
              <a:rPr sz="1800" b="0">
                <a:solidFill>
                  <a:srgbClr val="081B3A"/>
                </a:solidFill>
                <a:latin typeface="Arial"/>
                <a:ea typeface="Arial"/>
                <a:cs typeface="Arial"/>
              </a:rPr>
              <a:t>Ürün yönü: ticaret ile içerik</a:t>
            </a:r>
          </a:p>
          <a:p xmlns:a="http://schemas.openxmlformats.org/drawingml/2006/main">
            <a:pPr algn="l">
              <a:defRPr sz="1800" b="0">
                <a:solidFill>
                  <a:srgbClr val="081B3A"/>
                </a:solidFill>
                <a:latin typeface="Arial"/>
                <a:ea typeface="Arial"/>
                <a:cs typeface="Arial"/>
              </a:defRPr>
            </a:pPr>
            <a:r>
              <a:rPr sz="1800" b="0">
                <a:solidFill>
                  <a:srgbClr val="081B3A"/>
                </a:solidFill>
                <a:latin typeface="Arial"/>
                <a:ea typeface="Arial"/>
                <a:cs typeface="Arial"/>
              </a:rPr>
              <a:t>iş birliğini birlikte yönetmek</a:t>
            </a:r>
          </a:p>
        </p:txBody>
      </p:sp>
    </p:spTree>
    <p:extLst>
      <p:ext uri="{BB962C8B-B14F-4D97-AF65-F5344CB8AC3E}">
        <p14:creationId xmlns:p14="http://schemas.microsoft.com/office/powerpoint/2010/main" val="10560450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53">
            <a:extLst xmlns:a="http://schemas.openxmlformats.org/drawingml/2006/main">
              <a:ext uri="{FF2B5EF4-FFF2-40B4-BE49-F238E27FC236}">
                <a16:creationId xmlns:a16="http://schemas.microsoft.com/office/drawing/2014/main" id="{0A1C561D-BD9F-4CE9-BFB8-B69D66F575C8}"/>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Başlangıç pazarı Türkiye</a:t>
            </a:r>
          </a:p>
        </p:txBody>
      </p:sp>
      <p:sp>
        <p:nvSpPr>
          <p:cNvPr id="2" name="text-54">
            <a:extLst xmlns:a="http://schemas.openxmlformats.org/drawingml/2006/main">
              <a:ext uri="{FF2B5EF4-FFF2-40B4-BE49-F238E27FC236}">
                <a16:creationId xmlns:a16="http://schemas.microsoft.com/office/drawing/2014/main" id="{BF8D3136-C0C7-4ADE-B8B7-C7F2851B2AE4}"/>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2025 verileri, perakende ve bağımsız işletmeler için geniş bir taban gösteriyor</a:t>
            </a:r>
          </a:p>
        </p:txBody>
      </p:sp>
      <p:sp>
        <p:nvSpPr>
          <p:cNvPr id="3" name="text-55">
            <a:extLst xmlns:a="http://schemas.openxmlformats.org/drawingml/2006/main">
              <a:ext uri="{FF2B5EF4-FFF2-40B4-BE49-F238E27FC236}">
                <a16:creationId xmlns:a16="http://schemas.microsoft.com/office/drawing/2014/main" id="{55C5D04D-7399-44C5-B742-9B1C2B7C7625}"/>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56">
            <a:extLst xmlns:a="http://schemas.openxmlformats.org/drawingml/2006/main">
              <a:ext uri="{FF2B5EF4-FFF2-40B4-BE49-F238E27FC236}">
                <a16:creationId xmlns:a16="http://schemas.microsoft.com/office/drawing/2014/main" id="{2933FE29-790B-4050-872F-6575B70E759A}"/>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06</a:t>
            </a:r>
          </a:p>
        </p:txBody>
      </p:sp>
      <p:sp>
        <p:nvSpPr>
          <p:cNvPr id="5" name="text-57">
            <a:extLst xmlns:a="http://schemas.openxmlformats.org/drawingml/2006/main">
              <a:ext uri="{FF2B5EF4-FFF2-40B4-BE49-F238E27FC236}">
                <a16:creationId xmlns:a16="http://schemas.microsoft.com/office/drawing/2014/main" id="{A36BD73F-0607-472E-A3E5-CB6EAF3A5495}"/>
              </a:ext>
            </a:extLst>
          </p:cNvPr>
          <p:cNvSpPr>
            <a:spLocks xmlns:a="http://schemas.openxmlformats.org/drawingml/2006/main" noGrp="1"/>
          </p:cNvSpPr>
          <p:nvPr/>
        </p:nvSpPr>
        <p:spPr>
          <a:xfrm xmlns:a="http://schemas.openxmlformats.org/drawingml/2006/main">
            <a:off x="704850" y="60674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96A82"/>
                </a:solidFill>
                <a:latin typeface="Arial"/>
                <a:ea typeface="Arial"/>
                <a:cs typeface="Arial"/>
              </a:defRPr>
            </a:defPPr>
          </a:lstStyle>
          <a:p xmlns:a="http://schemas.openxmlformats.org/drawingml/2006/main">
            <a:pPr algn="l">
              <a:defRPr sz="1200" b="0">
                <a:solidFill>
                  <a:srgbClr val="596A82"/>
                </a:solidFill>
                <a:latin typeface="Arial"/>
                <a:ea typeface="Arial"/>
                <a:cs typeface="Arial"/>
              </a:defRPr>
            </a:pPr>
            <a:r>
              <a:rPr sz="1200" b="0">
                <a:solidFill>
                  <a:srgbClr val="596A82"/>
                </a:solidFill>
                <a:latin typeface="Arial"/>
                <a:ea typeface="Arial"/>
                <a:cs typeface="Arial"/>
              </a:rPr>
              <a:t>Kaynak: T.C. Ticaret Bakanlığı, ETBİS, 12 Mayıs 2026</a:t>
            </a:r>
          </a:p>
        </p:txBody>
      </p:sp>
      <p:sp>
        <p:nvSpPr>
          <p:cNvPr id="6" name="text-58">
            <a:extLst xmlns:a="http://schemas.openxmlformats.org/drawingml/2006/main">
              <a:ext uri="{FF2B5EF4-FFF2-40B4-BE49-F238E27FC236}">
                <a16:creationId xmlns:a16="http://schemas.microsoft.com/office/drawing/2014/main" id="{4A028B34-BF0E-4F6B-9D4A-EE8CD29528B1}"/>
              </a:ext>
            </a:extLst>
          </p:cNvPr>
          <p:cNvSpPr>
            <a:spLocks xmlns:a="http://schemas.openxmlformats.org/drawingml/2006/main" noGrp="1"/>
          </p:cNvSpPr>
          <p:nvPr/>
        </p:nvSpPr>
        <p:spPr>
          <a:xfrm xmlns:a="http://schemas.openxmlformats.org/drawingml/2006/main">
            <a:off x="704850" y="2543175"/>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075FF7"/>
                </a:solidFill>
                <a:latin typeface="Arial"/>
                <a:ea typeface="Arial"/>
                <a:cs typeface="Arial"/>
              </a:defRPr>
            </a:defPPr>
          </a:lstStyle>
          <a:p xmlns:a="http://schemas.openxmlformats.org/drawingml/2006/main">
            <a:pPr algn="l">
              <a:defRPr sz="6450" b="1">
                <a:solidFill>
                  <a:srgbClr val="075FF7"/>
                </a:solidFill>
                <a:latin typeface="Arial"/>
                <a:ea typeface="Arial"/>
                <a:cs typeface="Arial"/>
              </a:defRPr>
            </a:pPr>
            <a:r>
              <a:rPr sz="6450" b="1">
                <a:solidFill>
                  <a:srgbClr val="075FF7"/>
                </a:solidFill>
                <a:latin typeface="Arial"/>
                <a:ea typeface="Arial"/>
                <a:cs typeface="Arial"/>
              </a:rPr>
              <a:t>634.611</a:t>
            </a:r>
          </a:p>
        </p:txBody>
      </p:sp>
      <p:sp>
        <p:nvSpPr>
          <p:cNvPr id="7" name="text-59">
            <a:extLst xmlns:a="http://schemas.openxmlformats.org/drawingml/2006/main">
              <a:ext uri="{FF2B5EF4-FFF2-40B4-BE49-F238E27FC236}">
                <a16:creationId xmlns:a16="http://schemas.microsoft.com/office/drawing/2014/main" id="{BB137332-6CE9-4A67-9B83-0DF3D1B514B8}"/>
              </a:ext>
            </a:extLst>
          </p:cNvPr>
          <p:cNvSpPr>
            <a:spLocks xmlns:a="http://schemas.openxmlformats.org/drawingml/2006/main" noGrp="1"/>
          </p:cNvSpPr>
          <p:nvPr/>
        </p:nvSpPr>
        <p:spPr>
          <a:xfrm xmlns:a="http://schemas.openxmlformats.org/drawingml/2006/main">
            <a:off x="742950" y="375285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1B3A"/>
                </a:solidFill>
                <a:latin typeface="Arial"/>
                <a:ea typeface="Arial"/>
                <a:cs typeface="Arial"/>
              </a:defRPr>
            </a:defPPr>
          </a:lstStyle>
          <a:p xmlns:a="http://schemas.openxmlformats.org/drawingml/2006/main">
            <a:pPr algn="l">
              <a:defRPr sz="2550" b="1">
                <a:solidFill>
                  <a:srgbClr val="081B3A"/>
                </a:solidFill>
                <a:latin typeface="Arial"/>
                <a:ea typeface="Arial"/>
                <a:cs typeface="Arial"/>
              </a:defRPr>
            </a:pPr>
            <a:r>
              <a:rPr sz="2550" b="1">
                <a:solidFill>
                  <a:srgbClr val="081B3A"/>
                </a:solidFill>
                <a:latin typeface="Arial"/>
                <a:ea typeface="Arial"/>
                <a:cs typeface="Arial"/>
              </a:rPr>
              <a:t>E-ticaret yapan işletme</a:t>
            </a:r>
          </a:p>
        </p:txBody>
      </p:sp>
      <p:sp>
        <p:nvSpPr>
          <p:cNvPr id="8" name="text-60">
            <a:extLst xmlns:a="http://schemas.openxmlformats.org/drawingml/2006/main">
              <a:ext uri="{FF2B5EF4-FFF2-40B4-BE49-F238E27FC236}">
                <a16:creationId xmlns:a16="http://schemas.microsoft.com/office/drawing/2014/main" id="{2F5493A4-C659-4A18-81BE-18CD538F73B2}"/>
              </a:ext>
            </a:extLst>
          </p:cNvPr>
          <p:cNvSpPr>
            <a:spLocks xmlns:a="http://schemas.openxmlformats.org/drawingml/2006/main" noGrp="1"/>
          </p:cNvSpPr>
          <p:nvPr/>
        </p:nvSpPr>
        <p:spPr>
          <a:xfrm xmlns:a="http://schemas.openxmlformats.org/drawingml/2006/main">
            <a:off x="762000" y="4667250"/>
            <a:ext cx="7286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96A82"/>
                </a:solidFill>
                <a:latin typeface="Arial"/>
                <a:ea typeface="Arial"/>
                <a:cs typeface="Arial"/>
              </a:defRPr>
            </a:defPPr>
          </a:lstStyle>
          <a:p xmlns:a="http://schemas.openxmlformats.org/drawingml/2006/main">
            <a:pPr algn="l">
              <a:defRPr sz="2100" b="0">
                <a:solidFill>
                  <a:srgbClr val="596A82"/>
                </a:solidFill>
                <a:latin typeface="Arial"/>
                <a:ea typeface="Arial"/>
                <a:cs typeface="Arial"/>
              </a:defRPr>
            </a:pPr>
            <a:r>
              <a:rPr sz="2100" b="0">
                <a:solidFill>
                  <a:srgbClr val="596A82"/>
                </a:solidFill>
                <a:latin typeface="Arial"/>
                <a:ea typeface="Arial"/>
                <a:cs typeface="Arial"/>
              </a:rPr>
              <a:t>Pazar tabanı güçlü. İlk adım,</a:t>
            </a:r>
          </a:p>
          <a:p xmlns:a="http://schemas.openxmlformats.org/drawingml/2006/main">
            <a:pPr algn="l">
              <a:defRPr sz="2100" b="0">
                <a:solidFill>
                  <a:srgbClr val="596A82"/>
                </a:solidFill>
                <a:latin typeface="Arial"/>
                <a:ea typeface="Arial"/>
                <a:cs typeface="Arial"/>
              </a:defRPr>
            </a:pPr>
            <a:r>
              <a:rPr sz="2100" b="0">
                <a:solidFill>
                  <a:srgbClr val="596A82"/>
                </a:solidFill>
                <a:latin typeface="Arial"/>
                <a:ea typeface="Arial"/>
                <a:cs typeface="Arial"/>
              </a:rPr>
              <a:t>dar bir satıcı segmentinde ödeme isteğini ölçmek.</a:t>
            </a:r>
          </a:p>
        </p:txBody>
      </p:sp>
      <p:sp>
        <p:nvSpPr>
          <p:cNvPr id="9" name="text-61">
            <a:extLst xmlns:a="http://schemas.openxmlformats.org/drawingml/2006/main">
              <a:ext uri="{FF2B5EF4-FFF2-40B4-BE49-F238E27FC236}">
                <a16:creationId xmlns:a16="http://schemas.microsoft.com/office/drawing/2014/main" id="{D831846E-C7DE-4C62-8D06-DBCA12344802}"/>
              </a:ext>
            </a:extLst>
          </p:cNvPr>
          <p:cNvSpPr>
            <a:spLocks xmlns:a="http://schemas.openxmlformats.org/drawingml/2006/main" noGrp="1"/>
          </p:cNvSpPr>
          <p:nvPr/>
        </p:nvSpPr>
        <p:spPr>
          <a:xfrm xmlns:a="http://schemas.openxmlformats.org/drawingml/2006/main">
            <a:off x="8439150" y="2581275"/>
            <a:ext cx="30670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81B3A"/>
                </a:solidFill>
                <a:latin typeface="Arial"/>
                <a:ea typeface="Arial"/>
                <a:cs typeface="Arial"/>
              </a:defRPr>
            </a:defPPr>
          </a:lstStyle>
          <a:p xmlns:a="http://schemas.openxmlformats.org/drawingml/2006/main">
            <a:pPr algn="l">
              <a:defRPr sz="2925" b="1">
                <a:solidFill>
                  <a:srgbClr val="081B3A"/>
                </a:solidFill>
                <a:latin typeface="Arial"/>
                <a:ea typeface="Arial"/>
                <a:cs typeface="Arial"/>
              </a:defRPr>
            </a:pPr>
            <a:r>
              <a:rPr sz="2925" b="1">
                <a:solidFill>
                  <a:srgbClr val="081B3A"/>
                </a:solidFill>
                <a:latin typeface="Arial"/>
                <a:ea typeface="Arial"/>
                <a:cs typeface="Arial"/>
              </a:rPr>
              <a:t>2,46 trilyon TL</a:t>
            </a:r>
          </a:p>
        </p:txBody>
      </p:sp>
      <p:sp>
        <p:nvSpPr>
          <p:cNvPr id="10" name="text-62">
            <a:extLst xmlns:a="http://schemas.openxmlformats.org/drawingml/2006/main">
              <a:ext uri="{FF2B5EF4-FFF2-40B4-BE49-F238E27FC236}">
                <a16:creationId xmlns:a16="http://schemas.microsoft.com/office/drawing/2014/main" id="{D13FEE23-0FF4-41E0-A59D-4BF0EE593B84}"/>
              </a:ext>
            </a:extLst>
          </p:cNvPr>
          <p:cNvSpPr>
            <a:spLocks xmlns:a="http://schemas.openxmlformats.org/drawingml/2006/main" noGrp="1"/>
          </p:cNvSpPr>
          <p:nvPr/>
        </p:nvSpPr>
        <p:spPr>
          <a:xfrm xmlns:a="http://schemas.openxmlformats.org/drawingml/2006/main">
            <a:off x="8467725" y="3562350"/>
            <a:ext cx="304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A82"/>
                </a:solidFill>
                <a:latin typeface="Arial"/>
                <a:ea typeface="Arial"/>
                <a:cs typeface="Arial"/>
              </a:defRPr>
            </a:defPPr>
          </a:lstStyle>
          <a:p xmlns:a="http://schemas.openxmlformats.org/drawingml/2006/main">
            <a:pPr algn="l">
              <a:defRPr sz="1725" b="0">
                <a:solidFill>
                  <a:srgbClr val="596A82"/>
                </a:solidFill>
                <a:latin typeface="Arial"/>
                <a:ea typeface="Arial"/>
                <a:cs typeface="Arial"/>
              </a:defRPr>
            </a:pPr>
            <a:r>
              <a:rPr sz="1725" b="0">
                <a:solidFill>
                  <a:srgbClr val="596A82"/>
                </a:solidFill>
                <a:latin typeface="Arial"/>
                <a:ea typeface="Arial"/>
                <a:cs typeface="Arial"/>
              </a:rPr>
              <a:t>Perakende e-ticaret hacmi</a:t>
            </a:r>
          </a:p>
        </p:txBody>
      </p:sp>
      <p:sp>
        <p:nvSpPr>
          <p:cNvPr id="11" name="text-63">
            <a:extLst xmlns:a="http://schemas.openxmlformats.org/drawingml/2006/main">
              <a:ext uri="{FF2B5EF4-FFF2-40B4-BE49-F238E27FC236}">
                <a16:creationId xmlns:a16="http://schemas.microsoft.com/office/drawing/2014/main" id="{521DCF97-7A81-4F41-93BC-72EA031B789B}"/>
              </a:ext>
            </a:extLst>
          </p:cNvPr>
          <p:cNvSpPr>
            <a:spLocks xmlns:a="http://schemas.openxmlformats.org/drawingml/2006/main" noGrp="1"/>
          </p:cNvSpPr>
          <p:nvPr/>
        </p:nvSpPr>
        <p:spPr>
          <a:xfrm xmlns:a="http://schemas.openxmlformats.org/drawingml/2006/main">
            <a:off x="8439150" y="4572000"/>
            <a:ext cx="3067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1B3A"/>
                </a:solidFill>
                <a:latin typeface="Arial"/>
                <a:ea typeface="Arial"/>
                <a:cs typeface="Arial"/>
              </a:defRPr>
            </a:defPPr>
          </a:lstStyle>
          <a:p xmlns:a="http://schemas.openxmlformats.org/drawingml/2006/main">
            <a:pPr algn="l">
              <a:defRPr sz="2850" b="1">
                <a:solidFill>
                  <a:srgbClr val="081B3A"/>
                </a:solidFill>
                <a:latin typeface="Arial"/>
                <a:ea typeface="Arial"/>
                <a:cs typeface="Arial"/>
              </a:defRPr>
            </a:pPr>
            <a:r>
              <a:rPr sz="2850" b="1">
                <a:solidFill>
                  <a:srgbClr val="081B3A"/>
                </a:solidFill>
                <a:latin typeface="Arial"/>
                <a:ea typeface="Arial"/>
                <a:cs typeface="Arial"/>
              </a:rPr>
              <a:t>428,7 milyar TL</a:t>
            </a:r>
          </a:p>
        </p:txBody>
      </p:sp>
      <p:sp>
        <p:nvSpPr>
          <p:cNvPr id="12" name="text-64">
            <a:extLst xmlns:a="http://schemas.openxmlformats.org/drawingml/2006/main">
              <a:ext uri="{FF2B5EF4-FFF2-40B4-BE49-F238E27FC236}">
                <a16:creationId xmlns:a16="http://schemas.microsoft.com/office/drawing/2014/main" id="{46476A36-E3CC-45B9-BC67-8330D732359B}"/>
              </a:ext>
            </a:extLst>
          </p:cNvPr>
          <p:cNvSpPr>
            <a:spLocks xmlns:a="http://schemas.openxmlformats.org/drawingml/2006/main" noGrp="1"/>
          </p:cNvSpPr>
          <p:nvPr/>
        </p:nvSpPr>
        <p:spPr>
          <a:xfrm xmlns:a="http://schemas.openxmlformats.org/drawingml/2006/main">
            <a:off x="8467725" y="541972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A82"/>
                </a:solidFill>
                <a:latin typeface="Arial"/>
                <a:ea typeface="Arial"/>
                <a:cs typeface="Arial"/>
              </a:defRPr>
            </a:defPPr>
          </a:lstStyle>
          <a:p xmlns:a="http://schemas.openxmlformats.org/drawingml/2006/main">
            <a:pPr algn="l">
              <a:defRPr sz="1650" b="0">
                <a:solidFill>
                  <a:srgbClr val="596A82"/>
                </a:solidFill>
                <a:latin typeface="Arial"/>
                <a:ea typeface="Arial"/>
                <a:cs typeface="Arial"/>
              </a:defRPr>
            </a:pPr>
            <a:r>
              <a:rPr sz="1650" b="0">
                <a:solidFill>
                  <a:srgbClr val="596A82"/>
                </a:solidFill>
                <a:latin typeface="Arial"/>
                <a:ea typeface="Arial"/>
                <a:cs typeface="Arial"/>
              </a:rPr>
              <a:t>Giyim, ayakkabı ve aksesuar</a:t>
            </a:r>
          </a:p>
        </p:txBody>
      </p:sp>
    </p:spTree>
    <p:extLst>
      <p:ext uri="{BB962C8B-B14F-4D97-AF65-F5344CB8AC3E}">
        <p14:creationId xmlns:p14="http://schemas.microsoft.com/office/powerpoint/2010/main" val="18368479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65">
            <a:extLst xmlns:a="http://schemas.openxmlformats.org/drawingml/2006/main">
              <a:ext uri="{FF2B5EF4-FFF2-40B4-BE49-F238E27FC236}">
                <a16:creationId xmlns:a16="http://schemas.microsoft.com/office/drawing/2014/main" id="{3B228EFA-84BB-4E05-B9C5-6CCC16E2D100}"/>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İlk müşteri segmenti</a:t>
            </a:r>
          </a:p>
        </p:txBody>
      </p:sp>
      <p:sp>
        <p:nvSpPr>
          <p:cNvPr id="2" name="text-66">
            <a:extLst xmlns:a="http://schemas.openxmlformats.org/drawingml/2006/main">
              <a:ext uri="{FF2B5EF4-FFF2-40B4-BE49-F238E27FC236}">
                <a16:creationId xmlns:a16="http://schemas.microsoft.com/office/drawing/2014/main" id="{218E0809-1334-46D1-8825-E0790C19578F}"/>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Önerilen başlangıç: giyim ve aksesuar alanındaki küçük markalar</a:t>
            </a:r>
          </a:p>
        </p:txBody>
      </p:sp>
      <p:sp>
        <p:nvSpPr>
          <p:cNvPr id="3" name="text-67">
            <a:extLst xmlns:a="http://schemas.openxmlformats.org/drawingml/2006/main">
              <a:ext uri="{FF2B5EF4-FFF2-40B4-BE49-F238E27FC236}">
                <a16:creationId xmlns:a16="http://schemas.microsoft.com/office/drawing/2014/main" id="{CBB62F57-0F6E-4448-B1F3-591F492AB2FD}"/>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68">
            <a:extLst xmlns:a="http://schemas.openxmlformats.org/drawingml/2006/main">
              <a:ext uri="{FF2B5EF4-FFF2-40B4-BE49-F238E27FC236}">
                <a16:creationId xmlns:a16="http://schemas.microsoft.com/office/drawing/2014/main" id="{E6B3980E-478E-4C33-8B68-36C5598BCE15}"/>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07</a:t>
            </a:r>
          </a:p>
        </p:txBody>
      </p:sp>
      <p:sp>
        <p:nvSpPr>
          <p:cNvPr id="5" name="text-69">
            <a:extLst xmlns:a="http://schemas.openxmlformats.org/drawingml/2006/main">
              <a:ext uri="{FF2B5EF4-FFF2-40B4-BE49-F238E27FC236}">
                <a16:creationId xmlns:a16="http://schemas.microsoft.com/office/drawing/2014/main" id="{B87B298F-4EEC-4873-8A5A-2C7EE4A096E8}"/>
              </a:ext>
            </a:extLst>
          </p:cNvPr>
          <p:cNvSpPr>
            <a:spLocks xmlns:a="http://schemas.openxmlformats.org/drawingml/2006/main" noGrp="1"/>
          </p:cNvSpPr>
          <p:nvPr/>
        </p:nvSpPr>
        <p:spPr>
          <a:xfrm xmlns:a="http://schemas.openxmlformats.org/drawingml/2006/main">
            <a:off x="704850" y="2447925"/>
            <a:ext cx="61912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Zaten satış yapan</a:t>
            </a:r>
          </a:p>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bağımsız marka</a:t>
            </a:r>
          </a:p>
        </p:txBody>
      </p:sp>
      <p:sp>
        <p:nvSpPr>
          <p:cNvPr id="6" name="text-70">
            <a:extLst xmlns:a="http://schemas.openxmlformats.org/drawingml/2006/main">
              <a:ext uri="{FF2B5EF4-FFF2-40B4-BE49-F238E27FC236}">
                <a16:creationId xmlns:a16="http://schemas.microsoft.com/office/drawing/2014/main" id="{099407D2-D695-4075-BB89-670B7A70D7EF}"/>
              </a:ext>
            </a:extLst>
          </p:cNvPr>
          <p:cNvSpPr>
            <a:spLocks xmlns:a="http://schemas.openxmlformats.org/drawingml/2006/main" noGrp="1"/>
          </p:cNvSpPr>
          <p:nvPr/>
        </p:nvSpPr>
        <p:spPr>
          <a:xfrm xmlns:a="http://schemas.openxmlformats.org/drawingml/2006/main">
            <a:off x="752475" y="4152900"/>
            <a:ext cx="6572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96A82"/>
                </a:solidFill>
                <a:latin typeface="Arial"/>
                <a:ea typeface="Arial"/>
                <a:cs typeface="Arial"/>
              </a:defRPr>
            </a:defPPr>
          </a:lstStyle>
          <a:p xmlns:a="http://schemas.openxmlformats.org/drawingml/2006/main">
            <a:pPr algn="l">
              <a:defRPr sz="1950" b="0">
                <a:solidFill>
                  <a:srgbClr val="596A82"/>
                </a:solidFill>
                <a:latin typeface="Arial"/>
                <a:ea typeface="Arial"/>
                <a:cs typeface="Arial"/>
              </a:defRPr>
            </a:pPr>
            <a:r>
              <a:rPr sz="1950" b="0">
                <a:solidFill>
                  <a:srgbClr val="596A82"/>
                </a:solidFill>
                <a:latin typeface="Arial"/>
                <a:ea typeface="Arial"/>
                <a:cs typeface="Arial"/>
              </a:rPr>
              <a:t>Kendi vitrini olan veya sosyal kanaldan satış yapan,</a:t>
            </a:r>
          </a:p>
          <a:p xmlns:a="http://schemas.openxmlformats.org/drawingml/2006/main">
            <a:pPr algn="l">
              <a:defRPr sz="1950" b="0">
                <a:solidFill>
                  <a:srgbClr val="596A82"/>
                </a:solidFill>
                <a:latin typeface="Arial"/>
                <a:ea typeface="Arial"/>
                <a:cs typeface="Arial"/>
              </a:defRPr>
            </a:pPr>
            <a:r>
              <a:rPr sz="1950" b="0">
                <a:solidFill>
                  <a:srgbClr val="596A82"/>
                </a:solidFill>
                <a:latin typeface="Arial"/>
                <a:ea typeface="Arial"/>
                <a:cs typeface="Arial"/>
              </a:rPr>
              <a:t>katalog ve iş birliği takibini tek yerde isteyen işletme</a:t>
            </a:r>
          </a:p>
        </p:txBody>
      </p:sp>
      <p:sp>
        <p:nvSpPr>
          <p:cNvPr id="7" name="text-71">
            <a:extLst xmlns:a="http://schemas.openxmlformats.org/drawingml/2006/main">
              <a:ext uri="{FF2B5EF4-FFF2-40B4-BE49-F238E27FC236}">
                <a16:creationId xmlns:a16="http://schemas.microsoft.com/office/drawing/2014/main" id="{91FC62A5-C495-466F-A238-1E121E7452BC}"/>
              </a:ext>
            </a:extLst>
          </p:cNvPr>
          <p:cNvSpPr>
            <a:spLocks xmlns:a="http://schemas.openxmlformats.org/drawingml/2006/main" noGrp="1"/>
          </p:cNvSpPr>
          <p:nvPr/>
        </p:nvSpPr>
        <p:spPr>
          <a:xfrm xmlns:a="http://schemas.openxmlformats.org/drawingml/2006/main">
            <a:off x="752475" y="5467350"/>
            <a:ext cx="952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75FF7"/>
                </a:solidFill>
                <a:latin typeface="Arial"/>
                <a:ea typeface="Arial"/>
                <a:cs typeface="Arial"/>
              </a:defRPr>
            </a:defPPr>
          </a:lstStyle>
          <a:p xmlns:a="http://schemas.openxmlformats.org/drawingml/2006/main">
            <a:pPr algn="l">
              <a:defRPr sz="1875" b="1">
                <a:solidFill>
                  <a:srgbClr val="075FF7"/>
                </a:solidFill>
                <a:latin typeface="Arial"/>
                <a:ea typeface="Arial"/>
                <a:cs typeface="Arial"/>
              </a:defRPr>
            </a:pPr>
            <a:r>
              <a:rPr sz="1875" b="1">
                <a:solidFill>
                  <a:srgbClr val="075FF7"/>
                </a:solidFill>
                <a:latin typeface="Arial"/>
                <a:ea typeface="Arial"/>
                <a:cs typeface="Arial"/>
              </a:rPr>
              <a:t>Pilot seçim ölçütü: düzenli ürün akışı ve ölçülebilir satış süreci</a:t>
            </a:r>
          </a:p>
        </p:txBody>
      </p:sp>
      <p:pic>
        <p:nvPicPr>
          <p:cNvPr id="8" name="">
            <a:extLst xmlns:a="http://schemas.openxmlformats.org/drawingml/2006/main">
              <a:ext uri="{FF2B5EF4-FFF2-40B4-BE49-F238E27FC236}">
                <a16:creationId xmlns:a16="http://schemas.microsoft.com/office/drawing/2014/main" id="{538193C8-2849-4E25-978B-3299F698E77B}"/>
              </a:ext>
            </a:extLst>
          </p:cNvPr>
          <p:cNvPicPr>
            <a:picLocks xmlns:a="http://schemas.openxmlformats.org/drawingml/2006/main" noChangeAspect="1"/>
          </p:cNvPicPr>
          <p:nvPr/>
        </p:nvPicPr>
        <p:blipFill>
          <a:blip xmlns:r="http://schemas.openxmlformats.org/officeDocument/2006/relationships" xmlns:a="http://schemas.openxmlformats.org/drawingml/2006/main" r:embed="Rea67c1ba42114118"/>
          <a:srcRect xmlns:a="http://schemas.openxmlformats.org/drawingml/2006/main" l="17415" t="0" r="17415" b="0"/>
          <a:stretch xmlns:a="http://schemas.openxmlformats.org/drawingml/2006/main">
            <a:fillRect l="0" t="0" r="0" b="0"/>
          </a:stretch>
        </p:blipFill>
        <p:spPr>
          <a:xfrm xmlns:a="http://schemas.openxmlformats.org/drawingml/2006/main">
            <a:off x="8134350" y="2343150"/>
            <a:ext cx="3371850" cy="2819400"/>
          </a:xfrm>
          <a:prstGeom xmlns:a="http://schemas.openxmlformats.org/drawingml/2006/main" prst="rect">
            <a:avLst/>
          </a:prstGeom>
        </p:spPr>
      </p:pic>
    </p:spTree>
    <p:extLst>
      <p:ext uri="{BB962C8B-B14F-4D97-AF65-F5344CB8AC3E}">
        <p14:creationId xmlns:p14="http://schemas.microsoft.com/office/powerpoint/2010/main" val="9364021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72">
            <a:extLst xmlns:a="http://schemas.openxmlformats.org/drawingml/2006/main">
              <a:ext uri="{FF2B5EF4-FFF2-40B4-BE49-F238E27FC236}">
                <a16:creationId xmlns:a16="http://schemas.microsoft.com/office/drawing/2014/main" id="{6DF614E3-4D64-4B93-BB9A-ECFBD8431FAB}"/>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Rekabet ve konumlandırma</a:t>
            </a:r>
          </a:p>
        </p:txBody>
      </p:sp>
      <p:sp>
        <p:nvSpPr>
          <p:cNvPr id="2" name="text-73">
            <a:extLst xmlns:a="http://schemas.openxmlformats.org/drawingml/2006/main">
              <a:ext uri="{FF2B5EF4-FFF2-40B4-BE49-F238E27FC236}">
                <a16:creationId xmlns:a16="http://schemas.microsoft.com/office/drawing/2014/main" id="{5606C91D-843D-4805-8E3A-3698FA24899A}"/>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Benzer özellikler pazarda var. Farkı kullanım ve sonuç üzerinden kanıtlayacağız.</a:t>
            </a:r>
          </a:p>
        </p:txBody>
      </p:sp>
      <p:sp>
        <p:nvSpPr>
          <p:cNvPr id="3" name="text-74">
            <a:extLst xmlns:a="http://schemas.openxmlformats.org/drawingml/2006/main">
              <a:ext uri="{FF2B5EF4-FFF2-40B4-BE49-F238E27FC236}">
                <a16:creationId xmlns:a16="http://schemas.microsoft.com/office/drawing/2014/main" id="{4A188E2B-6779-413E-B2EF-9B083EFD4A31}"/>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75">
            <a:extLst xmlns:a="http://schemas.openxmlformats.org/drawingml/2006/main">
              <a:ext uri="{FF2B5EF4-FFF2-40B4-BE49-F238E27FC236}">
                <a16:creationId xmlns:a16="http://schemas.microsoft.com/office/drawing/2014/main" id="{C10646A8-750F-4EFC-9F61-93CC1EED43DB}"/>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08</a:t>
            </a:r>
          </a:p>
        </p:txBody>
      </p:sp>
      <p:sp>
        <p:nvSpPr>
          <p:cNvPr id="5" name="text-76">
            <a:extLst xmlns:a="http://schemas.openxmlformats.org/drawingml/2006/main">
              <a:ext uri="{FF2B5EF4-FFF2-40B4-BE49-F238E27FC236}">
                <a16:creationId xmlns:a16="http://schemas.microsoft.com/office/drawing/2014/main" id="{BCF1D8F6-B722-4790-826A-D92E8117CCF8}"/>
              </a:ext>
            </a:extLst>
          </p:cNvPr>
          <p:cNvSpPr>
            <a:spLocks xmlns:a="http://schemas.openxmlformats.org/drawingml/2006/main" noGrp="1"/>
          </p:cNvSpPr>
          <p:nvPr/>
        </p:nvSpPr>
        <p:spPr>
          <a:xfrm xmlns:a="http://schemas.openxmlformats.org/drawingml/2006/main">
            <a:off x="704850" y="60674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96A82"/>
                </a:solidFill>
                <a:latin typeface="Arial"/>
                <a:ea typeface="Arial"/>
                <a:cs typeface="Arial"/>
              </a:defRPr>
            </a:defPPr>
          </a:lstStyle>
          <a:p xmlns:a="http://schemas.openxmlformats.org/drawingml/2006/main">
            <a:pPr algn="l">
              <a:defRPr sz="1200" b="0">
                <a:solidFill>
                  <a:srgbClr val="596A82"/>
                </a:solidFill>
                <a:latin typeface="Arial"/>
                <a:ea typeface="Arial"/>
                <a:cs typeface="Arial"/>
              </a:defRPr>
            </a:pPr>
            <a:r>
              <a:rPr sz="1200" b="0">
                <a:solidFill>
                  <a:srgbClr val="596A82"/>
                </a:solidFill>
                <a:latin typeface="Arial"/>
                <a:ea typeface="Arial"/>
                <a:cs typeface="Arial"/>
              </a:rPr>
              <a:t>Rakip kapsamı: resmi Shopier, ikas ve Shopify ürün sayfaları, Ekim 2026</a:t>
            </a:r>
          </a:p>
        </p:txBody>
      </p:sp>
      <p:graphicFrame>
        <p:nvGraphicFramePr>
          <p:cNvPr id="6" name="">
            <a:extLst xmlns:a="http://schemas.openxmlformats.org/drawingml/2006/main">
              <a:ext uri="{FF2B5EF4-FFF2-40B4-BE49-F238E27FC236}">
                <a16:creationId xmlns:a16="http://schemas.microsoft.com/office/drawing/2014/main" id="{01800588-D9E2-4338-85C3-B4B376B9A1C8}"/>
              </a:ext>
            </a:extLst>
          </p:cNvPr>
          <p:cNvGraphicFramePr/>
          <p:nvPr/>
        </p:nvGraphicFramePr>
        <p:xfrm>
          <a:off xmlns:a="http://schemas.openxmlformats.org/drawingml/2006/main" x="685800" y="2257425"/>
          <a:ext xmlns:a="http://schemas.openxmlformats.org/drawingml/2006/main" cx="10820400" cy="3390900"/>
        </p:xfrm>
        <a:graphic xmlns:a="http://schemas.openxmlformats.org/drawingml/2006/main">
          <a:graphicData uri="http://schemas.openxmlformats.org/drawingml/2006/table">
            <a:tbl>
              <a:tblPr firstRow="0" bandRow="0"/>
              <a:tblGrid>
                <a:gridCol w="1762125"/>
                <a:gridCol w="4324350"/>
                <a:gridCol w="4733925"/>
              </a:tblGrid>
              <a:tr h="678180">
                <a:tc>
                  <a:txBody>
                    <a:bodyPr/>
                    <a:lstStyle/>
                    <a:p>
                      <a:r>
                        <a:rPr sz="1725" b="1">
                          <a:solidFill>
                            <a:srgbClr val="FFFFFF"/>
                          </a:solidFill>
                          <a:latin typeface="Arial"/>
                          <a:ea typeface="Arial"/>
                          <a:cs typeface="Arial"/>
                        </a:rPr>
                        <a:t>Alternatif</a:t>
                      </a:r>
                    </a:p>
                  </a:txBody>
                  <a:tcPr marL="133350" marR="133350" marT="133350" marB="95250" anchor="ctr">
                    <a:lnL w="5715">
                      <a:solidFill>
                        <a:srgbClr val="DCE5F0"/>
                      </a:solidFill>
                      <a:prstDash val="solid"/>
                    </a:lnL>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c>
                  <a:txBody>
                    <a:bodyPr/>
                    <a:lstStyle/>
                    <a:p>
                      <a:r>
                        <a:rPr sz="1725" b="1">
                          <a:solidFill>
                            <a:srgbClr val="FFFFFF"/>
                          </a:solidFill>
                          <a:latin typeface="Arial"/>
                          <a:ea typeface="Arial"/>
                          <a:cs typeface="Arial"/>
                        </a:rPr>
                        <a:t>Mevcut ürün odağı</a:t>
                      </a:r>
                    </a:p>
                  </a:txBody>
                  <a:tcPr marL="133350" marR="133350" marT="133350" marB="95250" anchor="ctr">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c>
                  <a:txBody>
                    <a:bodyPr/>
                    <a:lstStyle/>
                    <a:p>
                      <a:r>
                        <a:rPr sz="1725" b="1">
                          <a:solidFill>
                            <a:srgbClr val="FFFFFF"/>
                          </a:solidFill>
                          <a:latin typeface="Arial"/>
                          <a:ea typeface="Arial"/>
                          <a:cs typeface="Arial"/>
                        </a:rPr>
                        <a:t>Alceix için karşılığı</a:t>
                      </a:r>
                    </a:p>
                  </a:txBody>
                  <a:tcPr marL="133350" marR="133350" marT="133350" marB="95250" anchor="ctr">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r>
              <a:tr h="678180">
                <a:tc>
                  <a:txBody>
                    <a:bodyPr/>
                    <a:lstStyle/>
                    <a:p>
                      <a:r>
                        <a:rPr sz="1725" b="0">
                          <a:solidFill>
                            <a:srgbClr val="081B3A"/>
                          </a:solidFill>
                          <a:latin typeface="Arial"/>
                          <a:ea typeface="Arial"/>
                          <a:cs typeface="Arial"/>
                        </a:rPr>
                        <a:t>Shopier</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FFFFF"/>
                    </a:solidFill>
                  </a:tcPr>
                </a:tc>
                <a:tc>
                  <a:txBody>
                    <a:bodyPr/>
                    <a:lstStyle/>
                    <a:p>
                      <a:r>
                        <a:rPr sz="1725" b="0">
                          <a:solidFill>
                            <a:srgbClr val="081B3A"/>
                          </a:solidFill>
                          <a:latin typeface="Arial"/>
                          <a:ea typeface="Arial"/>
                          <a:cs typeface="Arial"/>
                        </a:rPr>
                        <a:t>Mağaza, ödeme, gönderim</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c>
                  <a:txBody>
                    <a:bodyPr/>
                    <a:lstStyle/>
                    <a:p>
                      <a:r>
                        <a:rPr sz="1725" b="0">
                          <a:solidFill>
                            <a:srgbClr val="081B3A"/>
                          </a:solidFill>
                          <a:latin typeface="Arial"/>
                          <a:ea typeface="Arial"/>
                          <a:cs typeface="Arial"/>
                        </a:rPr>
                        <a:t>Kolay başlangıç beklentisi</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r>
              <a:tr h="678180">
                <a:tc>
                  <a:txBody>
                    <a:bodyPr/>
                    <a:lstStyle/>
                    <a:p>
                      <a:r>
                        <a:rPr sz="1725" b="0">
                          <a:solidFill>
                            <a:srgbClr val="081B3A"/>
                          </a:solidFill>
                          <a:latin typeface="Arial"/>
                          <a:ea typeface="Arial"/>
                          <a:cs typeface="Arial"/>
                        </a:rPr>
                        <a:t>ikas</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5F8FC"/>
                    </a:solidFill>
                  </a:tcPr>
                </a:tc>
                <a:tc>
                  <a:txBody>
                    <a:bodyPr/>
                    <a:lstStyle/>
                    <a:p>
                      <a:r>
                        <a:rPr sz="1725" b="0">
                          <a:solidFill>
                            <a:srgbClr val="081B3A"/>
                          </a:solidFill>
                          <a:latin typeface="Arial"/>
                          <a:ea typeface="Arial"/>
                          <a:cs typeface="Arial"/>
                        </a:rPr>
                        <a:t>E-ticaret ve entegrasyonlar</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c>
                  <a:txBody>
                    <a:bodyPr/>
                    <a:lstStyle/>
                    <a:p>
                      <a:r>
                        <a:rPr sz="1725" b="0">
                          <a:solidFill>
                            <a:srgbClr val="081B3A"/>
                          </a:solidFill>
                          <a:latin typeface="Arial"/>
                          <a:ea typeface="Arial"/>
                          <a:cs typeface="Arial"/>
                        </a:rPr>
                        <a:t>Güçlü operasyon beklentisi</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r>
              <a:tr h="678180">
                <a:tc>
                  <a:txBody>
                    <a:bodyPr/>
                    <a:lstStyle/>
                    <a:p>
                      <a:r>
                        <a:rPr sz="1725" b="0">
                          <a:solidFill>
                            <a:srgbClr val="081B3A"/>
                          </a:solidFill>
                          <a:latin typeface="Arial"/>
                          <a:ea typeface="Arial"/>
                          <a:cs typeface="Arial"/>
                        </a:rPr>
                        <a:t>Shopify</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FFFFF"/>
                    </a:solidFill>
                  </a:tcPr>
                </a:tc>
                <a:tc>
                  <a:txBody>
                    <a:bodyPr/>
                    <a:lstStyle/>
                    <a:p>
                      <a:r>
                        <a:rPr sz="1725" b="0">
                          <a:solidFill>
                            <a:srgbClr val="081B3A"/>
                          </a:solidFill>
                          <a:latin typeface="Arial"/>
                          <a:ea typeface="Arial"/>
                          <a:cs typeface="Arial"/>
                        </a:rPr>
                        <a:t>Collective ve Collabs ekosistemi</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c>
                  <a:txBody>
                    <a:bodyPr/>
                    <a:lstStyle/>
                    <a:p>
                      <a:r>
                        <a:rPr sz="1725" b="0">
                          <a:solidFill>
                            <a:srgbClr val="081B3A"/>
                          </a:solidFill>
                          <a:latin typeface="Arial"/>
                          <a:ea typeface="Arial"/>
                          <a:cs typeface="Arial"/>
                        </a:rPr>
                        <a:t>Tedarik ve creator iş birliği örneği</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r>
              <a:tr h="678180">
                <a:tc>
                  <a:txBody>
                    <a:bodyPr/>
                    <a:lstStyle/>
                    <a:p>
                      <a:r>
                        <a:rPr sz="1725" b="0">
                          <a:solidFill>
                            <a:srgbClr val="081B3A"/>
                          </a:solidFill>
                          <a:latin typeface="Arial"/>
                          <a:ea typeface="Arial"/>
                          <a:cs typeface="Arial"/>
                        </a:rPr>
                        <a:t>Alceix</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5F8FC"/>
                    </a:solidFill>
                  </a:tcPr>
                </a:tc>
                <a:tc>
                  <a:txBody>
                    <a:bodyPr/>
                    <a:lstStyle/>
                    <a:p>
                      <a:r>
                        <a:rPr sz="1725" b="0">
                          <a:solidFill>
                            <a:srgbClr val="081B3A"/>
                          </a:solidFill>
                          <a:latin typeface="Arial"/>
                          <a:ea typeface="Arial"/>
                          <a:cs typeface="Arial"/>
                        </a:rPr>
                        <a:t>Türkiye odaklı bağlantılı iş akışı</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c>
                  <a:txBody>
                    <a:bodyPr/>
                    <a:lstStyle/>
                    <a:p>
                      <a:r>
                        <a:rPr sz="1725" b="0">
                          <a:solidFill>
                            <a:srgbClr val="081B3A"/>
                          </a:solidFill>
                          <a:latin typeface="Arial"/>
                          <a:ea typeface="Arial"/>
                          <a:cs typeface="Arial"/>
                        </a:rPr>
                        <a:t>Pilotla kanıtlanacak kullanım farkı</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r>
            </a:tbl>
          </a:graphicData>
        </a:graphic>
      </p:graphicFrame>
    </p:spTree>
    <p:extLst>
      <p:ext uri="{BB962C8B-B14F-4D97-AF65-F5344CB8AC3E}">
        <p14:creationId xmlns:p14="http://schemas.microsoft.com/office/powerpoint/2010/main" val="555804662"/>
      </p:ext>
    </p:extLst>
  </p:cSld>
</p:sld>
</file>

<file path=ppt/slides/slide9.xml><?xml version="1.0" encoding="utf-8"?>
<p:sld xmlns:p="http://schemas.openxmlformats.org/presentationml/2006/main">
  <p:cSld>
    <p:bg>
      <p:bgPr>
        <a:solidFill xmlns:a="http://schemas.openxmlformats.org/drawingml/2006/main">
          <a:srgbClr val="081B3A"/>
        </a:solidFill>
      </p:bgPr>
    </p:bg>
    <p:spTree>
      <p:nvGrpSpPr>
        <p:cNvPr id="1" name=""/>
        <p:cNvGrpSpPr/>
        <p:nvPr/>
      </p:nvGrpSpPr>
      <p:grpSpPr>
        <a:xfrm xmlns:a="http://schemas.openxmlformats.org/drawingml/2006/main"/>
      </p:grpSpPr>
      <p:sp>
        <p:nvSpPr>
          <p:cNvPr id="12" name="text-77">
            <a:extLst xmlns:a="http://schemas.openxmlformats.org/drawingml/2006/main">
              <a:ext uri="{FF2B5EF4-FFF2-40B4-BE49-F238E27FC236}">
                <a16:creationId xmlns:a16="http://schemas.microsoft.com/office/drawing/2014/main" id="{CAF8C379-FE16-4E57-9878-9B8C6D11555D}"/>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Gelir modeli</a:t>
            </a:r>
          </a:p>
        </p:txBody>
      </p:sp>
      <p:sp>
        <p:nvSpPr>
          <p:cNvPr id="2" name="text-78">
            <a:extLst xmlns:a="http://schemas.openxmlformats.org/drawingml/2006/main">
              <a:ext uri="{FF2B5EF4-FFF2-40B4-BE49-F238E27FC236}">
                <a16:creationId xmlns:a16="http://schemas.microsoft.com/office/drawing/2014/main" id="{FB6B6CD1-125B-43C8-A04C-AA9D15F665F0}"/>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AE1"/>
                </a:solidFill>
                <a:latin typeface="Arial"/>
                <a:ea typeface="Arial"/>
                <a:cs typeface="Arial"/>
              </a:defRPr>
            </a:defPPr>
          </a:lstStyle>
          <a:p xmlns:a="http://schemas.openxmlformats.org/drawingml/2006/main">
            <a:pPr algn="l">
              <a:defRPr sz="1800" b="0">
                <a:solidFill>
                  <a:srgbClr val="BDCAE1"/>
                </a:solidFill>
                <a:latin typeface="Arial"/>
                <a:ea typeface="Arial"/>
                <a:cs typeface="Arial"/>
              </a:defRPr>
            </a:pPr>
            <a:r>
              <a:rPr sz="1800" b="0">
                <a:solidFill>
                  <a:srgbClr val="BDCAE1"/>
                </a:solidFill>
                <a:latin typeface="Arial"/>
                <a:ea typeface="Arial"/>
                <a:cs typeface="Arial"/>
              </a:rPr>
              <a:t>Önerilen fiyatlama, ücretli pilotta test edilecek</a:t>
            </a:r>
          </a:p>
        </p:txBody>
      </p:sp>
      <p:sp>
        <p:nvSpPr>
          <p:cNvPr id="3" name="text-79">
            <a:extLst xmlns:a="http://schemas.openxmlformats.org/drawingml/2006/main">
              <a:ext uri="{FF2B5EF4-FFF2-40B4-BE49-F238E27FC236}">
                <a16:creationId xmlns:a16="http://schemas.microsoft.com/office/drawing/2014/main" id="{BA5BD36E-9C9E-488C-82EF-4958DABD9F42}"/>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BDCAE1"/>
                </a:solidFill>
                <a:latin typeface="Arial"/>
                <a:ea typeface="Arial"/>
                <a:cs typeface="Arial"/>
              </a:defRPr>
            </a:defPPr>
          </a:lstStyle>
          <a:p xmlns:a="http://schemas.openxmlformats.org/drawingml/2006/main">
            <a:pPr algn="l">
              <a:defRPr sz="1125" b="1">
                <a:solidFill>
                  <a:srgbClr val="BDCAE1"/>
                </a:solidFill>
                <a:latin typeface="Arial"/>
                <a:ea typeface="Arial"/>
                <a:cs typeface="Arial"/>
              </a:defRPr>
            </a:pPr>
            <a:r>
              <a:rPr sz="1125" b="1">
                <a:solidFill>
                  <a:srgbClr val="BDCAE1"/>
                </a:solidFill>
                <a:latin typeface="Arial"/>
                <a:ea typeface="Arial"/>
                <a:cs typeface="Arial"/>
              </a:rPr>
              <a:t>ALCEIX</a:t>
            </a:r>
          </a:p>
        </p:txBody>
      </p:sp>
      <p:sp>
        <p:nvSpPr>
          <p:cNvPr id="4" name="text-80">
            <a:extLst xmlns:a="http://schemas.openxmlformats.org/drawingml/2006/main">
              <a:ext uri="{FF2B5EF4-FFF2-40B4-BE49-F238E27FC236}">
                <a16:creationId xmlns:a16="http://schemas.microsoft.com/office/drawing/2014/main" id="{CA519F55-18F3-44B7-9D19-8756D0DDE2B9}"/>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AE1"/>
                </a:solidFill>
                <a:latin typeface="Arial"/>
                <a:ea typeface="Arial"/>
                <a:cs typeface="Arial"/>
              </a:defRPr>
            </a:defPPr>
          </a:lstStyle>
          <a:p xmlns:a="http://schemas.openxmlformats.org/drawingml/2006/main">
            <a:pPr algn="r">
              <a:defRPr sz="1125" b="0">
                <a:solidFill>
                  <a:srgbClr val="BDCAE1"/>
                </a:solidFill>
                <a:latin typeface="Arial"/>
                <a:ea typeface="Arial"/>
                <a:cs typeface="Arial"/>
              </a:defRPr>
            </a:pPr>
            <a:r>
              <a:rPr sz="1125" b="0">
                <a:solidFill>
                  <a:srgbClr val="BDCAE1"/>
                </a:solidFill>
                <a:latin typeface="Arial"/>
                <a:ea typeface="Arial"/>
                <a:cs typeface="Arial"/>
              </a:rPr>
              <a:t>09</a:t>
            </a:r>
          </a:p>
        </p:txBody>
      </p:sp>
      <p:sp>
        <p:nvSpPr>
          <p:cNvPr id="5" name="text-81">
            <a:extLst xmlns:a="http://schemas.openxmlformats.org/drawingml/2006/main">
              <a:ext uri="{FF2B5EF4-FFF2-40B4-BE49-F238E27FC236}">
                <a16:creationId xmlns:a16="http://schemas.microsoft.com/office/drawing/2014/main" id="{E1F143B2-4556-4B10-B594-5CC939AB2B0E}"/>
              </a:ext>
            </a:extLst>
          </p:cNvPr>
          <p:cNvSpPr>
            <a:spLocks xmlns:a="http://schemas.openxmlformats.org/drawingml/2006/main" noGrp="1"/>
          </p:cNvSpPr>
          <p:nvPr/>
        </p:nvSpPr>
        <p:spPr>
          <a:xfrm xmlns:a="http://schemas.openxmlformats.org/drawingml/2006/main">
            <a:off x="723900" y="2447925"/>
            <a:ext cx="4095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19C5D8"/>
                </a:solidFill>
                <a:latin typeface="Arial"/>
                <a:ea typeface="Arial"/>
                <a:cs typeface="Arial"/>
              </a:defRPr>
            </a:defPPr>
          </a:lstStyle>
          <a:p xmlns:a="http://schemas.openxmlformats.org/drawingml/2006/main">
            <a:pPr algn="l">
              <a:defRPr sz="6000" b="1">
                <a:solidFill>
                  <a:srgbClr val="19C5D8"/>
                </a:solidFill>
                <a:latin typeface="Arial"/>
                <a:ea typeface="Arial"/>
                <a:cs typeface="Arial"/>
              </a:defRPr>
            </a:pPr>
            <a:r>
              <a:rPr sz="6000" b="1">
                <a:solidFill>
                  <a:srgbClr val="19C5D8"/>
                </a:solidFill>
                <a:latin typeface="Arial"/>
                <a:ea typeface="Arial"/>
                <a:cs typeface="Arial"/>
              </a:rPr>
              <a:t>%1,5</a:t>
            </a:r>
          </a:p>
        </p:txBody>
      </p:sp>
      <p:sp>
        <p:nvSpPr>
          <p:cNvPr id="6" name="text-82">
            <a:extLst xmlns:a="http://schemas.openxmlformats.org/drawingml/2006/main">
              <a:ext uri="{FF2B5EF4-FFF2-40B4-BE49-F238E27FC236}">
                <a16:creationId xmlns:a16="http://schemas.microsoft.com/office/drawing/2014/main" id="{C538CE59-1E47-41EE-B85F-A3470A908BE0}"/>
              </a:ext>
            </a:extLst>
          </p:cNvPr>
          <p:cNvSpPr>
            <a:spLocks xmlns:a="http://schemas.openxmlformats.org/drawingml/2006/main" noGrp="1"/>
          </p:cNvSpPr>
          <p:nvPr/>
        </p:nvSpPr>
        <p:spPr>
          <a:xfrm xmlns:a="http://schemas.openxmlformats.org/drawingml/2006/main">
            <a:off x="762000" y="354330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Arial"/>
                <a:ea typeface="Arial"/>
                <a:cs typeface="Arial"/>
              </a:defRPr>
            </a:defPPr>
          </a:lstStyle>
          <a:p xmlns:a="http://schemas.openxmlformats.org/drawingml/2006/main">
            <a:pPr algn="l">
              <a:defRPr sz="2475" b="1">
                <a:solidFill>
                  <a:srgbClr val="FFFFFF"/>
                </a:solidFill>
                <a:latin typeface="Arial"/>
                <a:ea typeface="Arial"/>
                <a:cs typeface="Arial"/>
              </a:defRPr>
            </a:pPr>
            <a:r>
              <a:rPr sz="2475" b="1">
                <a:solidFill>
                  <a:srgbClr val="FFFFFF"/>
                </a:solidFill>
                <a:latin typeface="Arial"/>
                <a:ea typeface="Arial"/>
                <a:cs typeface="Arial"/>
              </a:rPr>
              <a:t>Alceix işlem servis ücreti</a:t>
            </a:r>
          </a:p>
        </p:txBody>
      </p:sp>
      <p:sp>
        <p:nvSpPr>
          <p:cNvPr id="7" name="text-83">
            <a:extLst xmlns:a="http://schemas.openxmlformats.org/drawingml/2006/main">
              <a:ext uri="{FF2B5EF4-FFF2-40B4-BE49-F238E27FC236}">
                <a16:creationId xmlns:a16="http://schemas.microsoft.com/office/drawing/2014/main" id="{F9E97B0A-6AD5-4550-9F01-3E23F627093D}"/>
              </a:ext>
            </a:extLst>
          </p:cNvPr>
          <p:cNvSpPr>
            <a:spLocks xmlns:a="http://schemas.openxmlformats.org/drawingml/2006/main" noGrp="1"/>
          </p:cNvSpPr>
          <p:nvPr/>
        </p:nvSpPr>
        <p:spPr>
          <a:xfrm xmlns:a="http://schemas.openxmlformats.org/drawingml/2006/main">
            <a:off x="781050" y="4286250"/>
            <a:ext cx="6191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BDCAE1"/>
                </a:solidFill>
                <a:latin typeface="Arial"/>
                <a:ea typeface="Arial"/>
                <a:cs typeface="Arial"/>
              </a:defRPr>
            </a:defPPr>
          </a:lstStyle>
          <a:p xmlns:a="http://schemas.openxmlformats.org/drawingml/2006/main">
            <a:pPr algn="l">
              <a:defRPr sz="2100" b="0">
                <a:solidFill>
                  <a:srgbClr val="BDCAE1"/>
                </a:solidFill>
                <a:latin typeface="Arial"/>
                <a:ea typeface="Arial"/>
                <a:cs typeface="Arial"/>
              </a:defRPr>
            </a:pPr>
            <a:r>
              <a:rPr sz="2100" b="0">
                <a:solidFill>
                  <a:srgbClr val="BDCAE1"/>
                </a:solidFill>
                <a:latin typeface="Arial"/>
                <a:ea typeface="Arial"/>
                <a:cs typeface="Arial"/>
              </a:rPr>
              <a:t>İade sonrası uygun hacimden.</a:t>
            </a:r>
          </a:p>
          <a:p xmlns:a="http://schemas.openxmlformats.org/drawingml/2006/main">
            <a:pPr algn="l">
              <a:defRPr sz="2100" b="0">
                <a:solidFill>
                  <a:srgbClr val="BDCAE1"/>
                </a:solidFill>
                <a:latin typeface="Arial"/>
                <a:ea typeface="Arial"/>
                <a:cs typeface="Arial"/>
              </a:defRPr>
            </a:pPr>
            <a:r>
              <a:rPr sz="2100" b="0">
                <a:solidFill>
                  <a:srgbClr val="BDCAE1"/>
                </a:solidFill>
                <a:latin typeface="Arial"/>
                <a:ea typeface="Arial"/>
                <a:cs typeface="Arial"/>
              </a:rPr>
              <a:t>Ödeme kuruluşu bedeli ayrı.</a:t>
            </a:r>
          </a:p>
        </p:txBody>
      </p:sp>
      <p:sp>
        <p:nvSpPr>
          <p:cNvPr id="8" name="text-84">
            <a:extLst xmlns:a="http://schemas.openxmlformats.org/drawingml/2006/main">
              <a:ext uri="{FF2B5EF4-FFF2-40B4-BE49-F238E27FC236}">
                <a16:creationId xmlns:a16="http://schemas.microsoft.com/office/drawing/2014/main" id="{E2358486-BC81-4ADD-BD25-4FDF468CEF2F}"/>
              </a:ext>
            </a:extLst>
          </p:cNvPr>
          <p:cNvSpPr>
            <a:spLocks xmlns:a="http://schemas.openxmlformats.org/drawingml/2006/main" noGrp="1"/>
          </p:cNvSpPr>
          <p:nvPr/>
        </p:nvSpPr>
        <p:spPr>
          <a:xfrm xmlns:a="http://schemas.openxmlformats.org/drawingml/2006/main">
            <a:off x="8048625" y="2695575"/>
            <a:ext cx="3486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500 TL / ay</a:t>
            </a:r>
          </a:p>
        </p:txBody>
      </p:sp>
      <p:sp>
        <p:nvSpPr>
          <p:cNvPr id="9" name="text-85">
            <a:extLst xmlns:a="http://schemas.openxmlformats.org/drawingml/2006/main">
              <a:ext uri="{FF2B5EF4-FFF2-40B4-BE49-F238E27FC236}">
                <a16:creationId xmlns:a16="http://schemas.microsoft.com/office/drawing/2014/main" id="{CB803BE1-A766-48BF-B203-A78EB01E05BC}"/>
              </a:ext>
            </a:extLst>
          </p:cNvPr>
          <p:cNvSpPr>
            <a:spLocks xmlns:a="http://schemas.openxmlformats.org/drawingml/2006/main" noGrp="1"/>
          </p:cNvSpPr>
          <p:nvPr/>
        </p:nvSpPr>
        <p:spPr>
          <a:xfrm xmlns:a="http://schemas.openxmlformats.org/drawingml/2006/main">
            <a:off x="8077200" y="36957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9C5D8"/>
                </a:solidFill>
                <a:latin typeface="Arial"/>
                <a:ea typeface="Arial"/>
                <a:cs typeface="Arial"/>
              </a:defRPr>
            </a:defPPr>
          </a:lstStyle>
          <a:p xmlns:a="http://schemas.openxmlformats.org/drawingml/2006/main">
            <a:pPr algn="l">
              <a:defRPr sz="2175" b="1">
                <a:solidFill>
                  <a:srgbClr val="19C5D8"/>
                </a:solidFill>
                <a:latin typeface="Arial"/>
                <a:ea typeface="Arial"/>
                <a:cs typeface="Arial"/>
              </a:defRPr>
            </a:pPr>
            <a:r>
              <a:rPr sz="2175" b="1">
                <a:solidFill>
                  <a:srgbClr val="19C5D8"/>
                </a:solidFill>
                <a:latin typeface="Arial"/>
                <a:ea typeface="Arial"/>
                <a:cs typeface="Arial"/>
              </a:rPr>
              <a:t>Opsiyonel Pro planı</a:t>
            </a:r>
          </a:p>
        </p:txBody>
      </p:sp>
      <p:sp>
        <p:nvSpPr>
          <p:cNvPr id="10" name="text-86">
            <a:extLst xmlns:a="http://schemas.openxmlformats.org/drawingml/2006/main">
              <a:ext uri="{FF2B5EF4-FFF2-40B4-BE49-F238E27FC236}">
                <a16:creationId xmlns:a16="http://schemas.microsoft.com/office/drawing/2014/main" id="{E0643C94-19DB-4602-8F9F-51A46C0E3D09}"/>
              </a:ext>
            </a:extLst>
          </p:cNvPr>
          <p:cNvSpPr>
            <a:spLocks xmlns:a="http://schemas.openxmlformats.org/drawingml/2006/main" noGrp="1"/>
          </p:cNvSpPr>
          <p:nvPr/>
        </p:nvSpPr>
        <p:spPr>
          <a:xfrm xmlns:a="http://schemas.openxmlformats.org/drawingml/2006/main">
            <a:off x="8096250" y="4600575"/>
            <a:ext cx="33623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BDCAE1"/>
                </a:solidFill>
                <a:latin typeface="Arial"/>
                <a:ea typeface="Arial"/>
                <a:cs typeface="Arial"/>
              </a:defRPr>
            </a:defPPr>
          </a:lstStyle>
          <a:p xmlns:a="http://schemas.openxmlformats.org/drawingml/2006/main">
            <a:pPr algn="l">
              <a:defRPr sz="2025" b="0">
                <a:solidFill>
                  <a:srgbClr val="BDCAE1"/>
                </a:solidFill>
                <a:latin typeface="Arial"/>
                <a:ea typeface="Arial"/>
                <a:cs typeface="Arial"/>
              </a:defRPr>
            </a:pPr>
            <a:r>
              <a:rPr sz="2025" b="0">
                <a:solidFill>
                  <a:srgbClr val="BDCAE1"/>
                </a:solidFill>
                <a:latin typeface="Arial"/>
                <a:ea typeface="Arial"/>
                <a:cs typeface="Arial"/>
              </a:rPr>
              <a:t>AI görsel kredileri</a:t>
            </a:r>
          </a:p>
          <a:p xmlns:a="http://schemas.openxmlformats.org/drawingml/2006/main">
            <a:pPr algn="l">
              <a:defRPr sz="2025" b="0">
                <a:solidFill>
                  <a:srgbClr val="BDCAE1"/>
                </a:solidFill>
                <a:latin typeface="Arial"/>
                <a:ea typeface="Arial"/>
                <a:cs typeface="Arial"/>
              </a:defRPr>
            </a:pPr>
            <a:r>
              <a:rPr sz="2025" b="0">
                <a:solidFill>
                  <a:srgbClr val="BDCAE1"/>
                </a:solidFill>
                <a:latin typeface="Arial"/>
                <a:ea typeface="Arial"/>
                <a:cs typeface="Arial"/>
              </a:rPr>
              <a:t>kullanıma göre ek gelir</a:t>
            </a:r>
          </a:p>
        </p:txBody>
      </p:sp>
      <p:sp>
        <p:nvSpPr>
          <p:cNvPr id="11" name="text-87">
            <a:extLst xmlns:a="http://schemas.openxmlformats.org/drawingml/2006/main">
              <a:ext uri="{FF2B5EF4-FFF2-40B4-BE49-F238E27FC236}">
                <a16:creationId xmlns:a16="http://schemas.microsoft.com/office/drawing/2014/main" id="{5A292260-709B-4F70-AEC5-1C394313766E}"/>
              </a:ext>
            </a:extLst>
          </p:cNvPr>
          <p:cNvSpPr>
            <a:spLocks xmlns:a="http://schemas.openxmlformats.org/drawingml/2006/main" noGrp="1"/>
          </p:cNvSpPr>
          <p:nvPr/>
        </p:nvSpPr>
        <p:spPr>
          <a:xfrm xmlns:a="http://schemas.openxmlformats.org/drawingml/2006/main">
            <a:off x="742950" y="5953125"/>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BDCAE1"/>
                </a:solidFill>
                <a:latin typeface="Arial"/>
                <a:ea typeface="Arial"/>
                <a:cs typeface="Arial"/>
              </a:defRPr>
            </a:defPPr>
          </a:lstStyle>
          <a:p xmlns:a="http://schemas.openxmlformats.org/drawingml/2006/main">
            <a:pPr algn="l">
              <a:defRPr sz="1575" b="0">
                <a:solidFill>
                  <a:srgbClr val="BDCAE1"/>
                </a:solidFill>
                <a:latin typeface="Arial"/>
                <a:ea typeface="Arial"/>
                <a:cs typeface="Arial"/>
              </a:defRPr>
            </a:pPr>
            <a:r>
              <a:rPr sz="1575" b="0">
                <a:solidFill>
                  <a:srgbClr val="BDCAE1"/>
                </a:solidFill>
                <a:latin typeface="Arial"/>
                <a:ea typeface="Arial"/>
                <a:cs typeface="Arial"/>
              </a:rPr>
              <a:t>Varsayım. Mevcut fiyat, gelir veya onaylanmış ticari teklif değildir.</a:t>
            </a:r>
          </a:p>
        </p:txBody>
      </p:sp>
    </p:spTree>
    <p:extLst>
      <p:ext uri="{BB962C8B-B14F-4D97-AF65-F5344CB8AC3E}">
        <p14:creationId xmlns:p14="http://schemas.microsoft.com/office/powerpoint/2010/main" val="18574489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88">
            <a:extLst xmlns:a="http://schemas.openxmlformats.org/drawingml/2006/main">
              <a:ext uri="{FF2B5EF4-FFF2-40B4-BE49-F238E27FC236}">
                <a16:creationId xmlns:a16="http://schemas.microsoft.com/office/drawing/2014/main" id="{338F2325-F658-456F-9A82-0011CB8C15C7}"/>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Pazara giriş planı</a:t>
            </a:r>
          </a:p>
        </p:txBody>
      </p:sp>
      <p:sp>
        <p:nvSpPr>
          <p:cNvPr id="2" name="text-89">
            <a:extLst xmlns:a="http://schemas.openxmlformats.org/drawingml/2006/main">
              <a:ext uri="{FF2B5EF4-FFF2-40B4-BE49-F238E27FC236}">
                <a16:creationId xmlns:a16="http://schemas.microsoft.com/office/drawing/2014/main" id="{7C49ED6F-701D-4FE4-B47B-21E9CBD5CC70}"/>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Tek sektörde, kurucu desteğiyle yürütülecek önerilen pilot</a:t>
            </a:r>
          </a:p>
        </p:txBody>
      </p:sp>
      <p:sp>
        <p:nvSpPr>
          <p:cNvPr id="3" name="text-90">
            <a:extLst xmlns:a="http://schemas.openxmlformats.org/drawingml/2006/main">
              <a:ext uri="{FF2B5EF4-FFF2-40B4-BE49-F238E27FC236}">
                <a16:creationId xmlns:a16="http://schemas.microsoft.com/office/drawing/2014/main" id="{8621A50C-1AD1-48D6-B2C2-CD5EE2699E22}"/>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91">
            <a:extLst xmlns:a="http://schemas.openxmlformats.org/drawingml/2006/main">
              <a:ext uri="{FF2B5EF4-FFF2-40B4-BE49-F238E27FC236}">
                <a16:creationId xmlns:a16="http://schemas.microsoft.com/office/drawing/2014/main" id="{4DABAAF9-009D-4B51-A391-ABC53AEC01AF}"/>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10</a:t>
            </a:r>
          </a:p>
        </p:txBody>
      </p:sp>
      <p:pic>
        <p:nvPicPr>
          <p:cNvPr id="5" name="">
            <a:extLst xmlns:a="http://schemas.openxmlformats.org/drawingml/2006/main">
              <a:ext uri="{FF2B5EF4-FFF2-40B4-BE49-F238E27FC236}">
                <a16:creationId xmlns:a16="http://schemas.microsoft.com/office/drawing/2014/main" id="{332BA214-BADA-4C21-BB09-8DF271BE7C09}"/>
              </a:ext>
            </a:extLst>
          </p:cNvPr>
          <p:cNvPicPr>
            <a:picLocks xmlns:a="http://schemas.openxmlformats.org/drawingml/2006/main" noChangeAspect="1"/>
          </p:cNvPicPr>
          <p:nvPr/>
        </p:nvPicPr>
        <p:blipFill>
          <a:blip xmlns:r="http://schemas.openxmlformats.org/officeDocument/2006/relationships" xmlns:a="http://schemas.openxmlformats.org/drawingml/2006/main" r:embed="R598b488fa5be4f6f"/>
          <a:srcRect xmlns:a="http://schemas.openxmlformats.org/drawingml/2006/main" l="0" t="0" r="0" b="46600"/>
          <a:stretch xmlns:a="http://schemas.openxmlformats.org/drawingml/2006/main"/>
        </p:blipFill>
        <p:spPr>
          <a:xfrm xmlns:a="http://schemas.openxmlformats.org/drawingml/2006/main">
            <a:off x="714375" y="2295525"/>
            <a:ext cx="3352800" cy="17907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323321F-F585-41D8-8D94-832F5C57F8AE}"/>
              </a:ext>
            </a:extLst>
          </p:cNvPr>
          <p:cNvPicPr>
            <a:picLocks xmlns:a="http://schemas.openxmlformats.org/drawingml/2006/main" noChangeAspect="1"/>
          </p:cNvPicPr>
          <p:nvPr/>
        </p:nvPicPr>
        <p:blipFill>
          <a:blip xmlns:r="http://schemas.openxmlformats.org/officeDocument/2006/relationships" xmlns:a="http://schemas.openxmlformats.org/drawingml/2006/main" r:embed="R2e01d5313e22409e"/>
          <a:srcRect xmlns:a="http://schemas.openxmlformats.org/drawingml/2006/main" l="0" t="994" r="0" b="994"/>
          <a:stretch xmlns:a="http://schemas.openxmlformats.org/drawingml/2006/main">
            <a:fillRect l="0" t="0" r="0" b="0"/>
          </a:stretch>
        </p:blipFill>
        <p:spPr>
          <a:xfrm xmlns:a="http://schemas.openxmlformats.org/drawingml/2006/main">
            <a:off x="4524375" y="2295525"/>
            <a:ext cx="3352800" cy="1790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9C35C44-798E-4613-B12F-7635A4F7B40C}"/>
              </a:ext>
            </a:extLst>
          </p:cNvPr>
          <p:cNvPicPr>
            <a:picLocks xmlns:a="http://schemas.openxmlformats.org/drawingml/2006/main" noChangeAspect="1"/>
          </p:cNvPicPr>
          <p:nvPr/>
        </p:nvPicPr>
        <p:blipFill>
          <a:blip xmlns:r="http://schemas.openxmlformats.org/officeDocument/2006/relationships" xmlns:a="http://schemas.openxmlformats.org/drawingml/2006/main" r:embed="R377834a12d94451f"/>
          <a:srcRect xmlns:a="http://schemas.openxmlformats.org/drawingml/2006/main" l="0" t="0" r="0" b="43000"/>
          <a:stretch xmlns:a="http://schemas.openxmlformats.org/drawingml/2006/main"/>
        </p:blipFill>
        <p:spPr>
          <a:xfrm xmlns:a="http://schemas.openxmlformats.org/drawingml/2006/main">
            <a:off x="8334375" y="2295525"/>
            <a:ext cx="3143250" cy="1790700"/>
          </a:xfrm>
          <a:prstGeom xmlns:a="http://schemas.openxmlformats.org/drawingml/2006/main" prst="rect">
            <a:avLst/>
          </a:prstGeom>
        </p:spPr>
      </p:pic>
      <p:sp>
        <p:nvSpPr>
          <p:cNvPr id="8" name="text-92">
            <a:extLst xmlns:a="http://schemas.openxmlformats.org/drawingml/2006/main">
              <a:ext uri="{FF2B5EF4-FFF2-40B4-BE49-F238E27FC236}">
                <a16:creationId xmlns:a16="http://schemas.microsoft.com/office/drawing/2014/main" id="{48C5D31E-4636-4065-9DA2-552D2113A76F}"/>
              </a:ext>
            </a:extLst>
          </p:cNvPr>
          <p:cNvSpPr>
            <a:spLocks xmlns:a="http://schemas.openxmlformats.org/drawingml/2006/main" noGrp="1"/>
          </p:cNvSpPr>
          <p:nvPr/>
        </p:nvSpPr>
        <p:spPr>
          <a:xfrm xmlns:a="http://schemas.openxmlformats.org/drawingml/2006/main">
            <a:off x="733425" y="4238625"/>
            <a:ext cx="33147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75FF7"/>
                </a:solidFill>
                <a:latin typeface="Arial"/>
                <a:ea typeface="Arial"/>
                <a:cs typeface="Arial"/>
              </a:defRPr>
            </a:defPPr>
          </a:lstStyle>
          <a:p xmlns:a="http://schemas.openxmlformats.org/drawingml/2006/main">
            <a:pPr algn="l">
              <a:defRPr sz="5400" b="1">
                <a:solidFill>
                  <a:srgbClr val="075FF7"/>
                </a:solidFill>
                <a:latin typeface="Arial"/>
                <a:ea typeface="Arial"/>
                <a:cs typeface="Arial"/>
              </a:defRPr>
            </a:pPr>
            <a:r>
              <a:rPr sz="5400" b="1">
                <a:solidFill>
                  <a:srgbClr val="075FF7"/>
                </a:solidFill>
                <a:latin typeface="Arial"/>
                <a:ea typeface="Arial"/>
                <a:cs typeface="Arial"/>
              </a:rPr>
              <a:t>30</a:t>
            </a:r>
          </a:p>
        </p:txBody>
      </p:sp>
      <p:sp>
        <p:nvSpPr>
          <p:cNvPr id="9" name="text-93">
            <a:extLst xmlns:a="http://schemas.openxmlformats.org/drawingml/2006/main">
              <a:ext uri="{FF2B5EF4-FFF2-40B4-BE49-F238E27FC236}">
                <a16:creationId xmlns:a16="http://schemas.microsoft.com/office/drawing/2014/main" id="{CE488CCE-8B25-4F50-A76C-8DAF75947BBE}"/>
              </a:ext>
            </a:extLst>
          </p:cNvPr>
          <p:cNvSpPr>
            <a:spLocks xmlns:a="http://schemas.openxmlformats.org/drawingml/2006/main" noGrp="1"/>
          </p:cNvSpPr>
          <p:nvPr/>
        </p:nvSpPr>
        <p:spPr>
          <a:xfrm xmlns:a="http://schemas.openxmlformats.org/drawingml/2006/main">
            <a:off x="752475" y="5076825"/>
            <a:ext cx="3295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1B3A"/>
                </a:solidFill>
                <a:latin typeface="Arial"/>
                <a:ea typeface="Arial"/>
                <a:cs typeface="Arial"/>
              </a:defRPr>
            </a:defPPr>
          </a:lstStyle>
          <a:p xmlns:a="http://schemas.openxmlformats.org/drawingml/2006/main">
            <a:pPr algn="l">
              <a:defRPr sz="2400" b="1">
                <a:solidFill>
                  <a:srgbClr val="081B3A"/>
                </a:solidFill>
                <a:latin typeface="Arial"/>
                <a:ea typeface="Arial"/>
                <a:cs typeface="Arial"/>
              </a:defRPr>
            </a:pPr>
            <a:r>
              <a:rPr sz="2400" b="1">
                <a:solidFill>
                  <a:srgbClr val="081B3A"/>
                </a:solidFill>
                <a:latin typeface="Arial"/>
                <a:ea typeface="Arial"/>
                <a:cs typeface="Arial"/>
              </a:rPr>
              <a:t>mağaza</a:t>
            </a:r>
          </a:p>
        </p:txBody>
      </p:sp>
      <p:sp>
        <p:nvSpPr>
          <p:cNvPr id="10" name="text-94">
            <a:extLst xmlns:a="http://schemas.openxmlformats.org/drawingml/2006/main">
              <a:ext uri="{FF2B5EF4-FFF2-40B4-BE49-F238E27FC236}">
                <a16:creationId xmlns:a16="http://schemas.microsoft.com/office/drawing/2014/main" id="{100A1F3D-C7A6-4388-B5DC-0F883A27545D}"/>
              </a:ext>
            </a:extLst>
          </p:cNvPr>
          <p:cNvSpPr>
            <a:spLocks xmlns:a="http://schemas.openxmlformats.org/drawingml/2006/main" noGrp="1"/>
          </p:cNvSpPr>
          <p:nvPr/>
        </p:nvSpPr>
        <p:spPr>
          <a:xfrm xmlns:a="http://schemas.openxmlformats.org/drawingml/2006/main">
            <a:off x="4543425" y="4238625"/>
            <a:ext cx="33147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75FF7"/>
                </a:solidFill>
                <a:latin typeface="Arial"/>
                <a:ea typeface="Arial"/>
                <a:cs typeface="Arial"/>
              </a:defRPr>
            </a:defPPr>
          </a:lstStyle>
          <a:p xmlns:a="http://schemas.openxmlformats.org/drawingml/2006/main">
            <a:pPr algn="l">
              <a:defRPr sz="5400" b="1">
                <a:solidFill>
                  <a:srgbClr val="075FF7"/>
                </a:solidFill>
                <a:latin typeface="Arial"/>
                <a:ea typeface="Arial"/>
                <a:cs typeface="Arial"/>
              </a:defRPr>
            </a:pPr>
            <a:r>
              <a:rPr sz="5400" b="1">
                <a:solidFill>
                  <a:srgbClr val="075FF7"/>
                </a:solidFill>
                <a:latin typeface="Arial"/>
                <a:ea typeface="Arial"/>
                <a:cs typeface="Arial"/>
              </a:rPr>
              <a:t>10</a:t>
            </a:r>
          </a:p>
        </p:txBody>
      </p:sp>
      <p:sp>
        <p:nvSpPr>
          <p:cNvPr id="11" name="text-95">
            <a:extLst xmlns:a="http://schemas.openxmlformats.org/drawingml/2006/main">
              <a:ext uri="{FF2B5EF4-FFF2-40B4-BE49-F238E27FC236}">
                <a16:creationId xmlns:a16="http://schemas.microsoft.com/office/drawing/2014/main" id="{FF915CCF-33E8-4EE1-A0EB-37672031C2EC}"/>
              </a:ext>
            </a:extLst>
          </p:cNvPr>
          <p:cNvSpPr>
            <a:spLocks xmlns:a="http://schemas.openxmlformats.org/drawingml/2006/main" noGrp="1"/>
          </p:cNvSpPr>
          <p:nvPr/>
        </p:nvSpPr>
        <p:spPr>
          <a:xfrm xmlns:a="http://schemas.openxmlformats.org/drawingml/2006/main">
            <a:off x="4562475" y="5076825"/>
            <a:ext cx="32956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1B3A"/>
                </a:solidFill>
                <a:latin typeface="Arial"/>
                <a:ea typeface="Arial"/>
                <a:cs typeface="Arial"/>
              </a:defRPr>
            </a:defPPr>
          </a:lstStyle>
          <a:p xmlns:a="http://schemas.openxmlformats.org/drawingml/2006/main">
            <a:pPr algn="l">
              <a:defRPr sz="2400" b="1">
                <a:solidFill>
                  <a:srgbClr val="081B3A"/>
                </a:solidFill>
                <a:latin typeface="Arial"/>
                <a:ea typeface="Arial"/>
                <a:cs typeface="Arial"/>
              </a:defRPr>
            </a:pPr>
            <a:r>
              <a:rPr sz="2400" b="1">
                <a:solidFill>
                  <a:srgbClr val="081B3A"/>
                </a:solidFill>
                <a:latin typeface="Arial"/>
                <a:ea typeface="Arial"/>
                <a:cs typeface="Arial"/>
              </a:rPr>
              <a:t>tedarikçi</a:t>
            </a:r>
          </a:p>
        </p:txBody>
      </p:sp>
      <p:sp>
        <p:nvSpPr>
          <p:cNvPr id="12" name="text-96">
            <a:extLst xmlns:a="http://schemas.openxmlformats.org/drawingml/2006/main">
              <a:ext uri="{FF2B5EF4-FFF2-40B4-BE49-F238E27FC236}">
                <a16:creationId xmlns:a16="http://schemas.microsoft.com/office/drawing/2014/main" id="{94538E97-8119-49FA-9895-664AF16125AB}"/>
              </a:ext>
            </a:extLst>
          </p:cNvPr>
          <p:cNvSpPr>
            <a:spLocks xmlns:a="http://schemas.openxmlformats.org/drawingml/2006/main" noGrp="1"/>
          </p:cNvSpPr>
          <p:nvPr/>
        </p:nvSpPr>
        <p:spPr>
          <a:xfrm xmlns:a="http://schemas.openxmlformats.org/drawingml/2006/main">
            <a:off x="8353425" y="4238625"/>
            <a:ext cx="31051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75FF7"/>
                </a:solidFill>
                <a:latin typeface="Arial"/>
                <a:ea typeface="Arial"/>
                <a:cs typeface="Arial"/>
              </a:defRPr>
            </a:defPPr>
          </a:lstStyle>
          <a:p xmlns:a="http://schemas.openxmlformats.org/drawingml/2006/main">
            <a:pPr algn="l">
              <a:defRPr sz="5400" b="1">
                <a:solidFill>
                  <a:srgbClr val="075FF7"/>
                </a:solidFill>
                <a:latin typeface="Arial"/>
                <a:ea typeface="Arial"/>
                <a:cs typeface="Arial"/>
              </a:defRPr>
            </a:pPr>
            <a:r>
              <a:rPr sz="5400" b="1">
                <a:solidFill>
                  <a:srgbClr val="075FF7"/>
                </a:solidFill>
                <a:latin typeface="Arial"/>
                <a:ea typeface="Arial"/>
                <a:cs typeface="Arial"/>
              </a:rPr>
              <a:t>20</a:t>
            </a:r>
          </a:p>
        </p:txBody>
      </p:sp>
      <p:sp>
        <p:nvSpPr>
          <p:cNvPr id="13" name="text-97">
            <a:extLst xmlns:a="http://schemas.openxmlformats.org/drawingml/2006/main">
              <a:ext uri="{FF2B5EF4-FFF2-40B4-BE49-F238E27FC236}">
                <a16:creationId xmlns:a16="http://schemas.microsoft.com/office/drawing/2014/main" id="{7DE0B50C-C2F9-4A9E-9497-7B402B2A12D3}"/>
              </a:ext>
            </a:extLst>
          </p:cNvPr>
          <p:cNvSpPr>
            <a:spLocks xmlns:a="http://schemas.openxmlformats.org/drawingml/2006/main" noGrp="1"/>
          </p:cNvSpPr>
          <p:nvPr/>
        </p:nvSpPr>
        <p:spPr>
          <a:xfrm xmlns:a="http://schemas.openxmlformats.org/drawingml/2006/main">
            <a:off x="8372475" y="5076825"/>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1B3A"/>
                </a:solidFill>
                <a:latin typeface="Arial"/>
                <a:ea typeface="Arial"/>
                <a:cs typeface="Arial"/>
              </a:defRPr>
            </a:defPPr>
          </a:lstStyle>
          <a:p xmlns:a="http://schemas.openxmlformats.org/drawingml/2006/main">
            <a:pPr algn="l">
              <a:defRPr sz="2400" b="1">
                <a:solidFill>
                  <a:srgbClr val="081B3A"/>
                </a:solidFill>
                <a:latin typeface="Arial"/>
                <a:ea typeface="Arial"/>
                <a:cs typeface="Arial"/>
              </a:defRPr>
            </a:pPr>
            <a:r>
              <a:rPr sz="2400" b="1">
                <a:solidFill>
                  <a:srgbClr val="081B3A"/>
                </a:solidFill>
                <a:latin typeface="Arial"/>
                <a:ea typeface="Arial"/>
                <a:cs typeface="Arial"/>
              </a:rPr>
              <a:t>influencer</a:t>
            </a:r>
          </a:p>
        </p:txBody>
      </p:sp>
      <p:sp>
        <p:nvSpPr>
          <p:cNvPr id="14" name="text-98">
            <a:extLst xmlns:a="http://schemas.openxmlformats.org/drawingml/2006/main">
              <a:ext uri="{FF2B5EF4-FFF2-40B4-BE49-F238E27FC236}">
                <a16:creationId xmlns:a16="http://schemas.microsoft.com/office/drawing/2014/main" id="{1CFEA396-4C61-4C92-B2C2-1514E4FF2F9A}"/>
              </a:ext>
            </a:extLst>
          </p:cNvPr>
          <p:cNvSpPr>
            <a:spLocks xmlns:a="http://schemas.openxmlformats.org/drawingml/2006/main" noGrp="1"/>
          </p:cNvSpPr>
          <p:nvPr/>
        </p:nvSpPr>
        <p:spPr>
          <a:xfrm xmlns:a="http://schemas.openxmlformats.org/drawingml/2006/main">
            <a:off x="752475" y="5619750"/>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A82"/>
                </a:solidFill>
                <a:latin typeface="Arial"/>
                <a:ea typeface="Arial"/>
                <a:cs typeface="Arial"/>
              </a:defRPr>
            </a:defPPr>
          </a:lstStyle>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Önce tedarik eşleşmesi, ardından satış ve içerik iş birliği</a:t>
            </a:r>
          </a:p>
        </p:txBody>
      </p:sp>
      <p:sp>
        <p:nvSpPr>
          <p:cNvPr id="15" name="text-99">
            <a:extLst xmlns:a="http://schemas.openxmlformats.org/drawingml/2006/main">
              <a:ext uri="{FF2B5EF4-FFF2-40B4-BE49-F238E27FC236}">
                <a16:creationId xmlns:a16="http://schemas.microsoft.com/office/drawing/2014/main" id="{6FB9DE03-1F34-4AB1-8F77-1EA83C5BF63A}"/>
              </a:ext>
            </a:extLst>
          </p:cNvPr>
          <p:cNvSpPr>
            <a:spLocks xmlns:a="http://schemas.openxmlformats.org/drawingml/2006/main" noGrp="1"/>
          </p:cNvSpPr>
          <p:nvPr/>
        </p:nvSpPr>
        <p:spPr>
          <a:xfrm xmlns:a="http://schemas.openxmlformats.org/drawingml/2006/main">
            <a:off x="752475" y="6115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6A82"/>
                </a:solidFill>
                <a:latin typeface="Arial"/>
                <a:ea typeface="Arial"/>
                <a:cs typeface="Arial"/>
              </a:defRPr>
            </a:defPPr>
          </a:lstStyle>
          <a:p xmlns:a="http://schemas.openxmlformats.org/drawingml/2006/main">
            <a:pPr algn="l">
              <a:defRPr sz="1350" b="0">
                <a:solidFill>
                  <a:srgbClr val="596A82"/>
                </a:solidFill>
                <a:latin typeface="Arial"/>
                <a:ea typeface="Arial"/>
                <a:cs typeface="Arial"/>
              </a:defRPr>
            </a:pPr>
            <a:r>
              <a:rPr sz="1350" b="0">
                <a:solidFill>
                  <a:srgbClr val="596A82"/>
                </a:solidFill>
                <a:latin typeface="Arial"/>
                <a:ea typeface="Arial"/>
                <a:cs typeface="Arial"/>
              </a:rPr>
              <a:t>Önerilen pilot hedefleri. Görseller temsili, gerçek müşteri veya partner kanıtı değildir.</a:t>
            </a:r>
          </a:p>
        </p:txBody>
      </p:sp>
    </p:spTree>
    <p:extLst>
      <p:ext uri="{BB962C8B-B14F-4D97-AF65-F5344CB8AC3E}">
        <p14:creationId xmlns:p14="http://schemas.microsoft.com/office/powerpoint/2010/main" val="10524297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00">
            <a:extLst xmlns:a="http://schemas.openxmlformats.org/drawingml/2006/main">
              <a:ext uri="{FF2B5EF4-FFF2-40B4-BE49-F238E27FC236}">
                <a16:creationId xmlns:a16="http://schemas.microsoft.com/office/drawing/2014/main" id="{D6F1BDE7-4D62-406C-8A8A-724027DD7A22}"/>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Pilotun başarı ölçütleri</a:t>
            </a:r>
          </a:p>
        </p:txBody>
      </p:sp>
      <p:sp>
        <p:nvSpPr>
          <p:cNvPr id="2" name="text-101">
            <a:extLst xmlns:a="http://schemas.openxmlformats.org/drawingml/2006/main">
              <a:ext uri="{FF2B5EF4-FFF2-40B4-BE49-F238E27FC236}">
                <a16:creationId xmlns:a16="http://schemas.microsoft.com/office/drawing/2014/main" id="{0B3FD696-C035-4F92-BD59-E03832B4B008}"/>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Ana aktivasyon olayı: ilk tamamlanmış ve teyit edilmiş satış</a:t>
            </a:r>
          </a:p>
        </p:txBody>
      </p:sp>
      <p:sp>
        <p:nvSpPr>
          <p:cNvPr id="3" name="text-102">
            <a:extLst xmlns:a="http://schemas.openxmlformats.org/drawingml/2006/main">
              <a:ext uri="{FF2B5EF4-FFF2-40B4-BE49-F238E27FC236}">
                <a16:creationId xmlns:a16="http://schemas.microsoft.com/office/drawing/2014/main" id="{87373C91-ED3F-4036-9F4F-8859D63F7937}"/>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03">
            <a:extLst xmlns:a="http://schemas.openxmlformats.org/drawingml/2006/main">
              <a:ext uri="{FF2B5EF4-FFF2-40B4-BE49-F238E27FC236}">
                <a16:creationId xmlns:a16="http://schemas.microsoft.com/office/drawing/2014/main" id="{F39E9F88-B171-4106-8CD5-D90AEB6D2D3B}"/>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11</a:t>
            </a:r>
          </a:p>
        </p:txBody>
      </p:sp>
      <p:sp>
        <p:nvSpPr>
          <p:cNvPr id="5" name="text-104">
            <a:extLst xmlns:a="http://schemas.openxmlformats.org/drawingml/2006/main">
              <a:ext uri="{FF2B5EF4-FFF2-40B4-BE49-F238E27FC236}">
                <a16:creationId xmlns:a16="http://schemas.microsoft.com/office/drawing/2014/main" id="{8D9A12FF-2A72-4982-9A36-E7353D5D901C}"/>
              </a:ext>
            </a:extLst>
          </p:cNvPr>
          <p:cNvSpPr>
            <a:spLocks xmlns:a="http://schemas.openxmlformats.org/drawingml/2006/main" noGrp="1"/>
          </p:cNvSpPr>
          <p:nvPr/>
        </p:nvSpPr>
        <p:spPr>
          <a:xfrm xmlns:a="http://schemas.openxmlformats.org/drawingml/2006/main">
            <a:off x="685800" y="247650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75FF7"/>
                </a:solidFill>
                <a:latin typeface="Arial"/>
                <a:ea typeface="Arial"/>
                <a:cs typeface="Arial"/>
              </a:defRPr>
            </a:defPPr>
          </a:lstStyle>
          <a:p xmlns:a="http://schemas.openxmlformats.org/drawingml/2006/main">
            <a:pPr algn="l">
              <a:defRPr sz="3000" b="1">
                <a:solidFill>
                  <a:srgbClr val="075FF7"/>
                </a:solidFill>
                <a:latin typeface="Arial"/>
                <a:ea typeface="Arial"/>
                <a:cs typeface="Arial"/>
              </a:defRPr>
            </a:pPr>
            <a:r>
              <a:rPr sz="3000" b="1">
                <a:solidFill>
                  <a:srgbClr val="075FF7"/>
                </a:solidFill>
                <a:latin typeface="Arial"/>
                <a:ea typeface="Arial"/>
                <a:cs typeface="Arial"/>
              </a:rPr>
              <a:t>01</a:t>
            </a:r>
          </a:p>
        </p:txBody>
      </p:sp>
      <p:sp>
        <p:nvSpPr>
          <p:cNvPr id="6" name="text-105">
            <a:extLst xmlns:a="http://schemas.openxmlformats.org/drawingml/2006/main">
              <a:ext uri="{FF2B5EF4-FFF2-40B4-BE49-F238E27FC236}">
                <a16:creationId xmlns:a16="http://schemas.microsoft.com/office/drawing/2014/main" id="{B4F2288F-6424-4F4E-9DA9-6752C534B9FF}"/>
              </a:ext>
            </a:extLst>
          </p:cNvPr>
          <p:cNvSpPr>
            <a:spLocks xmlns:a="http://schemas.openxmlformats.org/drawingml/2006/main" noGrp="1"/>
          </p:cNvSpPr>
          <p:nvPr/>
        </p:nvSpPr>
        <p:spPr>
          <a:xfrm xmlns:a="http://schemas.openxmlformats.org/drawingml/2006/main">
            <a:off x="1495425" y="2495550"/>
            <a:ext cx="985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Aktivasyon</a:t>
            </a:r>
          </a:p>
        </p:txBody>
      </p:sp>
      <p:sp>
        <p:nvSpPr>
          <p:cNvPr id="7" name="text-106">
            <a:extLst xmlns:a="http://schemas.openxmlformats.org/drawingml/2006/main">
              <a:ext uri="{FF2B5EF4-FFF2-40B4-BE49-F238E27FC236}">
                <a16:creationId xmlns:a16="http://schemas.microsoft.com/office/drawing/2014/main" id="{59FE18FA-F809-49D9-9580-6499423B84D3}"/>
              </a:ext>
            </a:extLst>
          </p:cNvPr>
          <p:cNvSpPr>
            <a:spLocks xmlns:a="http://schemas.openxmlformats.org/drawingml/2006/main" noGrp="1"/>
          </p:cNvSpPr>
          <p:nvPr/>
        </p:nvSpPr>
        <p:spPr>
          <a:xfrm xmlns:a="http://schemas.openxmlformats.org/drawingml/2006/main">
            <a:off x="1495425" y="2952750"/>
            <a:ext cx="985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İlk gerçek satışa kadar süre ve tamamlayan mağaza oranı</a:t>
            </a:r>
          </a:p>
        </p:txBody>
      </p:sp>
      <p:sp>
        <p:nvSpPr>
          <p:cNvPr id="8" name="text-107">
            <a:extLst xmlns:a="http://schemas.openxmlformats.org/drawingml/2006/main">
              <a:ext uri="{FF2B5EF4-FFF2-40B4-BE49-F238E27FC236}">
                <a16:creationId xmlns:a16="http://schemas.microsoft.com/office/drawing/2014/main" id="{B4B4AFD1-AECE-4265-9316-5494B0C4D11B}"/>
              </a:ext>
            </a:extLst>
          </p:cNvPr>
          <p:cNvSpPr>
            <a:spLocks xmlns:a="http://schemas.openxmlformats.org/drawingml/2006/main" noGrp="1"/>
          </p:cNvSpPr>
          <p:nvPr/>
        </p:nvSpPr>
        <p:spPr>
          <a:xfrm xmlns:a="http://schemas.openxmlformats.org/drawingml/2006/main">
            <a:off x="685800" y="3667125"/>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75FF7"/>
                </a:solidFill>
                <a:latin typeface="Arial"/>
                <a:ea typeface="Arial"/>
                <a:cs typeface="Arial"/>
              </a:defRPr>
            </a:defPPr>
          </a:lstStyle>
          <a:p xmlns:a="http://schemas.openxmlformats.org/drawingml/2006/main">
            <a:pPr algn="l">
              <a:defRPr sz="3000" b="1">
                <a:solidFill>
                  <a:srgbClr val="075FF7"/>
                </a:solidFill>
                <a:latin typeface="Arial"/>
                <a:ea typeface="Arial"/>
                <a:cs typeface="Arial"/>
              </a:defRPr>
            </a:pPr>
            <a:r>
              <a:rPr sz="3000" b="1">
                <a:solidFill>
                  <a:srgbClr val="075FF7"/>
                </a:solidFill>
                <a:latin typeface="Arial"/>
                <a:ea typeface="Arial"/>
                <a:cs typeface="Arial"/>
              </a:rPr>
              <a:t>02</a:t>
            </a:r>
          </a:p>
        </p:txBody>
      </p:sp>
      <p:sp>
        <p:nvSpPr>
          <p:cNvPr id="9" name="text-108">
            <a:extLst xmlns:a="http://schemas.openxmlformats.org/drawingml/2006/main">
              <a:ext uri="{FF2B5EF4-FFF2-40B4-BE49-F238E27FC236}">
                <a16:creationId xmlns:a16="http://schemas.microsoft.com/office/drawing/2014/main" id="{208B815B-00DE-4A57-8D7D-679AFFA850B8}"/>
              </a:ext>
            </a:extLst>
          </p:cNvPr>
          <p:cNvSpPr>
            <a:spLocks xmlns:a="http://schemas.openxmlformats.org/drawingml/2006/main" noGrp="1"/>
          </p:cNvSpPr>
          <p:nvPr/>
        </p:nvSpPr>
        <p:spPr>
          <a:xfrm xmlns:a="http://schemas.openxmlformats.org/drawingml/2006/main">
            <a:off x="1495425" y="3686175"/>
            <a:ext cx="985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Tekrar kullanım</a:t>
            </a:r>
          </a:p>
        </p:txBody>
      </p:sp>
      <p:sp>
        <p:nvSpPr>
          <p:cNvPr id="10" name="text-109">
            <a:extLst xmlns:a="http://schemas.openxmlformats.org/drawingml/2006/main">
              <a:ext uri="{FF2B5EF4-FFF2-40B4-BE49-F238E27FC236}">
                <a16:creationId xmlns:a16="http://schemas.microsoft.com/office/drawing/2014/main" id="{47DE2A23-387F-4ACB-82C3-ADC6B3F71070}"/>
              </a:ext>
            </a:extLst>
          </p:cNvPr>
          <p:cNvSpPr>
            <a:spLocks xmlns:a="http://schemas.openxmlformats.org/drawingml/2006/main" noGrp="1"/>
          </p:cNvSpPr>
          <p:nvPr/>
        </p:nvSpPr>
        <p:spPr>
          <a:xfrm xmlns:a="http://schemas.openxmlformats.org/drawingml/2006/main">
            <a:off x="1495425" y="4143375"/>
            <a:ext cx="985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30 ve 90 gün içinde aktif kalan, tekrar sipariş alan mağazalar</a:t>
            </a:r>
          </a:p>
        </p:txBody>
      </p:sp>
      <p:sp>
        <p:nvSpPr>
          <p:cNvPr id="11" name="text-110">
            <a:extLst xmlns:a="http://schemas.openxmlformats.org/drawingml/2006/main">
              <a:ext uri="{FF2B5EF4-FFF2-40B4-BE49-F238E27FC236}">
                <a16:creationId xmlns:a16="http://schemas.microsoft.com/office/drawing/2014/main" id="{AFB905D0-C057-4EFC-B385-E79C3A1F6D76}"/>
              </a:ext>
            </a:extLst>
          </p:cNvPr>
          <p:cNvSpPr>
            <a:spLocks xmlns:a="http://schemas.openxmlformats.org/drawingml/2006/main" noGrp="1"/>
          </p:cNvSpPr>
          <p:nvPr/>
        </p:nvSpPr>
        <p:spPr>
          <a:xfrm xmlns:a="http://schemas.openxmlformats.org/drawingml/2006/main">
            <a:off x="685800" y="4857750"/>
            <a:ext cx="61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75FF7"/>
                </a:solidFill>
                <a:latin typeface="Arial"/>
                <a:ea typeface="Arial"/>
                <a:cs typeface="Arial"/>
              </a:defRPr>
            </a:defPPr>
          </a:lstStyle>
          <a:p xmlns:a="http://schemas.openxmlformats.org/drawingml/2006/main">
            <a:pPr algn="l">
              <a:defRPr sz="3000" b="1">
                <a:solidFill>
                  <a:srgbClr val="075FF7"/>
                </a:solidFill>
                <a:latin typeface="Arial"/>
                <a:ea typeface="Arial"/>
                <a:cs typeface="Arial"/>
              </a:defRPr>
            </a:pPr>
            <a:r>
              <a:rPr sz="3000" b="1">
                <a:solidFill>
                  <a:srgbClr val="075FF7"/>
                </a:solidFill>
                <a:latin typeface="Arial"/>
                <a:ea typeface="Arial"/>
                <a:cs typeface="Arial"/>
              </a:rPr>
              <a:t>03</a:t>
            </a:r>
          </a:p>
        </p:txBody>
      </p:sp>
      <p:sp>
        <p:nvSpPr>
          <p:cNvPr id="12" name="text-111">
            <a:extLst xmlns:a="http://schemas.openxmlformats.org/drawingml/2006/main">
              <a:ext uri="{FF2B5EF4-FFF2-40B4-BE49-F238E27FC236}">
                <a16:creationId xmlns:a16="http://schemas.microsoft.com/office/drawing/2014/main" id="{30A46799-4F8A-4295-ABD7-748F4E994D97}"/>
              </a:ext>
            </a:extLst>
          </p:cNvPr>
          <p:cNvSpPr>
            <a:spLocks xmlns:a="http://schemas.openxmlformats.org/drawingml/2006/main" noGrp="1"/>
          </p:cNvSpPr>
          <p:nvPr/>
        </p:nvSpPr>
        <p:spPr>
          <a:xfrm xmlns:a="http://schemas.openxmlformats.org/drawingml/2006/main">
            <a:off x="1495425" y="4876800"/>
            <a:ext cx="985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Ekonomi</a:t>
            </a:r>
          </a:p>
        </p:txBody>
      </p:sp>
      <p:sp>
        <p:nvSpPr>
          <p:cNvPr id="13" name="text-112">
            <a:extLst xmlns:a="http://schemas.openxmlformats.org/drawingml/2006/main">
              <a:ext uri="{FF2B5EF4-FFF2-40B4-BE49-F238E27FC236}">
                <a16:creationId xmlns:a16="http://schemas.microsoft.com/office/drawing/2014/main" id="{CF43E858-EF7E-448A-859D-3B69A9C99D76}"/>
              </a:ext>
            </a:extLst>
          </p:cNvPr>
          <p:cNvSpPr>
            <a:spLocks xmlns:a="http://schemas.openxmlformats.org/drawingml/2006/main" noGrp="1"/>
          </p:cNvSpPr>
          <p:nvPr/>
        </p:nvSpPr>
        <p:spPr>
          <a:xfrm xmlns:a="http://schemas.openxmlformats.org/drawingml/2006/main">
            <a:off x="1495425" y="5334000"/>
            <a:ext cx="9858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Ücret ödeme isteği, katkı marjı ve müşteri kazanım maliyeti</a:t>
            </a:r>
          </a:p>
        </p:txBody>
      </p:sp>
    </p:spTree>
    <p:extLst>
      <p:ext uri="{BB962C8B-B14F-4D97-AF65-F5344CB8AC3E}">
        <p14:creationId xmlns:p14="http://schemas.microsoft.com/office/powerpoint/2010/main" val="5564039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13">
            <a:extLst xmlns:a="http://schemas.openxmlformats.org/drawingml/2006/main">
              <a:ext uri="{FF2B5EF4-FFF2-40B4-BE49-F238E27FC236}">
                <a16:creationId xmlns:a16="http://schemas.microsoft.com/office/drawing/2014/main" id="{764D4D3B-3D16-4037-876C-46C512B7014E}"/>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Ürün ilerlemesi</a:t>
            </a:r>
          </a:p>
        </p:txBody>
      </p:sp>
      <p:sp>
        <p:nvSpPr>
          <p:cNvPr id="2" name="text-114">
            <a:extLst xmlns:a="http://schemas.openxmlformats.org/drawingml/2006/main">
              <a:ext uri="{FF2B5EF4-FFF2-40B4-BE49-F238E27FC236}">
                <a16:creationId xmlns:a16="http://schemas.microsoft.com/office/drawing/2014/main" id="{A5AB3026-F09E-46B3-98E8-5ED0629C8DC9}"/>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Teknik temel oluştu. Sıradaki aşama, canlı entegrasyon ve ücretli pilot.</a:t>
            </a:r>
          </a:p>
        </p:txBody>
      </p:sp>
      <p:sp>
        <p:nvSpPr>
          <p:cNvPr id="3" name="text-115">
            <a:extLst xmlns:a="http://schemas.openxmlformats.org/drawingml/2006/main">
              <a:ext uri="{FF2B5EF4-FFF2-40B4-BE49-F238E27FC236}">
                <a16:creationId xmlns:a16="http://schemas.microsoft.com/office/drawing/2014/main" id="{79C21444-F844-49B2-B459-8A4FCF0CAC32}"/>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16">
            <a:extLst xmlns:a="http://schemas.openxmlformats.org/drawingml/2006/main">
              <a:ext uri="{FF2B5EF4-FFF2-40B4-BE49-F238E27FC236}">
                <a16:creationId xmlns:a16="http://schemas.microsoft.com/office/drawing/2014/main" id="{EC15310F-F41F-4136-8F22-DA19F21173F6}"/>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12</a:t>
            </a:r>
          </a:p>
        </p:txBody>
      </p:sp>
      <p:sp>
        <p:nvSpPr>
          <p:cNvPr id="5" name="text-117">
            <a:extLst xmlns:a="http://schemas.openxmlformats.org/drawingml/2006/main">
              <a:ext uri="{FF2B5EF4-FFF2-40B4-BE49-F238E27FC236}">
                <a16:creationId xmlns:a16="http://schemas.microsoft.com/office/drawing/2014/main" id="{D5D1BCA7-858D-485F-844B-F84C4477824D}"/>
              </a:ext>
            </a:extLst>
          </p:cNvPr>
          <p:cNvSpPr>
            <a:spLocks xmlns:a="http://schemas.openxmlformats.org/drawingml/2006/main" noGrp="1"/>
          </p:cNvSpPr>
          <p:nvPr/>
        </p:nvSpPr>
        <p:spPr>
          <a:xfrm xmlns:a="http://schemas.openxmlformats.org/drawingml/2006/main">
            <a:off x="723900" y="2362200"/>
            <a:ext cx="35433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075FF7"/>
                </a:solidFill>
                <a:latin typeface="Arial"/>
                <a:ea typeface="Arial"/>
                <a:cs typeface="Arial"/>
              </a:defRPr>
            </a:defPPr>
          </a:lstStyle>
          <a:p xmlns:a="http://schemas.openxmlformats.org/drawingml/2006/main">
            <a:pPr algn="l">
              <a:defRPr sz="6150" b="1">
                <a:solidFill>
                  <a:srgbClr val="075FF7"/>
                </a:solidFill>
                <a:latin typeface="Arial"/>
                <a:ea typeface="Arial"/>
                <a:cs typeface="Arial"/>
              </a:defRPr>
            </a:pPr>
            <a:r>
              <a:rPr sz="6150" b="1">
                <a:solidFill>
                  <a:srgbClr val="075FF7"/>
                </a:solidFill>
                <a:latin typeface="Arial"/>
                <a:ea typeface="Arial"/>
                <a:cs typeface="Arial"/>
              </a:rPr>
              <a:t>101</a:t>
            </a:r>
          </a:p>
        </p:txBody>
      </p:sp>
      <p:sp>
        <p:nvSpPr>
          <p:cNvPr id="6" name="text-118">
            <a:extLst xmlns:a="http://schemas.openxmlformats.org/drawingml/2006/main">
              <a:ext uri="{FF2B5EF4-FFF2-40B4-BE49-F238E27FC236}">
                <a16:creationId xmlns:a16="http://schemas.microsoft.com/office/drawing/2014/main" id="{16857484-331E-4B1E-960D-2AB447F4115C}"/>
              </a:ext>
            </a:extLst>
          </p:cNvPr>
          <p:cNvSpPr>
            <a:spLocks xmlns:a="http://schemas.openxmlformats.org/drawingml/2006/main" noGrp="1"/>
          </p:cNvSpPr>
          <p:nvPr/>
        </p:nvSpPr>
        <p:spPr>
          <a:xfrm xmlns:a="http://schemas.openxmlformats.org/drawingml/2006/main">
            <a:off x="762000" y="3514725"/>
            <a:ext cx="3571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başarılı backend testi</a:t>
            </a:r>
          </a:p>
        </p:txBody>
      </p:sp>
      <p:sp>
        <p:nvSpPr>
          <p:cNvPr id="7" name="text-119">
            <a:extLst xmlns:a="http://schemas.openxmlformats.org/drawingml/2006/main">
              <a:ext uri="{FF2B5EF4-FFF2-40B4-BE49-F238E27FC236}">
                <a16:creationId xmlns:a16="http://schemas.microsoft.com/office/drawing/2014/main" id="{5B8B0303-0983-4A0E-A317-674F7ABA77A7}"/>
              </a:ext>
            </a:extLst>
          </p:cNvPr>
          <p:cNvSpPr>
            <a:spLocks xmlns:a="http://schemas.openxmlformats.org/drawingml/2006/main" noGrp="1"/>
          </p:cNvSpPr>
          <p:nvPr/>
        </p:nvSpPr>
        <p:spPr>
          <a:xfrm xmlns:a="http://schemas.openxmlformats.org/drawingml/2006/main">
            <a:off x="762000" y="4457700"/>
            <a:ext cx="3695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A82"/>
                </a:solidFill>
                <a:latin typeface="Arial"/>
                <a:ea typeface="Arial"/>
                <a:cs typeface="Arial"/>
              </a:defRPr>
            </a:defPPr>
          </a:lstStyle>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Hazır temel</a:t>
            </a:r>
          </a:p>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Sahiplik, stok ve ticari kayıtlar</a:t>
            </a:r>
          </a:p>
        </p:txBody>
      </p:sp>
      <p:pic>
        <p:nvPicPr>
          <p:cNvPr id="8" name="">
            <a:extLst xmlns:a="http://schemas.openxmlformats.org/drawingml/2006/main">
              <a:ext uri="{FF2B5EF4-FFF2-40B4-BE49-F238E27FC236}">
                <a16:creationId xmlns:a16="http://schemas.microsoft.com/office/drawing/2014/main" id="{F0CA3285-A37D-4690-9E21-9AEBD232FE52}"/>
              </a:ext>
            </a:extLst>
          </p:cNvPr>
          <p:cNvPicPr>
            <a:picLocks xmlns:a="http://schemas.openxmlformats.org/drawingml/2006/main" noChangeAspect="1"/>
          </p:cNvPicPr>
          <p:nvPr/>
        </p:nvPicPr>
        <p:blipFill>
          <a:blip xmlns:r="http://schemas.openxmlformats.org/officeDocument/2006/relationships" xmlns:a="http://schemas.openxmlformats.org/drawingml/2006/main" r:embed="R453a4cd313a14762"/>
          <a:stretch xmlns:a="http://schemas.openxmlformats.org/drawingml/2006/main"/>
        </p:blipFill>
        <p:spPr>
          <a:xfrm xmlns:a="http://schemas.openxmlformats.org/drawingml/2006/main">
            <a:off x="5780509" y="2276475"/>
            <a:ext cx="4688633" cy="3190875"/>
          </a:xfrm>
          <a:prstGeom xmlns:a="http://schemas.openxmlformats.org/drawingml/2006/main" prst="rect">
            <a:avLst/>
          </a:prstGeom>
        </p:spPr>
      </p:pic>
      <p:sp>
        <p:nvSpPr>
          <p:cNvPr id="9" name="text-120">
            <a:extLst xmlns:a="http://schemas.openxmlformats.org/drawingml/2006/main">
              <a:ext uri="{FF2B5EF4-FFF2-40B4-BE49-F238E27FC236}">
                <a16:creationId xmlns:a16="http://schemas.microsoft.com/office/drawing/2014/main" id="{5E3A4564-DE8C-4A97-B80E-FA00B365E328}"/>
              </a:ext>
            </a:extLst>
          </p:cNvPr>
          <p:cNvSpPr>
            <a:spLocks xmlns:a="http://schemas.openxmlformats.org/drawingml/2006/main" noGrp="1"/>
          </p:cNvSpPr>
          <p:nvPr/>
        </p:nvSpPr>
        <p:spPr>
          <a:xfrm xmlns:a="http://schemas.openxmlformats.org/drawingml/2006/main">
            <a:off x="752475" y="5695950"/>
            <a:ext cx="10715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1B3A"/>
                </a:solidFill>
                <a:latin typeface="Arial"/>
                <a:ea typeface="Arial"/>
                <a:cs typeface="Arial"/>
              </a:defRPr>
            </a:defPPr>
          </a:lstStyle>
          <a:p xmlns:a="http://schemas.openxmlformats.org/drawingml/2006/main">
            <a:pPr algn="l">
              <a:defRPr sz="1875" b="1">
                <a:solidFill>
                  <a:srgbClr val="081B3A"/>
                </a:solidFill>
                <a:latin typeface="Arial"/>
                <a:ea typeface="Arial"/>
                <a:cs typeface="Arial"/>
              </a:defRPr>
            </a:pPr>
            <a:r>
              <a:rPr sz="1875" b="1">
                <a:solidFill>
                  <a:srgbClr val="081B3A"/>
                </a:solidFill>
                <a:latin typeface="Arial"/>
                <a:ea typeface="Arial"/>
                <a:cs typeface="Arial"/>
              </a:rPr>
              <a:t>Pilot öncesi: checkout ve panel bağlantıları, gerçek sağlayıcı adaptörleri</a:t>
            </a:r>
          </a:p>
        </p:txBody>
      </p:sp>
      <p:sp>
        <p:nvSpPr>
          <p:cNvPr id="10" name="text-121">
            <a:extLst xmlns:a="http://schemas.openxmlformats.org/drawingml/2006/main">
              <a:ext uri="{FF2B5EF4-FFF2-40B4-BE49-F238E27FC236}">
                <a16:creationId xmlns:a16="http://schemas.microsoft.com/office/drawing/2014/main" id="{C3FC8FB1-4DD0-432A-81E7-B02DE6FF5288}"/>
              </a:ext>
            </a:extLst>
          </p:cNvPr>
          <p:cNvSpPr>
            <a:spLocks xmlns:a="http://schemas.openxmlformats.org/drawingml/2006/main" noGrp="1"/>
          </p:cNvSpPr>
          <p:nvPr/>
        </p:nvSpPr>
        <p:spPr>
          <a:xfrm xmlns:a="http://schemas.openxmlformats.org/drawingml/2006/main">
            <a:off x="762000" y="612457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6A82"/>
                </a:solidFill>
                <a:latin typeface="Arial"/>
                <a:ea typeface="Arial"/>
                <a:cs typeface="Arial"/>
              </a:defRPr>
            </a:defPPr>
          </a:lstStyle>
          <a:p xmlns:a="http://schemas.openxmlformats.org/drawingml/2006/main">
            <a:pPr algn="l">
              <a:defRPr sz="1275" b="0">
                <a:solidFill>
                  <a:srgbClr val="596A82"/>
                </a:solidFill>
                <a:latin typeface="Arial"/>
                <a:ea typeface="Arial"/>
                <a:cs typeface="Arial"/>
              </a:defRPr>
            </a:pPr>
            <a:r>
              <a:rPr sz="1275" b="0">
                <a:solidFill>
                  <a:srgbClr val="596A82"/>
                </a:solidFill>
                <a:latin typeface="Arial"/>
                <a:ea typeface="Arial"/>
                <a:cs typeface="Arial"/>
              </a:rPr>
              <a:t>Görüntü: çalışan prototip ve demo katalog.</a:t>
            </a:r>
          </a:p>
        </p:txBody>
      </p:sp>
    </p:spTree>
    <p:extLst>
      <p:ext uri="{BB962C8B-B14F-4D97-AF65-F5344CB8AC3E}">
        <p14:creationId xmlns:p14="http://schemas.microsoft.com/office/powerpoint/2010/main" val="13515969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22">
            <a:extLst xmlns:a="http://schemas.openxmlformats.org/drawingml/2006/main">
              <a:ext uri="{FF2B5EF4-FFF2-40B4-BE49-F238E27FC236}">
                <a16:creationId xmlns:a16="http://schemas.microsoft.com/office/drawing/2014/main" id="{5EA428D9-00D0-402B-8107-63EA44156E83}"/>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Farklılaşma stratejisi</a:t>
            </a:r>
          </a:p>
        </p:txBody>
      </p:sp>
      <p:sp>
        <p:nvSpPr>
          <p:cNvPr id="2" name="text-123">
            <a:extLst xmlns:a="http://schemas.openxmlformats.org/drawingml/2006/main">
              <a:ext uri="{FF2B5EF4-FFF2-40B4-BE49-F238E27FC236}">
                <a16:creationId xmlns:a16="http://schemas.microsoft.com/office/drawing/2014/main" id="{233A3336-E45F-40AF-AC9C-0E76DCD3D836}"/>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Özellik sayısından önce, satıcının tekrar eden iş akışında değer</a:t>
            </a:r>
          </a:p>
        </p:txBody>
      </p:sp>
      <p:sp>
        <p:nvSpPr>
          <p:cNvPr id="3" name="text-124">
            <a:extLst xmlns:a="http://schemas.openxmlformats.org/drawingml/2006/main">
              <a:ext uri="{FF2B5EF4-FFF2-40B4-BE49-F238E27FC236}">
                <a16:creationId xmlns:a16="http://schemas.microsoft.com/office/drawing/2014/main" id="{E6927CBF-4143-45D7-953C-C6D288AF0F10}"/>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25">
            <a:extLst xmlns:a="http://schemas.openxmlformats.org/drawingml/2006/main">
              <a:ext uri="{FF2B5EF4-FFF2-40B4-BE49-F238E27FC236}">
                <a16:creationId xmlns:a16="http://schemas.microsoft.com/office/drawing/2014/main" id="{AD229E4C-EE53-4292-BADF-26E9016257E2}"/>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13</a:t>
            </a:r>
          </a:p>
        </p:txBody>
      </p:sp>
      <p:sp>
        <p:nvSpPr>
          <p:cNvPr id="5" name="text-126">
            <a:extLst xmlns:a="http://schemas.openxmlformats.org/drawingml/2006/main">
              <a:ext uri="{FF2B5EF4-FFF2-40B4-BE49-F238E27FC236}">
                <a16:creationId xmlns:a16="http://schemas.microsoft.com/office/drawing/2014/main" id="{57927102-C568-48AA-93AE-88B178EFD960}"/>
              </a:ext>
            </a:extLst>
          </p:cNvPr>
          <p:cNvSpPr>
            <a:spLocks xmlns:a="http://schemas.openxmlformats.org/drawingml/2006/main" noGrp="1"/>
          </p:cNvSpPr>
          <p:nvPr/>
        </p:nvSpPr>
        <p:spPr>
          <a:xfrm xmlns:a="http://schemas.openxmlformats.org/drawingml/2006/main">
            <a:off x="733425" y="254317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81B3A"/>
                </a:solidFill>
                <a:latin typeface="Arial"/>
                <a:ea typeface="Arial"/>
                <a:cs typeface="Arial"/>
              </a:defRPr>
            </a:defPPr>
          </a:lstStyle>
          <a:p xmlns:a="http://schemas.openxmlformats.org/drawingml/2006/main">
            <a:pPr algn="l">
              <a:defRPr sz="2775" b="1">
                <a:solidFill>
                  <a:srgbClr val="081B3A"/>
                </a:solidFill>
                <a:latin typeface="Arial"/>
                <a:ea typeface="Arial"/>
                <a:cs typeface="Arial"/>
              </a:defRPr>
            </a:pPr>
            <a:r>
              <a:rPr sz="2775" b="1">
                <a:solidFill>
                  <a:srgbClr val="081B3A"/>
                </a:solidFill>
                <a:latin typeface="Arial"/>
                <a:ea typeface="Arial"/>
                <a:cs typeface="Arial"/>
              </a:rPr>
              <a:t>Yerel partner ilişkileri</a:t>
            </a:r>
          </a:p>
        </p:txBody>
      </p:sp>
      <p:sp>
        <p:nvSpPr>
          <p:cNvPr id="6" name="text-127">
            <a:extLst xmlns:a="http://schemas.openxmlformats.org/drawingml/2006/main">
              <a:ext uri="{FF2B5EF4-FFF2-40B4-BE49-F238E27FC236}">
                <a16:creationId xmlns:a16="http://schemas.microsoft.com/office/drawing/2014/main" id="{2EDB98B5-68B4-45A9-8F0D-C352FD8E2934}"/>
              </a:ext>
            </a:extLst>
          </p:cNvPr>
          <p:cNvSpPr>
            <a:spLocks xmlns:a="http://schemas.openxmlformats.org/drawingml/2006/main" noGrp="1"/>
          </p:cNvSpPr>
          <p:nvPr/>
        </p:nvSpPr>
        <p:spPr>
          <a:xfrm xmlns:a="http://schemas.openxmlformats.org/drawingml/2006/main">
            <a:off x="771525" y="3257550"/>
            <a:ext cx="5810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A82"/>
                </a:solidFill>
                <a:latin typeface="Arial"/>
                <a:ea typeface="Arial"/>
                <a:cs typeface="Arial"/>
              </a:defRPr>
            </a:defPPr>
          </a:lstStyle>
          <a:p xmlns:a="http://schemas.openxmlformats.org/drawingml/2006/main">
            <a:pPr algn="l">
              <a:defRPr sz="2025" b="0">
                <a:solidFill>
                  <a:srgbClr val="596A82"/>
                </a:solidFill>
                <a:latin typeface="Arial"/>
                <a:ea typeface="Arial"/>
                <a:cs typeface="Arial"/>
              </a:defRPr>
            </a:pPr>
            <a:r>
              <a:rPr sz="2025" b="0">
                <a:solidFill>
                  <a:srgbClr val="596A82"/>
                </a:solidFill>
                <a:latin typeface="Arial"/>
                <a:ea typeface="Arial"/>
                <a:cs typeface="Arial"/>
              </a:rPr>
              <a:t>Tek sektörde kaliteli tedarik</a:t>
            </a:r>
          </a:p>
          <a:p xmlns:a="http://schemas.openxmlformats.org/drawingml/2006/main">
            <a:pPr algn="l">
              <a:defRPr sz="2025" b="0">
                <a:solidFill>
                  <a:srgbClr val="596A82"/>
                </a:solidFill>
                <a:latin typeface="Arial"/>
                <a:ea typeface="Arial"/>
                <a:cs typeface="Arial"/>
              </a:defRPr>
            </a:pPr>
            <a:r>
              <a:rPr sz="2025" b="0">
                <a:solidFill>
                  <a:srgbClr val="596A82"/>
                </a:solidFill>
                <a:latin typeface="Arial"/>
                <a:ea typeface="Arial"/>
                <a:cs typeface="Arial"/>
              </a:rPr>
              <a:t>ve uygun içerik eşleşmesi</a:t>
            </a:r>
          </a:p>
        </p:txBody>
      </p:sp>
      <p:sp>
        <p:nvSpPr>
          <p:cNvPr id="7" name="text-128">
            <a:extLst xmlns:a="http://schemas.openxmlformats.org/drawingml/2006/main">
              <a:ext uri="{FF2B5EF4-FFF2-40B4-BE49-F238E27FC236}">
                <a16:creationId xmlns:a16="http://schemas.microsoft.com/office/drawing/2014/main" id="{602D2265-B289-47B2-9335-F51D1ED0D939}"/>
              </a:ext>
            </a:extLst>
          </p:cNvPr>
          <p:cNvSpPr>
            <a:spLocks xmlns:a="http://schemas.openxmlformats.org/drawingml/2006/main" noGrp="1"/>
          </p:cNvSpPr>
          <p:nvPr/>
        </p:nvSpPr>
        <p:spPr>
          <a:xfrm xmlns:a="http://schemas.openxmlformats.org/drawingml/2006/main">
            <a:off x="733425" y="4276725"/>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81B3A"/>
                </a:solidFill>
                <a:latin typeface="Arial"/>
                <a:ea typeface="Arial"/>
                <a:cs typeface="Arial"/>
              </a:defRPr>
            </a:defPPr>
          </a:lstStyle>
          <a:p xmlns:a="http://schemas.openxmlformats.org/drawingml/2006/main">
            <a:pPr algn="l">
              <a:defRPr sz="2775" b="1">
                <a:solidFill>
                  <a:srgbClr val="081B3A"/>
                </a:solidFill>
                <a:latin typeface="Arial"/>
                <a:ea typeface="Arial"/>
                <a:cs typeface="Arial"/>
              </a:defRPr>
            </a:pPr>
            <a:r>
              <a:rPr sz="2775" b="1">
                <a:solidFill>
                  <a:srgbClr val="081B3A"/>
                </a:solidFill>
                <a:latin typeface="Arial"/>
                <a:ea typeface="Arial"/>
                <a:cs typeface="Arial"/>
              </a:rPr>
              <a:t>Tekrar eden operasyon</a:t>
            </a:r>
          </a:p>
        </p:txBody>
      </p:sp>
      <p:sp>
        <p:nvSpPr>
          <p:cNvPr id="8" name="text-129">
            <a:extLst xmlns:a="http://schemas.openxmlformats.org/drawingml/2006/main">
              <a:ext uri="{FF2B5EF4-FFF2-40B4-BE49-F238E27FC236}">
                <a16:creationId xmlns:a16="http://schemas.microsoft.com/office/drawing/2014/main" id="{264105C7-0B77-4EAA-887F-5137B8839A40}"/>
              </a:ext>
            </a:extLst>
          </p:cNvPr>
          <p:cNvSpPr>
            <a:spLocks xmlns:a="http://schemas.openxmlformats.org/drawingml/2006/main" noGrp="1"/>
          </p:cNvSpPr>
          <p:nvPr/>
        </p:nvSpPr>
        <p:spPr>
          <a:xfrm xmlns:a="http://schemas.openxmlformats.org/drawingml/2006/main">
            <a:off x="771525" y="5010150"/>
            <a:ext cx="5810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A82"/>
                </a:solidFill>
                <a:latin typeface="Arial"/>
                <a:ea typeface="Arial"/>
                <a:cs typeface="Arial"/>
              </a:defRPr>
            </a:defPPr>
          </a:lstStyle>
          <a:p xmlns:a="http://schemas.openxmlformats.org/drawingml/2006/main">
            <a:pPr algn="l">
              <a:defRPr sz="2025" b="0">
                <a:solidFill>
                  <a:srgbClr val="596A82"/>
                </a:solidFill>
                <a:latin typeface="Arial"/>
                <a:ea typeface="Arial"/>
                <a:cs typeface="Arial"/>
              </a:defRPr>
            </a:pPr>
            <a:r>
              <a:rPr sz="2025" b="0">
                <a:solidFill>
                  <a:srgbClr val="596A82"/>
                </a:solidFill>
                <a:latin typeface="Arial"/>
                <a:ea typeface="Arial"/>
                <a:cs typeface="Arial"/>
              </a:rPr>
              <a:t>Sipariş, iş teslimi ve hakediş takibini</a:t>
            </a:r>
          </a:p>
          <a:p xmlns:a="http://schemas.openxmlformats.org/drawingml/2006/main">
            <a:pPr algn="l">
              <a:defRPr sz="2025" b="0">
                <a:solidFill>
                  <a:srgbClr val="596A82"/>
                </a:solidFill>
                <a:latin typeface="Arial"/>
                <a:ea typeface="Arial"/>
                <a:cs typeface="Arial"/>
              </a:defRPr>
            </a:pPr>
            <a:r>
              <a:rPr sz="2025" b="0">
                <a:solidFill>
                  <a:srgbClr val="596A82"/>
                </a:solidFill>
                <a:latin typeface="Arial"/>
                <a:ea typeface="Arial"/>
                <a:cs typeface="Arial"/>
              </a:rPr>
              <a:t>aynı kayıtta tutma</a:t>
            </a:r>
          </a:p>
        </p:txBody>
      </p:sp>
      <p:pic>
        <p:nvPicPr>
          <p:cNvPr id="9" name="">
            <a:extLst xmlns:a="http://schemas.openxmlformats.org/drawingml/2006/main">
              <a:ext uri="{FF2B5EF4-FFF2-40B4-BE49-F238E27FC236}">
                <a16:creationId xmlns:a16="http://schemas.microsoft.com/office/drawing/2014/main" id="{F34FEEE3-F05B-4CC5-B4B8-6AA8273803A3}"/>
              </a:ext>
            </a:extLst>
          </p:cNvPr>
          <p:cNvPicPr>
            <a:picLocks xmlns:a="http://schemas.openxmlformats.org/drawingml/2006/main" noChangeAspect="1"/>
          </p:cNvPicPr>
          <p:nvPr/>
        </p:nvPicPr>
        <p:blipFill>
          <a:blip xmlns:r="http://schemas.openxmlformats.org/officeDocument/2006/relationships" xmlns:a="http://schemas.openxmlformats.org/drawingml/2006/main" r:embed="R91b65b31f518421d"/>
          <a:srcRect xmlns:a="http://schemas.openxmlformats.org/drawingml/2006/main" l="7031" t="0" r="7031" b="0"/>
          <a:stretch xmlns:a="http://schemas.openxmlformats.org/drawingml/2006/main">
            <a:fillRect l="0" t="0" r="0" b="0"/>
          </a:stretch>
        </p:blipFill>
        <p:spPr>
          <a:xfrm xmlns:a="http://schemas.openxmlformats.org/drawingml/2006/main">
            <a:off x="7505700" y="2752725"/>
            <a:ext cx="4000500" cy="2600325"/>
          </a:xfrm>
          <a:prstGeom xmlns:a="http://schemas.openxmlformats.org/drawingml/2006/main" prst="rect">
            <a:avLst/>
          </a:prstGeom>
        </p:spPr>
      </p:pic>
      <p:sp>
        <p:nvSpPr>
          <p:cNvPr id="10" name="text-130">
            <a:extLst xmlns:a="http://schemas.openxmlformats.org/drawingml/2006/main">
              <a:ext uri="{FF2B5EF4-FFF2-40B4-BE49-F238E27FC236}">
                <a16:creationId xmlns:a16="http://schemas.microsoft.com/office/drawing/2014/main" id="{99FB1D27-358E-4D0B-A81E-7EBBCB9A4D5B}"/>
              </a:ext>
            </a:extLst>
          </p:cNvPr>
          <p:cNvSpPr>
            <a:spLocks xmlns:a="http://schemas.openxmlformats.org/drawingml/2006/main" noGrp="1"/>
          </p:cNvSpPr>
          <p:nvPr/>
        </p:nvSpPr>
        <p:spPr>
          <a:xfrm xmlns:a="http://schemas.openxmlformats.org/drawingml/2006/main">
            <a:off x="7543800" y="5524500"/>
            <a:ext cx="388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6A82"/>
                </a:solidFill>
                <a:latin typeface="Arial"/>
                <a:ea typeface="Arial"/>
                <a:cs typeface="Arial"/>
              </a:defRPr>
            </a:defPPr>
          </a:lstStyle>
          <a:p xmlns:a="http://schemas.openxmlformats.org/drawingml/2006/main">
            <a:pPr algn="l">
              <a:defRPr sz="1350" b="0">
                <a:solidFill>
                  <a:srgbClr val="596A82"/>
                </a:solidFill>
                <a:latin typeface="Arial"/>
                <a:ea typeface="Arial"/>
                <a:cs typeface="Arial"/>
              </a:defRPr>
            </a:pPr>
            <a:r>
              <a:rPr sz="1350" b="0">
                <a:solidFill>
                  <a:srgbClr val="596A82"/>
                </a:solidFill>
                <a:latin typeface="Arial"/>
                <a:ea typeface="Arial"/>
                <a:cs typeface="Arial"/>
              </a:rPr>
              <a:t>Temsili iş birliği</a:t>
            </a:r>
          </a:p>
        </p:txBody>
      </p:sp>
      <p:sp>
        <p:nvSpPr>
          <p:cNvPr id="11" name="text-131">
            <a:extLst xmlns:a="http://schemas.openxmlformats.org/drawingml/2006/main">
              <a:ext uri="{FF2B5EF4-FFF2-40B4-BE49-F238E27FC236}">
                <a16:creationId xmlns:a16="http://schemas.microsoft.com/office/drawing/2014/main" id="{8B71B49A-DB46-4154-9DAE-5E55DEAE062D}"/>
              </a:ext>
            </a:extLst>
          </p:cNvPr>
          <p:cNvSpPr>
            <a:spLocks xmlns:a="http://schemas.openxmlformats.org/drawingml/2006/main" noGrp="1"/>
          </p:cNvSpPr>
          <p:nvPr/>
        </p:nvSpPr>
        <p:spPr>
          <a:xfrm xmlns:a="http://schemas.openxmlformats.org/drawingml/2006/main">
            <a:off x="771525" y="61055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96A82"/>
                </a:solidFill>
                <a:latin typeface="Arial"/>
                <a:ea typeface="Arial"/>
                <a:cs typeface="Arial"/>
              </a:defRPr>
            </a:defPPr>
          </a:lstStyle>
          <a:p xmlns:a="http://schemas.openxmlformats.org/drawingml/2006/main">
            <a:pPr algn="l">
              <a:defRPr sz="1425" b="0">
                <a:solidFill>
                  <a:srgbClr val="596A82"/>
                </a:solidFill>
                <a:latin typeface="Arial"/>
                <a:ea typeface="Arial"/>
                <a:cs typeface="Arial"/>
              </a:defRPr>
            </a:pPr>
            <a:r>
              <a:rPr sz="1425" b="0">
                <a:solidFill>
                  <a:srgbClr val="596A82"/>
                </a:solidFill>
                <a:latin typeface="Arial"/>
                <a:ea typeface="Arial"/>
                <a:cs typeface="Arial"/>
              </a:rPr>
              <a:t>Savunulabilirlik henüz bir hipotez. Pilot davranışıyla ölçülecek.</a:t>
            </a:r>
          </a:p>
        </p:txBody>
      </p:sp>
    </p:spTree>
    <p:extLst>
      <p:ext uri="{BB962C8B-B14F-4D97-AF65-F5344CB8AC3E}">
        <p14:creationId xmlns:p14="http://schemas.microsoft.com/office/powerpoint/2010/main" val="3406238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32">
            <a:extLst xmlns:a="http://schemas.openxmlformats.org/drawingml/2006/main">
              <a:ext uri="{FF2B5EF4-FFF2-40B4-BE49-F238E27FC236}">
                <a16:creationId xmlns:a16="http://schemas.microsoft.com/office/drawing/2014/main" id="{E4DF294A-4513-4712-8C89-BAF29EF126D0}"/>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Finansman sonrası yol haritası</a:t>
            </a:r>
          </a:p>
        </p:txBody>
      </p:sp>
      <p:sp>
        <p:nvSpPr>
          <p:cNvPr id="2" name="text-133">
            <a:extLst xmlns:a="http://schemas.openxmlformats.org/drawingml/2006/main">
              <a:ext uri="{FF2B5EF4-FFF2-40B4-BE49-F238E27FC236}">
                <a16:creationId xmlns:a16="http://schemas.microsoft.com/office/drawing/2014/main" id="{8528B790-60B7-4801-AA2E-0AC93B4ACB80}"/>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Önerilen 12 aylık plan, zaman ve bütçe onayına bağlı</a:t>
            </a:r>
          </a:p>
        </p:txBody>
      </p:sp>
      <p:sp>
        <p:nvSpPr>
          <p:cNvPr id="3" name="text-134">
            <a:extLst xmlns:a="http://schemas.openxmlformats.org/drawingml/2006/main">
              <a:ext uri="{FF2B5EF4-FFF2-40B4-BE49-F238E27FC236}">
                <a16:creationId xmlns:a16="http://schemas.microsoft.com/office/drawing/2014/main" id="{E1533D83-609B-4593-AABA-34CB85C72C80}"/>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35">
            <a:extLst xmlns:a="http://schemas.openxmlformats.org/drawingml/2006/main">
              <a:ext uri="{FF2B5EF4-FFF2-40B4-BE49-F238E27FC236}">
                <a16:creationId xmlns:a16="http://schemas.microsoft.com/office/drawing/2014/main" id="{05F14AEC-9E64-4816-9BC0-CD7DB53C8C2F}"/>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14</a:t>
            </a:r>
          </a:p>
        </p:txBody>
      </p:sp>
      <p:sp>
        <p:nvSpPr>
          <p:cNvPr id="5" name="text-136">
            <a:extLst xmlns:a="http://schemas.openxmlformats.org/drawingml/2006/main">
              <a:ext uri="{FF2B5EF4-FFF2-40B4-BE49-F238E27FC236}">
                <a16:creationId xmlns:a16="http://schemas.microsoft.com/office/drawing/2014/main" id="{A010248A-CB87-4120-8C67-955CC8C87A9F}"/>
              </a:ext>
            </a:extLst>
          </p:cNvPr>
          <p:cNvSpPr>
            <a:spLocks xmlns:a="http://schemas.openxmlformats.org/drawingml/2006/main" noGrp="1"/>
          </p:cNvSpPr>
          <p:nvPr/>
        </p:nvSpPr>
        <p:spPr>
          <a:xfrm xmlns:a="http://schemas.openxmlformats.org/drawingml/2006/main">
            <a:off x="714375" y="2438400"/>
            <a:ext cx="128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75FF7"/>
                </a:solidFill>
                <a:latin typeface="Arial"/>
                <a:ea typeface="Arial"/>
                <a:cs typeface="Arial"/>
              </a:defRPr>
            </a:defPPr>
          </a:lstStyle>
          <a:p xmlns:a="http://schemas.openxmlformats.org/drawingml/2006/main">
            <a:pPr algn="l">
              <a:defRPr sz="3000" b="1">
                <a:solidFill>
                  <a:srgbClr val="075FF7"/>
                </a:solidFill>
                <a:latin typeface="Arial"/>
                <a:ea typeface="Arial"/>
                <a:cs typeface="Arial"/>
              </a:defRPr>
            </a:pPr>
            <a:r>
              <a:rPr sz="3000" b="1">
                <a:solidFill>
                  <a:srgbClr val="075FF7"/>
                </a:solidFill>
                <a:latin typeface="Arial"/>
                <a:ea typeface="Arial"/>
                <a:cs typeface="Arial"/>
              </a:rPr>
              <a:t>0-3</a:t>
            </a:r>
          </a:p>
        </p:txBody>
      </p:sp>
      <p:sp>
        <p:nvSpPr>
          <p:cNvPr id="6" name="text-137">
            <a:extLst xmlns:a="http://schemas.openxmlformats.org/drawingml/2006/main">
              <a:ext uri="{FF2B5EF4-FFF2-40B4-BE49-F238E27FC236}">
                <a16:creationId xmlns:a16="http://schemas.microsoft.com/office/drawing/2014/main" id="{83D34667-F647-4B64-B7B3-7EE7872B80D4}"/>
              </a:ext>
            </a:extLst>
          </p:cNvPr>
          <p:cNvSpPr>
            <a:spLocks xmlns:a="http://schemas.openxmlformats.org/drawingml/2006/main" noGrp="1"/>
          </p:cNvSpPr>
          <p:nvPr/>
        </p:nvSpPr>
        <p:spPr>
          <a:xfrm xmlns:a="http://schemas.openxmlformats.org/drawingml/2006/main">
            <a:off x="2209800" y="2457450"/>
            <a:ext cx="9172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Canlı ürün akışı</a:t>
            </a:r>
          </a:p>
        </p:txBody>
      </p:sp>
      <p:sp>
        <p:nvSpPr>
          <p:cNvPr id="7" name="text-138">
            <a:extLst xmlns:a="http://schemas.openxmlformats.org/drawingml/2006/main">
              <a:ext uri="{FF2B5EF4-FFF2-40B4-BE49-F238E27FC236}">
                <a16:creationId xmlns:a16="http://schemas.microsoft.com/office/drawing/2014/main" id="{548F54FA-BF63-4219-9207-FE2A799EBB00}"/>
              </a:ext>
            </a:extLst>
          </p:cNvPr>
          <p:cNvSpPr>
            <a:spLocks xmlns:a="http://schemas.openxmlformats.org/drawingml/2006/main" noGrp="1"/>
          </p:cNvSpPr>
          <p:nvPr/>
        </p:nvSpPr>
        <p:spPr>
          <a:xfrm xmlns:a="http://schemas.openxmlformats.org/drawingml/2006/main">
            <a:off x="2209800" y="2914650"/>
            <a:ext cx="91725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Checkout, panel bağlantıları ve ödeme/kargo kabul testleri</a:t>
            </a:r>
          </a:p>
        </p:txBody>
      </p:sp>
      <p:sp>
        <p:nvSpPr>
          <p:cNvPr id="8" name="text-139">
            <a:extLst xmlns:a="http://schemas.openxmlformats.org/drawingml/2006/main">
              <a:ext uri="{FF2B5EF4-FFF2-40B4-BE49-F238E27FC236}">
                <a16:creationId xmlns:a16="http://schemas.microsoft.com/office/drawing/2014/main" id="{C5CF3C55-4B41-4F4A-84D2-3D372E1C709D}"/>
              </a:ext>
            </a:extLst>
          </p:cNvPr>
          <p:cNvSpPr>
            <a:spLocks xmlns:a="http://schemas.openxmlformats.org/drawingml/2006/main" noGrp="1"/>
          </p:cNvSpPr>
          <p:nvPr/>
        </p:nvSpPr>
        <p:spPr>
          <a:xfrm xmlns:a="http://schemas.openxmlformats.org/drawingml/2006/main">
            <a:off x="714375" y="3638550"/>
            <a:ext cx="128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75FF7"/>
                </a:solidFill>
                <a:latin typeface="Arial"/>
                <a:ea typeface="Arial"/>
                <a:cs typeface="Arial"/>
              </a:defRPr>
            </a:defPPr>
          </a:lstStyle>
          <a:p xmlns:a="http://schemas.openxmlformats.org/drawingml/2006/main">
            <a:pPr algn="l">
              <a:defRPr sz="3000" b="1">
                <a:solidFill>
                  <a:srgbClr val="075FF7"/>
                </a:solidFill>
                <a:latin typeface="Arial"/>
                <a:ea typeface="Arial"/>
                <a:cs typeface="Arial"/>
              </a:defRPr>
            </a:pPr>
            <a:r>
              <a:rPr sz="3000" b="1">
                <a:solidFill>
                  <a:srgbClr val="075FF7"/>
                </a:solidFill>
                <a:latin typeface="Arial"/>
                <a:ea typeface="Arial"/>
                <a:cs typeface="Arial"/>
              </a:rPr>
              <a:t>4-6</a:t>
            </a:r>
          </a:p>
        </p:txBody>
      </p:sp>
      <p:sp>
        <p:nvSpPr>
          <p:cNvPr id="9" name="text-140">
            <a:extLst xmlns:a="http://schemas.openxmlformats.org/drawingml/2006/main">
              <a:ext uri="{FF2B5EF4-FFF2-40B4-BE49-F238E27FC236}">
                <a16:creationId xmlns:a16="http://schemas.microsoft.com/office/drawing/2014/main" id="{35C0612E-A320-4FE5-99D0-6FE1A9528E4B}"/>
              </a:ext>
            </a:extLst>
          </p:cNvPr>
          <p:cNvSpPr>
            <a:spLocks xmlns:a="http://schemas.openxmlformats.org/drawingml/2006/main" noGrp="1"/>
          </p:cNvSpPr>
          <p:nvPr/>
        </p:nvSpPr>
        <p:spPr>
          <a:xfrm xmlns:a="http://schemas.openxmlformats.org/drawingml/2006/main">
            <a:off x="2209800" y="3657600"/>
            <a:ext cx="9172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Kontrollü pilot</a:t>
            </a:r>
          </a:p>
        </p:txBody>
      </p:sp>
      <p:sp>
        <p:nvSpPr>
          <p:cNvPr id="10" name="text-141">
            <a:extLst xmlns:a="http://schemas.openxmlformats.org/drawingml/2006/main">
              <a:ext uri="{FF2B5EF4-FFF2-40B4-BE49-F238E27FC236}">
                <a16:creationId xmlns:a16="http://schemas.microsoft.com/office/drawing/2014/main" id="{246AA95D-B099-415C-8348-2069EB2206E9}"/>
              </a:ext>
            </a:extLst>
          </p:cNvPr>
          <p:cNvSpPr>
            <a:spLocks xmlns:a="http://schemas.openxmlformats.org/drawingml/2006/main" noGrp="1"/>
          </p:cNvSpPr>
          <p:nvPr/>
        </p:nvSpPr>
        <p:spPr>
          <a:xfrm xmlns:a="http://schemas.openxmlformats.org/drawingml/2006/main">
            <a:off x="2209800" y="4114800"/>
            <a:ext cx="91725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Mağaza aktivasyonu, tekrar satış ve fiyatlama görüşmeleri</a:t>
            </a:r>
          </a:p>
        </p:txBody>
      </p:sp>
      <p:sp>
        <p:nvSpPr>
          <p:cNvPr id="11" name="text-142">
            <a:extLst xmlns:a="http://schemas.openxmlformats.org/drawingml/2006/main">
              <a:ext uri="{FF2B5EF4-FFF2-40B4-BE49-F238E27FC236}">
                <a16:creationId xmlns:a16="http://schemas.microsoft.com/office/drawing/2014/main" id="{96BD101B-DC42-472D-B026-7E49893186F9}"/>
              </a:ext>
            </a:extLst>
          </p:cNvPr>
          <p:cNvSpPr>
            <a:spLocks xmlns:a="http://schemas.openxmlformats.org/drawingml/2006/main" noGrp="1"/>
          </p:cNvSpPr>
          <p:nvPr/>
        </p:nvSpPr>
        <p:spPr>
          <a:xfrm xmlns:a="http://schemas.openxmlformats.org/drawingml/2006/main">
            <a:off x="714375" y="4838700"/>
            <a:ext cx="128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75FF7"/>
                </a:solidFill>
                <a:latin typeface="Arial"/>
                <a:ea typeface="Arial"/>
                <a:cs typeface="Arial"/>
              </a:defRPr>
            </a:defPPr>
          </a:lstStyle>
          <a:p xmlns:a="http://schemas.openxmlformats.org/drawingml/2006/main">
            <a:pPr algn="l">
              <a:defRPr sz="3000" b="1">
                <a:solidFill>
                  <a:srgbClr val="075FF7"/>
                </a:solidFill>
                <a:latin typeface="Arial"/>
                <a:ea typeface="Arial"/>
                <a:cs typeface="Arial"/>
              </a:defRPr>
            </a:pPr>
            <a:r>
              <a:rPr sz="3000" b="1">
                <a:solidFill>
                  <a:srgbClr val="075FF7"/>
                </a:solidFill>
                <a:latin typeface="Arial"/>
                <a:ea typeface="Arial"/>
                <a:cs typeface="Arial"/>
              </a:rPr>
              <a:t>7-12</a:t>
            </a:r>
          </a:p>
        </p:txBody>
      </p:sp>
      <p:sp>
        <p:nvSpPr>
          <p:cNvPr id="12" name="text-143">
            <a:extLst xmlns:a="http://schemas.openxmlformats.org/drawingml/2006/main">
              <a:ext uri="{FF2B5EF4-FFF2-40B4-BE49-F238E27FC236}">
                <a16:creationId xmlns:a16="http://schemas.microsoft.com/office/drawing/2014/main" id="{A88C5E3D-0C7F-41C7-A37C-CA3152899961}"/>
              </a:ext>
            </a:extLst>
          </p:cNvPr>
          <p:cNvSpPr>
            <a:spLocks xmlns:a="http://schemas.openxmlformats.org/drawingml/2006/main" noGrp="1"/>
          </p:cNvSpPr>
          <p:nvPr/>
        </p:nvSpPr>
        <p:spPr>
          <a:xfrm xmlns:a="http://schemas.openxmlformats.org/drawingml/2006/main">
            <a:off x="2209800" y="4857750"/>
            <a:ext cx="9172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1B3A"/>
                </a:solidFill>
                <a:latin typeface="Arial"/>
                <a:ea typeface="Arial"/>
                <a:cs typeface="Arial"/>
              </a:defRPr>
            </a:defPPr>
          </a:lstStyle>
          <a:p xmlns:a="http://schemas.openxmlformats.org/drawingml/2006/main">
            <a:pPr algn="l">
              <a:defRPr sz="2175" b="1">
                <a:solidFill>
                  <a:srgbClr val="081B3A"/>
                </a:solidFill>
                <a:latin typeface="Arial"/>
                <a:ea typeface="Arial"/>
                <a:cs typeface="Arial"/>
              </a:defRPr>
            </a:pPr>
            <a:r>
              <a:rPr sz="2175" b="1">
                <a:solidFill>
                  <a:srgbClr val="081B3A"/>
                </a:solidFill>
                <a:latin typeface="Arial"/>
                <a:ea typeface="Arial"/>
                <a:cs typeface="Arial"/>
              </a:rPr>
              <a:t>Kanıta göre genişleme</a:t>
            </a:r>
          </a:p>
        </p:txBody>
      </p:sp>
      <p:sp>
        <p:nvSpPr>
          <p:cNvPr id="13" name="text-144">
            <a:extLst xmlns:a="http://schemas.openxmlformats.org/drawingml/2006/main">
              <a:ext uri="{FF2B5EF4-FFF2-40B4-BE49-F238E27FC236}">
                <a16:creationId xmlns:a16="http://schemas.microsoft.com/office/drawing/2014/main" id="{1188BCB3-F21D-4B88-80DF-2FF5445A3D5C}"/>
              </a:ext>
            </a:extLst>
          </p:cNvPr>
          <p:cNvSpPr>
            <a:spLocks xmlns:a="http://schemas.openxmlformats.org/drawingml/2006/main" noGrp="1"/>
          </p:cNvSpPr>
          <p:nvPr/>
        </p:nvSpPr>
        <p:spPr>
          <a:xfrm xmlns:a="http://schemas.openxmlformats.org/drawingml/2006/main">
            <a:off x="2209800" y="5314950"/>
            <a:ext cx="91725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Tekrar kullanım ve katkı marjı doğrulanırsa yeni gruplar</a:t>
            </a:r>
          </a:p>
        </p:txBody>
      </p:sp>
    </p:spTree>
    <p:extLst>
      <p:ext uri="{BB962C8B-B14F-4D97-AF65-F5344CB8AC3E}">
        <p14:creationId xmlns:p14="http://schemas.microsoft.com/office/powerpoint/2010/main" val="17630902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45">
            <a:extLst xmlns:a="http://schemas.openxmlformats.org/drawingml/2006/main">
              <a:ext uri="{FF2B5EF4-FFF2-40B4-BE49-F238E27FC236}">
                <a16:creationId xmlns:a16="http://schemas.microsoft.com/office/drawing/2014/main" id="{0A221435-0E6B-4710-9A20-974187EFC40B}"/>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Yatırımın kullanımı</a:t>
            </a:r>
          </a:p>
        </p:txBody>
      </p:sp>
      <p:sp>
        <p:nvSpPr>
          <p:cNvPr id="2" name="text-146">
            <a:extLst xmlns:a="http://schemas.openxmlformats.org/drawingml/2006/main">
              <a:ext uri="{FF2B5EF4-FFF2-40B4-BE49-F238E27FC236}">
                <a16:creationId xmlns:a16="http://schemas.microsoft.com/office/drawing/2014/main" id="{BA79171D-FC1A-48A8-B30C-D477DE923BC8}"/>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Amaç: 12 aylık canlı ürün ve ücretli pilot dönemi</a:t>
            </a:r>
          </a:p>
        </p:txBody>
      </p:sp>
      <p:sp>
        <p:nvSpPr>
          <p:cNvPr id="3" name="text-147">
            <a:extLst xmlns:a="http://schemas.openxmlformats.org/drawingml/2006/main">
              <a:ext uri="{FF2B5EF4-FFF2-40B4-BE49-F238E27FC236}">
                <a16:creationId xmlns:a16="http://schemas.microsoft.com/office/drawing/2014/main" id="{7AF88C78-6573-4B5B-8CE5-4184759EA673}"/>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48">
            <a:extLst xmlns:a="http://schemas.openxmlformats.org/drawingml/2006/main">
              <a:ext uri="{FF2B5EF4-FFF2-40B4-BE49-F238E27FC236}">
                <a16:creationId xmlns:a16="http://schemas.microsoft.com/office/drawing/2014/main" id="{322A3154-F57B-40C1-AEA0-704DAEB3611D}"/>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C7D87CFA-337F-4E55-821B-DADDC5F1C004}"/>
              </a:ext>
            </a:extLst>
          </p:cNvPr>
          <p:cNvGraphicFramePr/>
          <p:nvPr/>
        </p:nvGraphicFramePr>
        <p:xfrm>
          <a:off xmlns:a="http://schemas.openxmlformats.org/drawingml/2006/main" x="638175" y="2209800"/>
          <a:ext xmlns:a="http://schemas.openxmlformats.org/drawingml/2006/main" cx="5267325" cy="3438525"/>
        </p:xfrm>
        <a:graphic xmlns:a="http://schemas.openxmlformats.org/drawingml/2006/main">
          <a:graphicData uri="http://schemas.openxmlformats.org/drawingml/2006/chart">
            <c:chart xmlns:r="http://schemas.openxmlformats.org/officeDocument/2006/relationships" xmlns:c="http://schemas.openxmlformats.org/drawingml/2006/chart" r:id="Rd8321ff0330d414f"/>
          </a:graphicData>
        </a:graphic>
      </p:graphicFrame>
      <p:sp>
        <p:nvSpPr>
          <p:cNvPr id="6" name="text-149">
            <a:extLst xmlns:a="http://schemas.openxmlformats.org/drawingml/2006/main">
              <a:ext uri="{FF2B5EF4-FFF2-40B4-BE49-F238E27FC236}">
                <a16:creationId xmlns:a16="http://schemas.microsoft.com/office/drawing/2014/main" id="{98A92B17-F4E9-437E-9897-8C6F6E7DC61A}"/>
              </a:ext>
            </a:extLst>
          </p:cNvPr>
          <p:cNvSpPr>
            <a:spLocks xmlns:a="http://schemas.openxmlformats.org/drawingml/2006/main" noGrp="1"/>
          </p:cNvSpPr>
          <p:nvPr/>
        </p:nvSpPr>
        <p:spPr>
          <a:xfrm xmlns:a="http://schemas.openxmlformats.org/drawingml/2006/main">
            <a:off x="6381750" y="25146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1B3A"/>
                </a:solidFill>
                <a:latin typeface="Arial"/>
                <a:ea typeface="Arial"/>
                <a:cs typeface="Arial"/>
              </a:defRPr>
            </a:defPPr>
          </a:lstStyle>
          <a:p xmlns:a="http://schemas.openxmlformats.org/drawingml/2006/main">
            <a:pPr algn="l">
              <a:defRPr sz="2250" b="1">
                <a:solidFill>
                  <a:srgbClr val="081B3A"/>
                </a:solidFill>
                <a:latin typeface="Arial"/>
                <a:ea typeface="Arial"/>
                <a:cs typeface="Arial"/>
              </a:defRPr>
            </a:pPr>
            <a:r>
              <a:rPr sz="2250" b="1">
                <a:solidFill>
                  <a:srgbClr val="081B3A"/>
                </a:solidFill>
                <a:latin typeface="Arial"/>
                <a:ea typeface="Arial"/>
                <a:cs typeface="Arial"/>
              </a:rPr>
              <a:t>%45  Ürün ve mühendislik</a:t>
            </a:r>
          </a:p>
        </p:txBody>
      </p:sp>
      <p:sp>
        <p:nvSpPr>
          <p:cNvPr id="7" name="text-150">
            <a:extLst xmlns:a="http://schemas.openxmlformats.org/drawingml/2006/main">
              <a:ext uri="{FF2B5EF4-FFF2-40B4-BE49-F238E27FC236}">
                <a16:creationId xmlns:a16="http://schemas.microsoft.com/office/drawing/2014/main" id="{B5F7B071-75CE-4D36-81B2-FC01F1785D5E}"/>
              </a:ext>
            </a:extLst>
          </p:cNvPr>
          <p:cNvSpPr>
            <a:spLocks xmlns:a="http://schemas.openxmlformats.org/drawingml/2006/main" noGrp="1"/>
          </p:cNvSpPr>
          <p:nvPr/>
        </p:nvSpPr>
        <p:spPr>
          <a:xfrm xmlns:a="http://schemas.openxmlformats.org/drawingml/2006/main">
            <a:off x="6381750" y="33432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1B3A"/>
                </a:solidFill>
                <a:latin typeface="Arial"/>
                <a:ea typeface="Arial"/>
                <a:cs typeface="Arial"/>
              </a:defRPr>
            </a:defPPr>
          </a:lstStyle>
          <a:p xmlns:a="http://schemas.openxmlformats.org/drawingml/2006/main">
            <a:pPr algn="l">
              <a:defRPr sz="2250" b="1">
                <a:solidFill>
                  <a:srgbClr val="081B3A"/>
                </a:solidFill>
                <a:latin typeface="Arial"/>
                <a:ea typeface="Arial"/>
                <a:cs typeface="Arial"/>
              </a:defRPr>
            </a:pPr>
            <a:r>
              <a:rPr sz="2250" b="1">
                <a:solidFill>
                  <a:srgbClr val="081B3A"/>
                </a:solidFill>
                <a:latin typeface="Arial"/>
                <a:ea typeface="Arial"/>
                <a:cs typeface="Arial"/>
              </a:rPr>
              <a:t>%25  Satış ve pilot</a:t>
            </a:r>
          </a:p>
        </p:txBody>
      </p:sp>
      <p:sp>
        <p:nvSpPr>
          <p:cNvPr id="8" name="text-151">
            <a:extLst xmlns:a="http://schemas.openxmlformats.org/drawingml/2006/main">
              <a:ext uri="{FF2B5EF4-FFF2-40B4-BE49-F238E27FC236}">
                <a16:creationId xmlns:a16="http://schemas.microsoft.com/office/drawing/2014/main" id="{B7DB0075-5FE3-48DB-9659-768ECB1047E1}"/>
              </a:ext>
            </a:extLst>
          </p:cNvPr>
          <p:cNvSpPr>
            <a:spLocks xmlns:a="http://schemas.openxmlformats.org/drawingml/2006/main" noGrp="1"/>
          </p:cNvSpPr>
          <p:nvPr/>
        </p:nvSpPr>
        <p:spPr>
          <a:xfrm xmlns:a="http://schemas.openxmlformats.org/drawingml/2006/main">
            <a:off x="6381750" y="41719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1B3A"/>
                </a:solidFill>
                <a:latin typeface="Arial"/>
                <a:ea typeface="Arial"/>
                <a:cs typeface="Arial"/>
              </a:defRPr>
            </a:defPPr>
          </a:lstStyle>
          <a:p xmlns:a="http://schemas.openxmlformats.org/drawingml/2006/main">
            <a:pPr algn="l">
              <a:defRPr sz="2250" b="1">
                <a:solidFill>
                  <a:srgbClr val="081B3A"/>
                </a:solidFill>
                <a:latin typeface="Arial"/>
                <a:ea typeface="Arial"/>
                <a:cs typeface="Arial"/>
              </a:defRPr>
            </a:pPr>
            <a:r>
              <a:rPr sz="2250" b="1">
                <a:solidFill>
                  <a:srgbClr val="081B3A"/>
                </a:solidFill>
                <a:latin typeface="Arial"/>
                <a:ea typeface="Arial"/>
                <a:cs typeface="Arial"/>
              </a:rPr>
              <a:t>%20  Entegrasyon</a:t>
            </a:r>
          </a:p>
        </p:txBody>
      </p:sp>
      <p:sp>
        <p:nvSpPr>
          <p:cNvPr id="9" name="text-152">
            <a:extLst xmlns:a="http://schemas.openxmlformats.org/drawingml/2006/main">
              <a:ext uri="{FF2B5EF4-FFF2-40B4-BE49-F238E27FC236}">
                <a16:creationId xmlns:a16="http://schemas.microsoft.com/office/drawing/2014/main" id="{4839A3AB-7B70-4007-BC83-9B6224895746}"/>
              </a:ext>
            </a:extLst>
          </p:cNvPr>
          <p:cNvSpPr>
            <a:spLocks xmlns:a="http://schemas.openxmlformats.org/drawingml/2006/main" noGrp="1"/>
          </p:cNvSpPr>
          <p:nvPr/>
        </p:nvSpPr>
        <p:spPr>
          <a:xfrm xmlns:a="http://schemas.openxmlformats.org/drawingml/2006/main">
            <a:off x="6381750" y="5000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1B3A"/>
                </a:solidFill>
                <a:latin typeface="Arial"/>
                <a:ea typeface="Arial"/>
                <a:cs typeface="Arial"/>
              </a:defRPr>
            </a:defPPr>
          </a:lstStyle>
          <a:p xmlns:a="http://schemas.openxmlformats.org/drawingml/2006/main">
            <a:pPr algn="l">
              <a:defRPr sz="2250" b="1">
                <a:solidFill>
                  <a:srgbClr val="081B3A"/>
                </a:solidFill>
                <a:latin typeface="Arial"/>
                <a:ea typeface="Arial"/>
                <a:cs typeface="Arial"/>
              </a:defRPr>
            </a:pPr>
            <a:r>
              <a:rPr sz="2250" b="1">
                <a:solidFill>
                  <a:srgbClr val="081B3A"/>
                </a:solidFill>
                <a:latin typeface="Arial"/>
                <a:ea typeface="Arial"/>
                <a:cs typeface="Arial"/>
              </a:rPr>
              <a:t>%10  Operasyon</a:t>
            </a:r>
          </a:p>
        </p:txBody>
      </p:sp>
      <p:sp>
        <p:nvSpPr>
          <p:cNvPr id="10" name="text-153">
            <a:extLst xmlns:a="http://schemas.openxmlformats.org/drawingml/2006/main">
              <a:ext uri="{FF2B5EF4-FFF2-40B4-BE49-F238E27FC236}">
                <a16:creationId xmlns:a16="http://schemas.microsoft.com/office/drawing/2014/main" id="{00B794DE-E6F4-4E33-A902-12367EABEC3C}"/>
              </a:ext>
            </a:extLst>
          </p:cNvPr>
          <p:cNvSpPr>
            <a:spLocks xmlns:a="http://schemas.openxmlformats.org/drawingml/2006/main" noGrp="1"/>
          </p:cNvSpPr>
          <p:nvPr/>
        </p:nvSpPr>
        <p:spPr>
          <a:xfrm xmlns:a="http://schemas.openxmlformats.org/drawingml/2006/main">
            <a:off x="752475" y="5953125"/>
            <a:ext cx="10715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A82"/>
                </a:solidFill>
                <a:latin typeface="Arial"/>
                <a:ea typeface="Arial"/>
                <a:cs typeface="Arial"/>
              </a:defRPr>
            </a:defPPr>
          </a:lstStyle>
          <a:p xmlns:a="http://schemas.openxmlformats.org/drawingml/2006/main">
            <a:pPr algn="l">
              <a:defRPr sz="1575" b="0">
                <a:solidFill>
                  <a:srgbClr val="596A82"/>
                </a:solidFill>
                <a:latin typeface="Arial"/>
                <a:ea typeface="Arial"/>
                <a:cs typeface="Arial"/>
              </a:defRPr>
            </a:pPr>
            <a:r>
              <a:rPr sz="1575" b="0">
                <a:solidFill>
                  <a:srgbClr val="596A82"/>
                </a:solidFill>
                <a:latin typeface="Arial"/>
                <a:ea typeface="Arial"/>
                <a:cs typeface="Arial"/>
              </a:rPr>
              <a:t>Önerilen dağılım. Yatırım tutarı ve tur şartları bütçeyle netleşecek.</a:t>
            </a:r>
          </a:p>
        </p:txBody>
      </p:sp>
    </p:spTree>
    <p:extLst>
      <p:ext uri="{BB962C8B-B14F-4D97-AF65-F5344CB8AC3E}">
        <p14:creationId xmlns:p14="http://schemas.microsoft.com/office/powerpoint/2010/main" val="1663865660"/>
      </p:ext>
    </p:extLst>
  </p:cSld>
</p:sld>
</file>

<file path=ppt/slides/slide16.xml><?xml version="1.0" encoding="utf-8"?>
<p:sld xmlns:p="http://schemas.openxmlformats.org/presentationml/2006/main">
  <p:cSld>
    <p:bg>
      <p:bgPr>
        <a:solidFill xmlns:a="http://schemas.openxmlformats.org/drawingml/2006/main">
          <a:srgbClr val="081B3A"/>
        </a:solidFill>
      </p:bgPr>
    </p:bg>
    <p:spTree>
      <p:nvGrpSpPr>
        <p:cNvPr id="1" name=""/>
        <p:cNvGrpSpPr/>
        <p:nvPr/>
      </p:nvGrpSpPr>
      <p:grpSpPr>
        <a:xfrm xmlns:a="http://schemas.openxmlformats.org/drawingml/2006/main"/>
      </p:grpSpPr>
      <p:sp>
        <p:nvSpPr>
          <p:cNvPr id="8" name="text-154">
            <a:extLst xmlns:a="http://schemas.openxmlformats.org/drawingml/2006/main">
              <a:ext uri="{FF2B5EF4-FFF2-40B4-BE49-F238E27FC236}">
                <a16:creationId xmlns:a16="http://schemas.microsoft.com/office/drawing/2014/main" id="{05188C68-80F4-4234-A148-D47BEBF64C67}"/>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BDCAE1"/>
                </a:solidFill>
                <a:latin typeface="Arial"/>
                <a:ea typeface="Arial"/>
                <a:cs typeface="Arial"/>
              </a:defRPr>
            </a:defPPr>
          </a:lstStyle>
          <a:p xmlns:a="http://schemas.openxmlformats.org/drawingml/2006/main">
            <a:pPr algn="l">
              <a:defRPr sz="1125" b="1">
                <a:solidFill>
                  <a:srgbClr val="BDCAE1"/>
                </a:solidFill>
                <a:latin typeface="Arial"/>
                <a:ea typeface="Arial"/>
                <a:cs typeface="Arial"/>
              </a:defRPr>
            </a:pPr>
            <a:r>
              <a:rPr sz="1125" b="1">
                <a:solidFill>
                  <a:srgbClr val="BDCAE1"/>
                </a:solidFill>
                <a:latin typeface="Arial"/>
                <a:ea typeface="Arial"/>
                <a:cs typeface="Arial"/>
              </a:rPr>
              <a:t>ALCEIX</a:t>
            </a:r>
          </a:p>
        </p:txBody>
      </p:sp>
      <p:sp>
        <p:nvSpPr>
          <p:cNvPr id="2" name="text-155">
            <a:extLst xmlns:a="http://schemas.openxmlformats.org/drawingml/2006/main">
              <a:ext uri="{FF2B5EF4-FFF2-40B4-BE49-F238E27FC236}">
                <a16:creationId xmlns:a16="http://schemas.microsoft.com/office/drawing/2014/main" id="{AB4759BC-DCAF-43A6-8830-294D8E488F79}"/>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AE1"/>
                </a:solidFill>
                <a:latin typeface="Arial"/>
                <a:ea typeface="Arial"/>
                <a:cs typeface="Arial"/>
              </a:defRPr>
            </a:defPPr>
          </a:lstStyle>
          <a:p xmlns:a="http://schemas.openxmlformats.org/drawingml/2006/main">
            <a:pPr algn="r">
              <a:defRPr sz="1125" b="0">
                <a:solidFill>
                  <a:srgbClr val="BDCAE1"/>
                </a:solidFill>
                <a:latin typeface="Arial"/>
                <a:ea typeface="Arial"/>
                <a:cs typeface="Arial"/>
              </a:defRPr>
            </a:pPr>
            <a:r>
              <a:rPr sz="1125" b="0">
                <a:solidFill>
                  <a:srgbClr val="BDCAE1"/>
                </a:solidFill>
                <a:latin typeface="Arial"/>
                <a:ea typeface="Arial"/>
                <a:cs typeface="Arial"/>
              </a:rPr>
              <a:t>16</a:t>
            </a:r>
          </a:p>
        </p:txBody>
      </p:sp>
      <p:sp>
        <p:nvSpPr>
          <p:cNvPr id="3" name="text-156">
            <a:extLst xmlns:a="http://schemas.openxmlformats.org/drawingml/2006/main">
              <a:ext uri="{FF2B5EF4-FFF2-40B4-BE49-F238E27FC236}">
                <a16:creationId xmlns:a16="http://schemas.microsoft.com/office/drawing/2014/main" id="{CF382435-252E-4C0F-BF99-1B1F15FE855B}"/>
              </a:ext>
            </a:extLst>
          </p:cNvPr>
          <p:cNvSpPr>
            <a:spLocks xmlns:a="http://schemas.openxmlformats.org/drawingml/2006/main" noGrp="1"/>
          </p:cNvSpPr>
          <p:nvPr/>
        </p:nvSpPr>
        <p:spPr>
          <a:xfrm xmlns:a="http://schemas.openxmlformats.org/drawingml/2006/main">
            <a:off x="723900" y="781050"/>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9C5D8"/>
                </a:solidFill>
                <a:latin typeface="Arial"/>
                <a:ea typeface="Arial"/>
                <a:cs typeface="Arial"/>
              </a:defRPr>
            </a:defPPr>
          </a:lstStyle>
          <a:p xmlns:a="http://schemas.openxmlformats.org/drawingml/2006/main">
            <a:pPr algn="l">
              <a:defRPr sz="3300" b="1">
                <a:solidFill>
                  <a:srgbClr val="19C5D8"/>
                </a:solidFill>
                <a:latin typeface="Arial"/>
                <a:ea typeface="Arial"/>
                <a:cs typeface="Arial"/>
              </a:defRPr>
            </a:pPr>
            <a:r>
              <a:rPr sz="3300" b="1">
                <a:solidFill>
                  <a:srgbClr val="19C5D8"/>
                </a:solidFill>
                <a:latin typeface="Arial"/>
                <a:ea typeface="Arial"/>
                <a:cs typeface="Arial"/>
              </a:rPr>
              <a:t>ALCEIX</a:t>
            </a:r>
          </a:p>
        </p:txBody>
      </p:sp>
      <p:sp>
        <p:nvSpPr>
          <p:cNvPr id="4" name="text-157">
            <a:extLst xmlns:a="http://schemas.openxmlformats.org/drawingml/2006/main">
              <a:ext uri="{FF2B5EF4-FFF2-40B4-BE49-F238E27FC236}">
                <a16:creationId xmlns:a16="http://schemas.microsoft.com/office/drawing/2014/main" id="{BDF56E05-F06A-4DBE-933E-91BBEF0FF013}"/>
              </a:ext>
            </a:extLst>
          </p:cNvPr>
          <p:cNvSpPr>
            <a:spLocks xmlns:a="http://schemas.openxmlformats.org/drawingml/2006/main" noGrp="1"/>
          </p:cNvSpPr>
          <p:nvPr/>
        </p:nvSpPr>
        <p:spPr>
          <a:xfrm xmlns:a="http://schemas.openxmlformats.org/drawingml/2006/main">
            <a:off x="723900" y="2390775"/>
            <a:ext cx="71247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Bir sonraki eşik:</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ücretli pilot</a:t>
            </a:r>
          </a:p>
        </p:txBody>
      </p:sp>
      <p:sp>
        <p:nvSpPr>
          <p:cNvPr id="5" name="text-158">
            <a:extLst xmlns:a="http://schemas.openxmlformats.org/drawingml/2006/main">
              <a:ext uri="{FF2B5EF4-FFF2-40B4-BE49-F238E27FC236}">
                <a16:creationId xmlns:a16="http://schemas.microsoft.com/office/drawing/2014/main" id="{AC9554EC-B050-4015-97AF-6BB79B820288}"/>
              </a:ext>
            </a:extLst>
          </p:cNvPr>
          <p:cNvSpPr>
            <a:spLocks xmlns:a="http://schemas.openxmlformats.org/drawingml/2006/main" noGrp="1"/>
          </p:cNvSpPr>
          <p:nvPr/>
        </p:nvSpPr>
        <p:spPr>
          <a:xfrm xmlns:a="http://schemas.openxmlformats.org/drawingml/2006/main">
            <a:off x="771525" y="4486275"/>
            <a:ext cx="68770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DCAE1"/>
                </a:solidFill>
                <a:latin typeface="Arial"/>
                <a:ea typeface="Arial"/>
                <a:cs typeface="Arial"/>
              </a:defRPr>
            </a:defPPr>
          </a:lstStyle>
          <a:p xmlns:a="http://schemas.openxmlformats.org/drawingml/2006/main">
            <a:pPr algn="l">
              <a:defRPr sz="2250" b="0">
                <a:solidFill>
                  <a:srgbClr val="BDCAE1"/>
                </a:solidFill>
                <a:latin typeface="Arial"/>
                <a:ea typeface="Arial"/>
                <a:cs typeface="Arial"/>
              </a:defRPr>
            </a:pPr>
            <a:r>
              <a:rPr sz="2250" b="0">
                <a:solidFill>
                  <a:srgbClr val="BDCAE1"/>
                </a:solidFill>
                <a:latin typeface="Arial"/>
                <a:ea typeface="Arial"/>
                <a:cs typeface="Arial"/>
              </a:rPr>
              <a:t>İlk gerçek satış, tekrar kullanım</a:t>
            </a:r>
          </a:p>
          <a:p xmlns:a="http://schemas.openxmlformats.org/drawingml/2006/main">
            <a:pPr algn="l">
              <a:defRPr sz="2250" b="0">
                <a:solidFill>
                  <a:srgbClr val="BDCAE1"/>
                </a:solidFill>
                <a:latin typeface="Arial"/>
                <a:ea typeface="Arial"/>
                <a:cs typeface="Arial"/>
              </a:defRPr>
            </a:pPr>
            <a:r>
              <a:rPr sz="2250" b="0">
                <a:solidFill>
                  <a:srgbClr val="BDCAE1"/>
                </a:solidFill>
                <a:latin typeface="Arial"/>
                <a:ea typeface="Arial"/>
                <a:cs typeface="Arial"/>
              </a:rPr>
              <a:t>ve sürdürülebilir mağaza ekonomisi</a:t>
            </a:r>
          </a:p>
        </p:txBody>
      </p:sp>
      <p:pic>
        <p:nvPicPr>
          <p:cNvPr id="6" name="">
            <a:extLst xmlns:a="http://schemas.openxmlformats.org/drawingml/2006/main">
              <a:ext uri="{FF2B5EF4-FFF2-40B4-BE49-F238E27FC236}">
                <a16:creationId xmlns:a16="http://schemas.microsoft.com/office/drawing/2014/main" id="{D640AB5E-5D4F-41B2-A74D-2B2A078F97AD}"/>
              </a:ext>
            </a:extLst>
          </p:cNvPr>
          <p:cNvPicPr>
            <a:picLocks xmlns:a="http://schemas.openxmlformats.org/drawingml/2006/main" noChangeAspect="1"/>
          </p:cNvPicPr>
          <p:nvPr/>
        </p:nvPicPr>
        <p:blipFill>
          <a:blip xmlns:r="http://schemas.openxmlformats.org/officeDocument/2006/relationships" xmlns:a="http://schemas.openxmlformats.org/drawingml/2006/main" r:embed="Re5d47059ae3c4993"/>
          <a:srcRect xmlns:a="http://schemas.openxmlformats.org/drawingml/2006/main" l="6154" t="0" r="6154" b="0"/>
          <a:stretch xmlns:a="http://schemas.openxmlformats.org/drawingml/2006/main">
            <a:fillRect l="0" t="0" r="0" b="0"/>
          </a:stretch>
        </p:blipFill>
        <p:spPr>
          <a:xfrm xmlns:a="http://schemas.openxmlformats.org/drawingml/2006/main">
            <a:off x="8248650" y="2028825"/>
            <a:ext cx="3257550" cy="3714750"/>
          </a:xfrm>
          <a:prstGeom xmlns:a="http://schemas.openxmlformats.org/drawingml/2006/main" prst="rect">
            <a:avLst/>
          </a:prstGeom>
        </p:spPr>
      </p:pic>
      <p:sp>
        <p:nvSpPr>
          <p:cNvPr id="7" name="text-159">
            <a:extLst xmlns:a="http://schemas.openxmlformats.org/drawingml/2006/main">
              <a:ext uri="{FF2B5EF4-FFF2-40B4-BE49-F238E27FC236}">
                <a16:creationId xmlns:a16="http://schemas.microsoft.com/office/drawing/2014/main" id="{A96B2476-CBF7-4B1C-84C6-5B546B54D555}"/>
              </a:ext>
            </a:extLst>
          </p:cNvPr>
          <p:cNvSpPr>
            <a:spLocks xmlns:a="http://schemas.openxmlformats.org/drawingml/2006/main" noGrp="1"/>
          </p:cNvSpPr>
          <p:nvPr/>
        </p:nvSpPr>
        <p:spPr>
          <a:xfrm xmlns:a="http://schemas.openxmlformats.org/drawingml/2006/main">
            <a:off x="8286750" y="5915025"/>
            <a:ext cx="321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DCAE1"/>
                </a:solidFill>
                <a:latin typeface="Arial"/>
                <a:ea typeface="Arial"/>
                <a:cs typeface="Arial"/>
              </a:defRPr>
            </a:defPPr>
          </a:lstStyle>
          <a:p xmlns:a="http://schemas.openxmlformats.org/drawingml/2006/main">
            <a:pPr algn="l">
              <a:defRPr sz="1350" b="0">
                <a:solidFill>
                  <a:srgbClr val="BDCAE1"/>
                </a:solidFill>
                <a:latin typeface="Arial"/>
                <a:ea typeface="Arial"/>
                <a:cs typeface="Arial"/>
              </a:defRPr>
            </a:pPr>
            <a:r>
              <a:rPr sz="1350" b="0">
                <a:solidFill>
                  <a:srgbClr val="BDCAE1"/>
                </a:solidFill>
                <a:latin typeface="Arial"/>
                <a:ea typeface="Arial"/>
                <a:cs typeface="Arial"/>
              </a:rPr>
              <a:t>Temsili ürün görseli</a:t>
            </a:r>
          </a:p>
        </p:txBody>
      </p:sp>
    </p:spTree>
    <p:extLst>
      <p:ext uri="{BB962C8B-B14F-4D97-AF65-F5344CB8AC3E}">
        <p14:creationId xmlns:p14="http://schemas.microsoft.com/office/powerpoint/2010/main" val="9107003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60">
            <a:extLst xmlns:a="http://schemas.openxmlformats.org/drawingml/2006/main">
              <a:ext uri="{FF2B5EF4-FFF2-40B4-BE49-F238E27FC236}">
                <a16:creationId xmlns:a16="http://schemas.microsoft.com/office/drawing/2014/main" id="{D7B6CF47-7728-484B-A752-13D6BC4B8A7F}"/>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Ek 1  Gelir senaryosu</a:t>
            </a:r>
          </a:p>
        </p:txBody>
      </p:sp>
      <p:sp>
        <p:nvSpPr>
          <p:cNvPr id="2" name="text-161">
            <a:extLst xmlns:a="http://schemas.openxmlformats.org/drawingml/2006/main">
              <a:ext uri="{FF2B5EF4-FFF2-40B4-BE49-F238E27FC236}">
                <a16:creationId xmlns:a16="http://schemas.microsoft.com/office/drawing/2014/main" id="{2F15EAE2-781C-4A56-9AEC-EACA2302CB23}"/>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Örnek hesap. Tahmin veya gerçekleşmiş sonuç değildir.</a:t>
            </a:r>
          </a:p>
        </p:txBody>
      </p:sp>
      <p:sp>
        <p:nvSpPr>
          <p:cNvPr id="3" name="text-162">
            <a:extLst xmlns:a="http://schemas.openxmlformats.org/drawingml/2006/main">
              <a:ext uri="{FF2B5EF4-FFF2-40B4-BE49-F238E27FC236}">
                <a16:creationId xmlns:a16="http://schemas.microsoft.com/office/drawing/2014/main" id="{00FFC4F1-01F7-43D2-9987-172E9E95844F}"/>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63">
            <a:extLst xmlns:a="http://schemas.openxmlformats.org/drawingml/2006/main">
              <a:ext uri="{FF2B5EF4-FFF2-40B4-BE49-F238E27FC236}">
                <a16:creationId xmlns:a16="http://schemas.microsoft.com/office/drawing/2014/main" id="{BDD7A22F-9B38-4533-ADE9-C7B1D8A8CFE7}"/>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17</a:t>
            </a:r>
          </a:p>
        </p:txBody>
      </p:sp>
      <p:sp>
        <p:nvSpPr>
          <p:cNvPr id="5" name="text-164">
            <a:extLst xmlns:a="http://schemas.openxmlformats.org/drawingml/2006/main">
              <a:ext uri="{FF2B5EF4-FFF2-40B4-BE49-F238E27FC236}">
                <a16:creationId xmlns:a16="http://schemas.microsoft.com/office/drawing/2014/main" id="{D9D19B9A-6D81-41FA-A221-EE9EDEBF622E}"/>
              </a:ext>
            </a:extLst>
          </p:cNvPr>
          <p:cNvSpPr>
            <a:spLocks xmlns:a="http://schemas.openxmlformats.org/drawingml/2006/main" noGrp="1"/>
          </p:cNvSpPr>
          <p:nvPr/>
        </p:nvSpPr>
        <p:spPr>
          <a:xfrm xmlns:a="http://schemas.openxmlformats.org/drawingml/2006/main">
            <a:off x="723900" y="223837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1B3A"/>
                </a:solidFill>
                <a:latin typeface="Arial"/>
                <a:ea typeface="Arial"/>
                <a:cs typeface="Arial"/>
              </a:defRPr>
            </a:defPPr>
          </a:lstStyle>
          <a:p xmlns:a="http://schemas.openxmlformats.org/drawingml/2006/main">
            <a:pPr algn="l">
              <a:defRPr sz="2100" b="1">
                <a:solidFill>
                  <a:srgbClr val="081B3A"/>
                </a:solidFill>
                <a:latin typeface="Arial"/>
                <a:ea typeface="Arial"/>
                <a:cs typeface="Arial"/>
              </a:defRPr>
            </a:pPr>
            <a:r>
              <a:rPr sz="2100" b="1">
                <a:solidFill>
                  <a:srgbClr val="081B3A"/>
                </a:solidFill>
                <a:latin typeface="Arial"/>
                <a:ea typeface="Arial"/>
                <a:cs typeface="Arial"/>
              </a:rPr>
              <a:t>Mağaza başına 40.000 TL aylık uygun hacim</a:t>
            </a:r>
          </a:p>
        </p:txBody>
      </p:sp>
      <p:sp>
        <p:nvSpPr>
          <p:cNvPr id="6" name="text-165">
            <a:extLst xmlns:a="http://schemas.openxmlformats.org/drawingml/2006/main">
              <a:ext uri="{FF2B5EF4-FFF2-40B4-BE49-F238E27FC236}">
                <a16:creationId xmlns:a16="http://schemas.microsoft.com/office/drawing/2014/main" id="{FFA37364-62F2-44D4-B415-6D4CCD1DC1F6}"/>
              </a:ext>
            </a:extLst>
          </p:cNvPr>
          <p:cNvSpPr>
            <a:spLocks xmlns:a="http://schemas.openxmlformats.org/drawingml/2006/main" noGrp="1"/>
          </p:cNvSpPr>
          <p:nvPr/>
        </p:nvSpPr>
        <p:spPr>
          <a:xfrm xmlns:a="http://schemas.openxmlformats.org/drawingml/2006/main">
            <a:off x="752475" y="28575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A82"/>
                </a:solidFill>
                <a:latin typeface="Arial"/>
                <a:ea typeface="Arial"/>
                <a:cs typeface="Arial"/>
              </a:defRPr>
            </a:defPPr>
          </a:lstStyle>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%1,5 servis ücreti ve %20 Pro dönüşümü, aylık 500 TL plan</a:t>
            </a:r>
          </a:p>
        </p:txBody>
      </p:sp>
      <p:graphicFrame>
        <p:nvGraphicFramePr>
          <p:cNvPr id="7" name="">
            <a:extLst xmlns:a="http://schemas.openxmlformats.org/drawingml/2006/main">
              <a:ext uri="{FF2B5EF4-FFF2-40B4-BE49-F238E27FC236}">
                <a16:creationId xmlns:a16="http://schemas.microsoft.com/office/drawing/2014/main" id="{0F4BBFF9-4CE8-4DC8-890F-F884B70BE5A9}"/>
              </a:ext>
            </a:extLst>
          </p:cNvPr>
          <p:cNvGraphicFramePr/>
          <p:nvPr/>
        </p:nvGraphicFramePr>
        <p:xfrm>
          <a:off xmlns:a="http://schemas.openxmlformats.org/drawingml/2006/main" x="685800" y="3486150"/>
          <a:ext xmlns:a="http://schemas.openxmlformats.org/drawingml/2006/main" cx="10820400" cy="2305050"/>
        </p:xfrm>
        <a:graphic xmlns:a="http://schemas.openxmlformats.org/drawingml/2006/main">
          <a:graphicData uri="http://schemas.openxmlformats.org/drawingml/2006/table">
            <a:tbl>
              <a:tblPr firstRow="0" bandRow="0"/>
              <a:tblGrid>
                <a:gridCol w="2343150"/>
                <a:gridCol w="4238625"/>
                <a:gridCol w="4238625"/>
              </a:tblGrid>
              <a:tr h="576263">
                <a:tc>
                  <a:txBody>
                    <a:bodyPr/>
                    <a:lstStyle/>
                    <a:p>
                      <a:r>
                        <a:rPr sz="1725" b="1">
                          <a:solidFill>
                            <a:srgbClr val="FFFFFF"/>
                          </a:solidFill>
                          <a:latin typeface="Arial"/>
                          <a:ea typeface="Arial"/>
                          <a:cs typeface="Arial"/>
                        </a:rPr>
                        <a:t>Aktif mağaza</a:t>
                      </a:r>
                    </a:p>
                  </a:txBody>
                  <a:tcPr marL="133350" marR="133350" marT="133350" marB="95250" anchor="ctr">
                    <a:lnL w="5715">
                      <a:solidFill>
                        <a:srgbClr val="DCE5F0"/>
                      </a:solidFill>
                      <a:prstDash val="solid"/>
                    </a:lnL>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c>
                  <a:txBody>
                    <a:bodyPr/>
                    <a:lstStyle/>
                    <a:p>
                      <a:r>
                        <a:rPr sz="1725" b="1">
                          <a:solidFill>
                            <a:srgbClr val="FFFFFF"/>
                          </a:solidFill>
                          <a:latin typeface="Arial"/>
                          <a:ea typeface="Arial"/>
                          <a:cs typeface="Arial"/>
                        </a:rPr>
                        <a:t>Aylık platform geliri</a:t>
                      </a:r>
                    </a:p>
                  </a:txBody>
                  <a:tcPr marL="133350" marR="133350" marT="133350" marB="95250" anchor="ctr">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c>
                  <a:txBody>
                    <a:bodyPr/>
                    <a:lstStyle/>
                    <a:p>
                      <a:r>
                        <a:rPr sz="1725" b="1">
                          <a:solidFill>
                            <a:srgbClr val="FFFFFF"/>
                          </a:solidFill>
                          <a:latin typeface="Arial"/>
                          <a:ea typeface="Arial"/>
                          <a:cs typeface="Arial"/>
                        </a:rPr>
                        <a:t>Yıllık eşdeğer</a:t>
                      </a:r>
                    </a:p>
                  </a:txBody>
                  <a:tcPr marL="133350" marR="133350" marT="133350" marB="95250" anchor="ctr">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r>
              <a:tr h="576263">
                <a:tc>
                  <a:txBody>
                    <a:bodyPr/>
                    <a:lstStyle/>
                    <a:p>
                      <a:r>
                        <a:rPr sz="1725" b="0">
                          <a:solidFill>
                            <a:srgbClr val="081B3A"/>
                          </a:solidFill>
                          <a:latin typeface="Arial"/>
                          <a:ea typeface="Arial"/>
                          <a:cs typeface="Arial"/>
                        </a:rPr>
                        <a:t>100</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FFFFF"/>
                    </a:solidFill>
                  </a:tcPr>
                </a:tc>
                <a:tc>
                  <a:txBody>
                    <a:bodyPr/>
                    <a:lstStyle/>
                    <a:p>
                      <a:r>
                        <a:rPr sz="1725" b="0">
                          <a:solidFill>
                            <a:srgbClr val="081B3A"/>
                          </a:solidFill>
                          <a:latin typeface="Arial"/>
                          <a:ea typeface="Arial"/>
                          <a:cs typeface="Arial"/>
                        </a:rPr>
                        <a:t>70.000 TL</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c>
                  <a:txBody>
                    <a:bodyPr/>
                    <a:lstStyle/>
                    <a:p>
                      <a:r>
                        <a:rPr sz="1725" b="0">
                          <a:solidFill>
                            <a:srgbClr val="081B3A"/>
                          </a:solidFill>
                          <a:latin typeface="Arial"/>
                          <a:ea typeface="Arial"/>
                          <a:cs typeface="Arial"/>
                        </a:rPr>
                        <a:t>840.000 TL</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r>
              <a:tr h="576263">
                <a:tc>
                  <a:txBody>
                    <a:bodyPr/>
                    <a:lstStyle/>
                    <a:p>
                      <a:r>
                        <a:rPr sz="1725" b="0">
                          <a:solidFill>
                            <a:srgbClr val="081B3A"/>
                          </a:solidFill>
                          <a:latin typeface="Arial"/>
                          <a:ea typeface="Arial"/>
                          <a:cs typeface="Arial"/>
                        </a:rPr>
                        <a:t>300</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5F8FC"/>
                    </a:solidFill>
                  </a:tcPr>
                </a:tc>
                <a:tc>
                  <a:txBody>
                    <a:bodyPr/>
                    <a:lstStyle/>
                    <a:p>
                      <a:r>
                        <a:rPr sz="1725" b="0">
                          <a:solidFill>
                            <a:srgbClr val="081B3A"/>
                          </a:solidFill>
                          <a:latin typeface="Arial"/>
                          <a:ea typeface="Arial"/>
                          <a:cs typeface="Arial"/>
                        </a:rPr>
                        <a:t>210.000 TL</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c>
                  <a:txBody>
                    <a:bodyPr/>
                    <a:lstStyle/>
                    <a:p>
                      <a:r>
                        <a:rPr sz="1725" b="0">
                          <a:solidFill>
                            <a:srgbClr val="081B3A"/>
                          </a:solidFill>
                          <a:latin typeface="Arial"/>
                          <a:ea typeface="Arial"/>
                          <a:cs typeface="Arial"/>
                        </a:rPr>
                        <a:t>2.520.000 TL</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r>
              <a:tr h="576263">
                <a:tc>
                  <a:txBody>
                    <a:bodyPr/>
                    <a:lstStyle/>
                    <a:p>
                      <a:r>
                        <a:rPr sz="1725" b="0">
                          <a:solidFill>
                            <a:srgbClr val="081B3A"/>
                          </a:solidFill>
                          <a:latin typeface="Arial"/>
                          <a:ea typeface="Arial"/>
                          <a:cs typeface="Arial"/>
                        </a:rPr>
                        <a:t>1.000</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FFFFF"/>
                    </a:solidFill>
                  </a:tcPr>
                </a:tc>
                <a:tc>
                  <a:txBody>
                    <a:bodyPr/>
                    <a:lstStyle/>
                    <a:p>
                      <a:r>
                        <a:rPr sz="1725" b="0">
                          <a:solidFill>
                            <a:srgbClr val="081B3A"/>
                          </a:solidFill>
                          <a:latin typeface="Arial"/>
                          <a:ea typeface="Arial"/>
                          <a:cs typeface="Arial"/>
                        </a:rPr>
                        <a:t>700.000 TL</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c>
                  <a:txBody>
                    <a:bodyPr/>
                    <a:lstStyle/>
                    <a:p>
                      <a:r>
                        <a:rPr sz="1725" b="0">
                          <a:solidFill>
                            <a:srgbClr val="081B3A"/>
                          </a:solidFill>
                          <a:latin typeface="Arial"/>
                          <a:ea typeface="Arial"/>
                          <a:cs typeface="Arial"/>
                        </a:rPr>
                        <a:t>8.400.000 TL</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r>
            </a:tbl>
          </a:graphicData>
        </a:graphic>
      </p:graphicFrame>
      <p:sp>
        <p:nvSpPr>
          <p:cNvPr id="8" name="text-166">
            <a:extLst xmlns:a="http://schemas.openxmlformats.org/drawingml/2006/main">
              <a:ext uri="{FF2B5EF4-FFF2-40B4-BE49-F238E27FC236}">
                <a16:creationId xmlns:a16="http://schemas.microsoft.com/office/drawing/2014/main" id="{51C890C7-7CC7-4164-A1E8-8DAE30F610E1}"/>
              </a:ext>
            </a:extLst>
          </p:cNvPr>
          <p:cNvSpPr>
            <a:spLocks xmlns:a="http://schemas.openxmlformats.org/drawingml/2006/main" noGrp="1"/>
          </p:cNvSpPr>
          <p:nvPr/>
        </p:nvSpPr>
        <p:spPr>
          <a:xfrm xmlns:a="http://schemas.openxmlformats.org/drawingml/2006/main">
            <a:off x="742950" y="59626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6A82"/>
                </a:solidFill>
                <a:latin typeface="Arial"/>
                <a:ea typeface="Arial"/>
                <a:cs typeface="Arial"/>
              </a:defRPr>
            </a:defPPr>
          </a:lstStyle>
          <a:p xmlns:a="http://schemas.openxmlformats.org/drawingml/2006/main">
            <a:pPr algn="l">
              <a:defRPr sz="1500" b="0">
                <a:solidFill>
                  <a:srgbClr val="596A82"/>
                </a:solidFill>
                <a:latin typeface="Arial"/>
                <a:ea typeface="Arial"/>
                <a:cs typeface="Arial"/>
              </a:defRPr>
            </a:pPr>
            <a:r>
              <a:rPr sz="1500" b="0">
                <a:solidFill>
                  <a:srgbClr val="596A82"/>
                </a:solidFill>
                <a:latin typeface="Arial"/>
                <a:ea typeface="Arial"/>
                <a:cs typeface="Arial"/>
              </a:rPr>
              <a:t>Ödeme/kargo bedelleri ve KDV hariç. Giderler düşülmemiştir, kâr değildir.</a:t>
            </a:r>
          </a:p>
        </p:txBody>
      </p:sp>
    </p:spTree>
    <p:extLst>
      <p:ext uri="{BB962C8B-B14F-4D97-AF65-F5344CB8AC3E}">
        <p14:creationId xmlns:p14="http://schemas.microsoft.com/office/powerpoint/2010/main" val="15170582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67">
            <a:extLst xmlns:a="http://schemas.openxmlformats.org/drawingml/2006/main">
              <a:ext uri="{FF2B5EF4-FFF2-40B4-BE49-F238E27FC236}">
                <a16:creationId xmlns:a16="http://schemas.microsoft.com/office/drawing/2014/main" id="{183AF83A-A639-4A63-A82E-2CAF7D41C04B}"/>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Ek 2  Adreslenebilir gelir senaryosu</a:t>
            </a:r>
          </a:p>
        </p:txBody>
      </p:sp>
      <p:sp>
        <p:nvSpPr>
          <p:cNvPr id="2" name="text-168">
            <a:extLst xmlns:a="http://schemas.openxmlformats.org/drawingml/2006/main">
              <a:ext uri="{FF2B5EF4-FFF2-40B4-BE49-F238E27FC236}">
                <a16:creationId xmlns:a16="http://schemas.microsoft.com/office/drawing/2014/main" id="{0C7217A2-FCC9-4F33-8E70-8595B67DB076}"/>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Hacim manşetinden ayrı, varsayıma dayalı aşağıdan yukarı gelir modeli</a:t>
            </a:r>
          </a:p>
        </p:txBody>
      </p:sp>
      <p:sp>
        <p:nvSpPr>
          <p:cNvPr id="3" name="text-169">
            <a:extLst xmlns:a="http://schemas.openxmlformats.org/drawingml/2006/main">
              <a:ext uri="{FF2B5EF4-FFF2-40B4-BE49-F238E27FC236}">
                <a16:creationId xmlns:a16="http://schemas.microsoft.com/office/drawing/2014/main" id="{BB87E152-A378-4F36-B9A4-AE12D21D9A5D}"/>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70">
            <a:extLst xmlns:a="http://schemas.openxmlformats.org/drawingml/2006/main">
              <a:ext uri="{FF2B5EF4-FFF2-40B4-BE49-F238E27FC236}">
                <a16:creationId xmlns:a16="http://schemas.microsoft.com/office/drawing/2014/main" id="{8B8D08A9-C558-45B5-8D9D-0522FB73C158}"/>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18</a:t>
            </a:r>
          </a:p>
        </p:txBody>
      </p:sp>
      <p:sp>
        <p:nvSpPr>
          <p:cNvPr id="5" name="text-171">
            <a:extLst xmlns:a="http://schemas.openxmlformats.org/drawingml/2006/main">
              <a:ext uri="{FF2B5EF4-FFF2-40B4-BE49-F238E27FC236}">
                <a16:creationId xmlns:a16="http://schemas.microsoft.com/office/drawing/2014/main" id="{4C7193FC-99A1-4A8E-9681-DCB7BEBB446B}"/>
              </a:ext>
            </a:extLst>
          </p:cNvPr>
          <p:cNvSpPr>
            <a:spLocks xmlns:a="http://schemas.openxmlformats.org/drawingml/2006/main" noGrp="1"/>
          </p:cNvSpPr>
          <p:nvPr/>
        </p:nvSpPr>
        <p:spPr>
          <a:xfrm xmlns:a="http://schemas.openxmlformats.org/drawingml/2006/main">
            <a:off x="704850" y="60674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96A82"/>
                </a:solidFill>
                <a:latin typeface="Arial"/>
                <a:ea typeface="Arial"/>
                <a:cs typeface="Arial"/>
              </a:defRPr>
            </a:defPPr>
          </a:lstStyle>
          <a:p xmlns:a="http://schemas.openxmlformats.org/drawingml/2006/main">
            <a:pPr algn="l">
              <a:defRPr sz="1200" b="0">
                <a:solidFill>
                  <a:srgbClr val="596A82"/>
                </a:solidFill>
                <a:latin typeface="Arial"/>
                <a:ea typeface="Arial"/>
                <a:cs typeface="Arial"/>
              </a:defRPr>
            </a:pPr>
            <a:r>
              <a:rPr sz="1200" b="0">
                <a:solidFill>
                  <a:srgbClr val="596A82"/>
                </a:solidFill>
                <a:latin typeface="Arial"/>
                <a:ea typeface="Arial"/>
                <a:cs typeface="Arial"/>
              </a:rPr>
              <a:t>İşletme tabanı: ETBİS 2025. Uygunluk, fiyatlama ve kazanım varsayımdır.</a:t>
            </a:r>
          </a:p>
        </p:txBody>
      </p:sp>
      <p:graphicFrame>
        <p:nvGraphicFramePr>
          <p:cNvPr id="6" name="">
            <a:extLst xmlns:a="http://schemas.openxmlformats.org/drawingml/2006/main">
              <a:ext uri="{FF2B5EF4-FFF2-40B4-BE49-F238E27FC236}">
                <a16:creationId xmlns:a16="http://schemas.microsoft.com/office/drawing/2014/main" id="{6A15EA02-D32D-4B5E-A02A-8C82A9650440}"/>
              </a:ext>
            </a:extLst>
          </p:cNvPr>
          <p:cNvGraphicFramePr/>
          <p:nvPr/>
        </p:nvGraphicFramePr>
        <p:xfrm>
          <a:off xmlns:a="http://schemas.openxmlformats.org/drawingml/2006/main" x="685800" y="2400300"/>
          <a:ext xmlns:a="http://schemas.openxmlformats.org/drawingml/2006/main" cx="10820400" cy="2600325"/>
        </p:xfrm>
        <a:graphic xmlns:a="http://schemas.openxmlformats.org/drawingml/2006/main">
          <a:graphicData uri="http://schemas.openxmlformats.org/drawingml/2006/table">
            <a:tbl>
              <a:tblPr firstRow="0" bandRow="0"/>
              <a:tblGrid>
                <a:gridCol w="3390900"/>
                <a:gridCol w="3086100"/>
                <a:gridCol w="4343400"/>
              </a:tblGrid>
              <a:tr h="650081">
                <a:tc>
                  <a:txBody>
                    <a:bodyPr/>
                    <a:lstStyle/>
                    <a:p>
                      <a:r>
                        <a:rPr sz="1800" b="1">
                          <a:solidFill>
                            <a:srgbClr val="FFFFFF"/>
                          </a:solidFill>
                          <a:latin typeface="Arial"/>
                          <a:ea typeface="Arial"/>
                          <a:cs typeface="Arial"/>
                        </a:rPr>
                        <a:t>Model</a:t>
                      </a:r>
                    </a:p>
                  </a:txBody>
                  <a:tcPr marL="133350" marR="133350" marT="133350" marB="95250" anchor="ctr">
                    <a:lnL w="5715">
                      <a:solidFill>
                        <a:srgbClr val="DCE5F0"/>
                      </a:solidFill>
                      <a:prstDash val="solid"/>
                    </a:lnL>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c>
                  <a:txBody>
                    <a:bodyPr/>
                    <a:lstStyle/>
                    <a:p>
                      <a:r>
                        <a:rPr sz="1800" b="1">
                          <a:solidFill>
                            <a:srgbClr val="FFFFFF"/>
                          </a:solidFill>
                          <a:latin typeface="Arial"/>
                          <a:ea typeface="Arial"/>
                          <a:cs typeface="Arial"/>
                        </a:rPr>
                        <a:t>İşletme sayısı</a:t>
                      </a:r>
                    </a:p>
                  </a:txBody>
                  <a:tcPr marL="133350" marR="133350" marT="133350" marB="95250" anchor="ctr">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c>
                  <a:txBody>
                    <a:bodyPr/>
                    <a:lstStyle/>
                    <a:p>
                      <a:r>
                        <a:rPr sz="1800" b="1">
                          <a:solidFill>
                            <a:srgbClr val="FFFFFF"/>
                          </a:solidFill>
                          <a:latin typeface="Arial"/>
                          <a:ea typeface="Arial"/>
                          <a:cs typeface="Arial"/>
                        </a:rPr>
                        <a:t>Yıllık gelir eşdeğeri</a:t>
                      </a:r>
                    </a:p>
                  </a:txBody>
                  <a:tcPr marL="133350" marR="133350" marT="133350" marB="95250" anchor="ctr">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r>
              <a:tr h="650081">
                <a:tc>
                  <a:txBody>
                    <a:bodyPr/>
                    <a:lstStyle/>
                    <a:p>
                      <a:r>
                        <a:rPr sz="1800" b="0">
                          <a:solidFill>
                            <a:srgbClr val="081B3A"/>
                          </a:solidFill>
                          <a:latin typeface="Arial"/>
                          <a:ea typeface="Arial"/>
                          <a:cs typeface="Arial"/>
                        </a:rPr>
                        <a:t>TAM sektör havuzu</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FFFFF"/>
                    </a:solidFill>
                  </a:tcPr>
                </a:tc>
                <a:tc>
                  <a:txBody>
                    <a:bodyPr/>
                    <a:lstStyle/>
                    <a:p>
                      <a:r>
                        <a:rPr sz="1800" b="0">
                          <a:solidFill>
                            <a:srgbClr val="081B3A"/>
                          </a:solidFill>
                          <a:latin typeface="Arial"/>
                          <a:ea typeface="Arial"/>
                          <a:cs typeface="Arial"/>
                        </a:rPr>
                        <a:t>Yaklaşık 87.600</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c>
                  <a:txBody>
                    <a:bodyPr/>
                    <a:lstStyle/>
                    <a:p>
                      <a:r>
                        <a:rPr sz="1800" b="0">
                          <a:solidFill>
                            <a:srgbClr val="081B3A"/>
                          </a:solidFill>
                          <a:latin typeface="Arial"/>
                          <a:ea typeface="Arial"/>
                          <a:cs typeface="Arial"/>
                        </a:rPr>
                        <a:t>Yaklaşık 736 milyon TL</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r>
              <a:tr h="650081">
                <a:tc>
                  <a:txBody>
                    <a:bodyPr/>
                    <a:lstStyle/>
                    <a:p>
                      <a:r>
                        <a:rPr sz="1800" b="0">
                          <a:solidFill>
                            <a:srgbClr val="081B3A"/>
                          </a:solidFill>
                          <a:latin typeface="Arial"/>
                          <a:ea typeface="Arial"/>
                          <a:cs typeface="Arial"/>
                        </a:rPr>
                        <a:t>SAM, %20 varsayımı</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5F8FC"/>
                    </a:solidFill>
                  </a:tcPr>
                </a:tc>
                <a:tc>
                  <a:txBody>
                    <a:bodyPr/>
                    <a:lstStyle/>
                    <a:p>
                      <a:r>
                        <a:rPr sz="1800" b="0">
                          <a:solidFill>
                            <a:srgbClr val="081B3A"/>
                          </a:solidFill>
                          <a:latin typeface="Arial"/>
                          <a:ea typeface="Arial"/>
                          <a:cs typeface="Arial"/>
                        </a:rPr>
                        <a:t>17.520</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c>
                  <a:txBody>
                    <a:bodyPr/>
                    <a:lstStyle/>
                    <a:p>
                      <a:r>
                        <a:rPr sz="1800" b="0">
                          <a:solidFill>
                            <a:srgbClr val="081B3A"/>
                          </a:solidFill>
                          <a:latin typeface="Arial"/>
                          <a:ea typeface="Arial"/>
                          <a:cs typeface="Arial"/>
                        </a:rPr>
                        <a:t>Yaklaşık 147 milyon TL</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r>
              <a:tr h="650081">
                <a:tc>
                  <a:txBody>
                    <a:bodyPr/>
                    <a:lstStyle/>
                    <a:p>
                      <a:r>
                        <a:rPr sz="1800" b="0">
                          <a:solidFill>
                            <a:srgbClr val="081B3A"/>
                          </a:solidFill>
                          <a:latin typeface="Arial"/>
                          <a:ea typeface="Arial"/>
                          <a:cs typeface="Arial"/>
                        </a:rPr>
                        <a:t>SOM, 3. yıl hedefi</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FFFFF"/>
                    </a:solidFill>
                  </a:tcPr>
                </a:tc>
                <a:tc>
                  <a:txBody>
                    <a:bodyPr/>
                    <a:lstStyle/>
                    <a:p>
                      <a:r>
                        <a:rPr sz="1800" b="0">
                          <a:solidFill>
                            <a:srgbClr val="081B3A"/>
                          </a:solidFill>
                          <a:latin typeface="Arial"/>
                          <a:ea typeface="Arial"/>
                          <a:cs typeface="Arial"/>
                        </a:rPr>
                        <a:t>1.000</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c>
                  <a:txBody>
                    <a:bodyPr/>
                    <a:lstStyle/>
                    <a:p>
                      <a:r>
                        <a:rPr sz="1800" b="0">
                          <a:solidFill>
                            <a:srgbClr val="081B3A"/>
                          </a:solidFill>
                          <a:latin typeface="Arial"/>
                          <a:ea typeface="Arial"/>
                          <a:cs typeface="Arial"/>
                        </a:rPr>
                        <a:t>8,4 milyon TL</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r>
            </a:tbl>
          </a:graphicData>
        </a:graphic>
      </p:graphicFrame>
      <p:sp>
        <p:nvSpPr>
          <p:cNvPr id="7" name="text-172">
            <a:extLst xmlns:a="http://schemas.openxmlformats.org/drawingml/2006/main">
              <a:ext uri="{FF2B5EF4-FFF2-40B4-BE49-F238E27FC236}">
                <a16:creationId xmlns:a16="http://schemas.microsoft.com/office/drawing/2014/main" id="{8C0D4557-FB33-4794-BD65-CC6D98D1F433}"/>
              </a:ext>
            </a:extLst>
          </p:cNvPr>
          <p:cNvSpPr>
            <a:spLocks xmlns:a="http://schemas.openxmlformats.org/drawingml/2006/main" noGrp="1"/>
          </p:cNvSpPr>
          <p:nvPr/>
        </p:nvSpPr>
        <p:spPr>
          <a:xfrm xmlns:a="http://schemas.openxmlformats.org/drawingml/2006/main">
            <a:off x="752475" y="538162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96A82"/>
                </a:solidFill>
                <a:latin typeface="Arial"/>
                <a:ea typeface="Arial"/>
                <a:cs typeface="Arial"/>
              </a:defRPr>
            </a:defPPr>
          </a:lstStyle>
          <a:p xmlns:a="http://schemas.openxmlformats.org/drawingml/2006/main">
            <a:pPr algn="l">
              <a:defRPr sz="1950" b="0">
                <a:solidFill>
                  <a:srgbClr val="596A82"/>
                </a:solidFill>
                <a:latin typeface="Arial"/>
                <a:ea typeface="Arial"/>
                <a:cs typeface="Arial"/>
              </a:defRPr>
            </a:pPr>
            <a:r>
              <a:rPr sz="1950" b="0">
                <a:solidFill>
                  <a:srgbClr val="596A82"/>
                </a:solidFill>
                <a:latin typeface="Arial"/>
                <a:ea typeface="Arial"/>
                <a:cs typeface="Arial"/>
              </a:rPr>
              <a:t>Ücret ödeme isteği ve uygun mağaza oranı henüz doğrulanmadı.</a:t>
            </a:r>
          </a:p>
        </p:txBody>
      </p:sp>
    </p:spTree>
    <p:extLst>
      <p:ext uri="{BB962C8B-B14F-4D97-AF65-F5344CB8AC3E}">
        <p14:creationId xmlns:p14="http://schemas.microsoft.com/office/powerpoint/2010/main" val="132111392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73">
            <a:extLst xmlns:a="http://schemas.openxmlformats.org/drawingml/2006/main">
              <a:ext uri="{FF2B5EF4-FFF2-40B4-BE49-F238E27FC236}">
                <a16:creationId xmlns:a16="http://schemas.microsoft.com/office/drawing/2014/main" id="{1C2BCB7E-646C-475C-A5EE-F8B0C30F02A4}"/>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Ek 3  Riskler ve pilot geçitleri</a:t>
            </a:r>
          </a:p>
        </p:txBody>
      </p:sp>
      <p:sp>
        <p:nvSpPr>
          <p:cNvPr id="2" name="text-174">
            <a:extLst xmlns:a="http://schemas.openxmlformats.org/drawingml/2006/main">
              <a:ext uri="{FF2B5EF4-FFF2-40B4-BE49-F238E27FC236}">
                <a16:creationId xmlns:a16="http://schemas.microsoft.com/office/drawing/2014/main" id="{CDA2B85E-3AE9-4F2C-8A28-62FBCCA4E5CA}"/>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Bu öneriler büyüme vaadi değil, yatırım öncesi doğrulama planıdır</a:t>
            </a:r>
          </a:p>
        </p:txBody>
      </p:sp>
      <p:sp>
        <p:nvSpPr>
          <p:cNvPr id="3" name="text-175">
            <a:extLst xmlns:a="http://schemas.openxmlformats.org/drawingml/2006/main">
              <a:ext uri="{FF2B5EF4-FFF2-40B4-BE49-F238E27FC236}">
                <a16:creationId xmlns:a16="http://schemas.microsoft.com/office/drawing/2014/main" id="{174FC3F4-02F5-41BD-BF6F-42A781AFC136}"/>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76">
            <a:extLst xmlns:a="http://schemas.openxmlformats.org/drawingml/2006/main">
              <a:ext uri="{FF2B5EF4-FFF2-40B4-BE49-F238E27FC236}">
                <a16:creationId xmlns:a16="http://schemas.microsoft.com/office/drawing/2014/main" id="{5B11EF3A-8EFC-43BC-937D-1E0300BE3DE1}"/>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19</a:t>
            </a:r>
          </a:p>
        </p:txBody>
      </p:sp>
      <p:graphicFrame>
        <p:nvGraphicFramePr>
          <p:cNvPr id="5" name="">
            <a:extLst xmlns:a="http://schemas.openxmlformats.org/drawingml/2006/main">
              <a:ext uri="{FF2B5EF4-FFF2-40B4-BE49-F238E27FC236}">
                <a16:creationId xmlns:a16="http://schemas.microsoft.com/office/drawing/2014/main" id="{9B47CA99-7D25-45EF-AFEE-1EC13665EC4A}"/>
              </a:ext>
            </a:extLst>
          </p:cNvPr>
          <p:cNvGraphicFramePr/>
          <p:nvPr/>
        </p:nvGraphicFramePr>
        <p:xfrm>
          <a:off xmlns:a="http://schemas.openxmlformats.org/drawingml/2006/main" x="685800" y="2324100"/>
          <a:ext xmlns:a="http://schemas.openxmlformats.org/drawingml/2006/main" cx="10820400" cy="3286125"/>
        </p:xfrm>
        <a:graphic xmlns:a="http://schemas.openxmlformats.org/drawingml/2006/main">
          <a:graphicData uri="http://schemas.openxmlformats.org/drawingml/2006/table">
            <a:tbl>
              <a:tblPr firstRow="0" bandRow="0"/>
              <a:tblGrid>
                <a:gridCol w="5048250"/>
                <a:gridCol w="5772150"/>
              </a:tblGrid>
              <a:tr h="657225">
                <a:tc>
                  <a:txBody>
                    <a:bodyPr/>
                    <a:lstStyle/>
                    <a:p>
                      <a:r>
                        <a:rPr sz="1800" b="1">
                          <a:solidFill>
                            <a:srgbClr val="FFFFFF"/>
                          </a:solidFill>
                          <a:latin typeface="Arial"/>
                          <a:ea typeface="Arial"/>
                          <a:cs typeface="Arial"/>
                        </a:rPr>
                        <a:t>Risk</a:t>
                      </a:r>
                    </a:p>
                  </a:txBody>
                  <a:tcPr marL="133350" marR="133350" marT="133350" marB="95250" anchor="ctr">
                    <a:lnL w="5715">
                      <a:solidFill>
                        <a:srgbClr val="DCE5F0"/>
                      </a:solidFill>
                      <a:prstDash val="solid"/>
                    </a:lnL>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c>
                  <a:txBody>
                    <a:bodyPr/>
                    <a:lstStyle/>
                    <a:p>
                      <a:r>
                        <a:rPr sz="1800" b="1">
                          <a:solidFill>
                            <a:srgbClr val="FFFFFF"/>
                          </a:solidFill>
                          <a:latin typeface="Arial"/>
                          <a:ea typeface="Arial"/>
                          <a:cs typeface="Arial"/>
                        </a:rPr>
                        <a:t>Önerilen doğrulama</a:t>
                      </a:r>
                    </a:p>
                  </a:txBody>
                  <a:tcPr marL="133350" marR="133350" marT="133350" marB="95250" anchor="ctr">
                    <a:lnR w="5715">
                      <a:solidFill>
                        <a:srgbClr val="DCE5F0"/>
                      </a:solidFill>
                      <a:prstDash val="solid"/>
                    </a:lnR>
                    <a:lnT w="5715">
                      <a:solidFill>
                        <a:srgbClr val="DCE5F0"/>
                      </a:solidFill>
                      <a:prstDash val="solid"/>
                    </a:lnT>
                    <a:lnB w="5715">
                      <a:solidFill>
                        <a:srgbClr val="DCE5F0"/>
                      </a:solidFill>
                      <a:prstDash val="solid"/>
                    </a:lnB>
                    <a:solidFill>
                      <a:srgbClr val="081B3A"/>
                    </a:solidFill>
                  </a:tcPr>
                </a:tc>
              </a:tr>
              <a:tr h="657225">
                <a:tc>
                  <a:txBody>
                    <a:bodyPr/>
                    <a:lstStyle/>
                    <a:p>
                      <a:r>
                        <a:rPr sz="1800" b="0">
                          <a:solidFill>
                            <a:srgbClr val="081B3A"/>
                          </a:solidFill>
                          <a:latin typeface="Arial"/>
                          <a:ea typeface="Arial"/>
                          <a:cs typeface="Arial"/>
                        </a:rPr>
                        <a:t>Ağda yeterli eşleşme oluşmaması</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FFFFF"/>
                    </a:solidFill>
                  </a:tcPr>
                </a:tc>
                <a:tc>
                  <a:txBody>
                    <a:bodyPr/>
                    <a:lstStyle/>
                    <a:p>
                      <a:r>
                        <a:rPr sz="1800" b="0">
                          <a:solidFill>
                            <a:srgbClr val="081B3A"/>
                          </a:solidFill>
                          <a:latin typeface="Arial"/>
                          <a:ea typeface="Arial"/>
                          <a:cs typeface="Arial"/>
                        </a:rPr>
                        <a:t>Tek sektör ve kontrollü pilot kohortu</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r>
              <a:tr h="657225">
                <a:tc>
                  <a:txBody>
                    <a:bodyPr/>
                    <a:lstStyle/>
                    <a:p>
                      <a:r>
                        <a:rPr sz="1800" b="0">
                          <a:solidFill>
                            <a:srgbClr val="081B3A"/>
                          </a:solidFill>
                          <a:latin typeface="Arial"/>
                          <a:ea typeface="Arial"/>
                          <a:cs typeface="Arial"/>
                        </a:rPr>
                        <a:t>Satıcının ücret ödememesi</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5F8FC"/>
                    </a:solidFill>
                  </a:tcPr>
                </a:tc>
                <a:tc>
                  <a:txBody>
                    <a:bodyPr/>
                    <a:lstStyle/>
                    <a:p>
                      <a:r>
                        <a:rPr sz="1800" b="0">
                          <a:solidFill>
                            <a:srgbClr val="081B3A"/>
                          </a:solidFill>
                          <a:latin typeface="Arial"/>
                          <a:ea typeface="Arial"/>
                          <a:cs typeface="Arial"/>
                        </a:rPr>
                        <a:t>Gerçek ödeme ve mevcut alternatif görüşmeleri</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r>
              <a:tr h="657225">
                <a:tc>
                  <a:txBody>
                    <a:bodyPr/>
                    <a:lstStyle/>
                    <a:p>
                      <a:r>
                        <a:rPr sz="1800" b="0">
                          <a:solidFill>
                            <a:srgbClr val="081B3A"/>
                          </a:solidFill>
                          <a:latin typeface="Arial"/>
                          <a:ea typeface="Arial"/>
                          <a:cs typeface="Arial"/>
                        </a:rPr>
                        <a:t>Entegrasyon ve operasyon hataları</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FFFFF"/>
                    </a:solidFill>
                  </a:tcPr>
                </a:tc>
                <a:tc>
                  <a:txBody>
                    <a:bodyPr/>
                    <a:lstStyle/>
                    <a:p>
                      <a:r>
                        <a:rPr sz="1800" b="0">
                          <a:solidFill>
                            <a:srgbClr val="081B3A"/>
                          </a:solidFill>
                          <a:latin typeface="Arial"/>
                          <a:ea typeface="Arial"/>
                          <a:cs typeface="Arial"/>
                        </a:rPr>
                        <a:t>Canlı sağlayıcı, iade ve mutabakat kabul testleri</a:t>
                      </a:r>
                    </a:p>
                  </a:txBody>
                  <a:tcPr marL="133350" marR="133350" marT="133350" marB="95250" anchor="ctr">
                    <a:lnR w="5715">
                      <a:solidFill>
                        <a:srgbClr val="DCE5F0"/>
                      </a:solidFill>
                      <a:prstDash val="solid"/>
                    </a:lnR>
                    <a:lnB w="5715">
                      <a:solidFill>
                        <a:srgbClr val="DCE5F0"/>
                      </a:solidFill>
                      <a:prstDash val="solid"/>
                    </a:lnB>
                    <a:solidFill>
                      <a:srgbClr val="FFFFFF"/>
                    </a:solidFill>
                  </a:tcPr>
                </a:tc>
              </a:tr>
              <a:tr h="657225">
                <a:tc>
                  <a:txBody>
                    <a:bodyPr/>
                    <a:lstStyle/>
                    <a:p>
                      <a:r>
                        <a:rPr sz="1800" b="0">
                          <a:solidFill>
                            <a:srgbClr val="081B3A"/>
                          </a:solidFill>
                          <a:latin typeface="Arial"/>
                          <a:ea typeface="Arial"/>
                          <a:cs typeface="Arial"/>
                        </a:rPr>
                        <a:t>Gelirin maliyeti karşılamaması</a:t>
                      </a:r>
                    </a:p>
                  </a:txBody>
                  <a:tcPr marL="133350" marR="133350" marT="133350" marB="95250" anchor="ctr">
                    <a:lnL w="5715">
                      <a:solidFill>
                        <a:srgbClr val="DCE5F0"/>
                      </a:solidFill>
                      <a:prstDash val="solid"/>
                    </a:lnL>
                    <a:lnR w="5715">
                      <a:solidFill>
                        <a:srgbClr val="DCE5F0"/>
                      </a:solidFill>
                      <a:prstDash val="solid"/>
                    </a:lnR>
                    <a:lnB w="5715">
                      <a:solidFill>
                        <a:srgbClr val="DCE5F0"/>
                      </a:solidFill>
                      <a:prstDash val="solid"/>
                    </a:lnB>
                    <a:solidFill>
                      <a:srgbClr val="F5F8FC"/>
                    </a:solidFill>
                  </a:tcPr>
                </a:tc>
                <a:tc>
                  <a:txBody>
                    <a:bodyPr/>
                    <a:lstStyle/>
                    <a:p>
                      <a:r>
                        <a:rPr sz="1800" b="0">
                          <a:solidFill>
                            <a:srgbClr val="081B3A"/>
                          </a:solidFill>
                          <a:latin typeface="Arial"/>
                          <a:ea typeface="Arial"/>
                          <a:cs typeface="Arial"/>
                        </a:rPr>
                        <a:t>İade, destek ve kullanım maliyetiyle katkı marjı</a:t>
                      </a:r>
                    </a:p>
                  </a:txBody>
                  <a:tcPr marL="133350" marR="133350" marT="133350" marB="95250" anchor="ctr">
                    <a:lnR w="5715">
                      <a:solidFill>
                        <a:srgbClr val="DCE5F0"/>
                      </a:solidFill>
                      <a:prstDash val="solid"/>
                    </a:lnR>
                    <a:lnB w="5715">
                      <a:solidFill>
                        <a:srgbClr val="DCE5F0"/>
                      </a:solidFill>
                      <a:prstDash val="solid"/>
                    </a:lnB>
                    <a:solidFill>
                      <a:srgbClr val="F5F8FC"/>
                    </a:solidFill>
                  </a:tcPr>
                </a:tc>
              </a:tr>
            </a:tbl>
          </a:graphicData>
        </a:graphic>
      </p:graphicFrame>
    </p:spTree>
    <p:extLst>
      <p:ext uri="{BB962C8B-B14F-4D97-AF65-F5344CB8AC3E}">
        <p14:creationId xmlns:p14="http://schemas.microsoft.com/office/powerpoint/2010/main" val="13218884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77">
            <a:extLst xmlns:a="http://schemas.openxmlformats.org/drawingml/2006/main">
              <a:ext uri="{FF2B5EF4-FFF2-40B4-BE49-F238E27FC236}">
                <a16:creationId xmlns:a16="http://schemas.microsoft.com/office/drawing/2014/main" id="{0D804A29-F02A-452B-9E5D-2993A6467D4A}"/>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Ek 4  Ekip ve yatırım görüşmesi</a:t>
            </a:r>
          </a:p>
        </p:txBody>
      </p:sp>
      <p:sp>
        <p:nvSpPr>
          <p:cNvPr id="2" name="text-178">
            <a:extLst xmlns:a="http://schemas.openxmlformats.org/drawingml/2006/main">
              <a:ext uri="{FF2B5EF4-FFF2-40B4-BE49-F238E27FC236}">
                <a16:creationId xmlns:a16="http://schemas.microsoft.com/office/drawing/2014/main" id="{AE12DCFA-D758-43D9-9EF7-37733FFA3C85}"/>
              </a:ext>
            </a:extLst>
          </p:cNvPr>
          <p:cNvSpPr>
            <a:spLocks xmlns:a="http://schemas.openxmlformats.org/drawingml/2006/main" noGrp="1"/>
          </p:cNvSpPr>
          <p:nvPr/>
        </p:nvSpPr>
        <p:spPr>
          <a:xfrm xmlns:a="http://schemas.openxmlformats.org/drawingml/2006/main">
            <a:off x="704850" y="15906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A82"/>
                </a:solidFill>
                <a:latin typeface="Arial"/>
                <a:ea typeface="Arial"/>
                <a:cs typeface="Arial"/>
              </a:defRPr>
            </a:defPPr>
          </a:lstStyle>
          <a:p xmlns:a="http://schemas.openxmlformats.org/drawingml/2006/main">
            <a:pPr algn="l">
              <a:defRPr sz="1800" b="0">
                <a:solidFill>
                  <a:srgbClr val="596A82"/>
                </a:solidFill>
                <a:latin typeface="Arial"/>
                <a:ea typeface="Arial"/>
                <a:cs typeface="Arial"/>
              </a:defRPr>
            </a:pPr>
            <a:r>
              <a:rPr sz="1800" b="0">
                <a:solidFill>
                  <a:srgbClr val="596A82"/>
                </a:solidFill>
                <a:latin typeface="Arial"/>
                <a:ea typeface="Arial"/>
                <a:cs typeface="Arial"/>
              </a:rPr>
              <a:t>Gerekli yetkinlikler ve somut tur planı</a:t>
            </a:r>
          </a:p>
        </p:txBody>
      </p:sp>
      <p:sp>
        <p:nvSpPr>
          <p:cNvPr id="3" name="text-179">
            <a:extLst xmlns:a="http://schemas.openxmlformats.org/drawingml/2006/main">
              <a:ext uri="{FF2B5EF4-FFF2-40B4-BE49-F238E27FC236}">
                <a16:creationId xmlns:a16="http://schemas.microsoft.com/office/drawing/2014/main" id="{A5F88A8A-08E7-444B-A4AC-2AA1036C9129}"/>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4" name="text-180">
            <a:extLst xmlns:a="http://schemas.openxmlformats.org/drawingml/2006/main">
              <a:ext uri="{FF2B5EF4-FFF2-40B4-BE49-F238E27FC236}">
                <a16:creationId xmlns:a16="http://schemas.microsoft.com/office/drawing/2014/main" id="{5299BF03-EE2A-4FC4-8DD3-FEC39D8B8824}"/>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20</a:t>
            </a:r>
          </a:p>
        </p:txBody>
      </p:sp>
      <p:sp>
        <p:nvSpPr>
          <p:cNvPr id="5" name="text-181">
            <a:extLst xmlns:a="http://schemas.openxmlformats.org/drawingml/2006/main">
              <a:ext uri="{FF2B5EF4-FFF2-40B4-BE49-F238E27FC236}">
                <a16:creationId xmlns:a16="http://schemas.microsoft.com/office/drawing/2014/main" id="{51C5F376-44B8-4294-B627-FDCCABD3C9D2}"/>
              </a:ext>
            </a:extLst>
          </p:cNvPr>
          <p:cNvSpPr>
            <a:spLocks xmlns:a="http://schemas.openxmlformats.org/drawingml/2006/main" noGrp="1"/>
          </p:cNvSpPr>
          <p:nvPr/>
        </p:nvSpPr>
        <p:spPr>
          <a:xfrm xmlns:a="http://schemas.openxmlformats.org/drawingml/2006/main">
            <a:off x="742950" y="2514600"/>
            <a:ext cx="4991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1B3A"/>
                </a:solidFill>
                <a:latin typeface="Arial"/>
                <a:ea typeface="Arial"/>
                <a:cs typeface="Arial"/>
              </a:defRPr>
            </a:defPPr>
          </a:lstStyle>
          <a:p xmlns:a="http://schemas.openxmlformats.org/drawingml/2006/main">
            <a:pPr algn="l">
              <a:defRPr sz="2625" b="1">
                <a:solidFill>
                  <a:srgbClr val="081B3A"/>
                </a:solidFill>
                <a:latin typeface="Arial"/>
                <a:ea typeface="Arial"/>
                <a:cs typeface="Arial"/>
              </a:defRPr>
            </a:pPr>
            <a:r>
              <a:rPr sz="2625" b="1">
                <a:solidFill>
                  <a:srgbClr val="081B3A"/>
                </a:solidFill>
                <a:latin typeface="Arial"/>
                <a:ea typeface="Arial"/>
                <a:cs typeface="Arial"/>
              </a:rPr>
              <a:t>Ürün ve teknoloji</a:t>
            </a:r>
          </a:p>
        </p:txBody>
      </p:sp>
      <p:sp>
        <p:nvSpPr>
          <p:cNvPr id="6" name="text-182">
            <a:extLst xmlns:a="http://schemas.openxmlformats.org/drawingml/2006/main">
              <a:ext uri="{FF2B5EF4-FFF2-40B4-BE49-F238E27FC236}">
                <a16:creationId xmlns:a16="http://schemas.microsoft.com/office/drawing/2014/main" id="{23F7ADC9-BF0B-4FF3-8472-937B7BD22908}"/>
              </a:ext>
            </a:extLst>
          </p:cNvPr>
          <p:cNvSpPr>
            <a:spLocks xmlns:a="http://schemas.openxmlformats.org/drawingml/2006/main" noGrp="1"/>
          </p:cNvSpPr>
          <p:nvPr/>
        </p:nvSpPr>
        <p:spPr>
          <a:xfrm xmlns:a="http://schemas.openxmlformats.org/drawingml/2006/main">
            <a:off x="771525" y="3276600"/>
            <a:ext cx="51339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A82"/>
                </a:solidFill>
                <a:latin typeface="Arial"/>
                <a:ea typeface="Arial"/>
                <a:cs typeface="Arial"/>
              </a:defRPr>
            </a:defPPr>
          </a:lstStyle>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Frontend, entegrasyon ve ticari kayıtların</a:t>
            </a:r>
          </a:p>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güvenilir işletimi</a:t>
            </a:r>
          </a:p>
        </p:txBody>
      </p:sp>
      <p:sp>
        <p:nvSpPr>
          <p:cNvPr id="7" name="text-183">
            <a:extLst xmlns:a="http://schemas.openxmlformats.org/drawingml/2006/main">
              <a:ext uri="{FF2B5EF4-FFF2-40B4-BE49-F238E27FC236}">
                <a16:creationId xmlns:a16="http://schemas.microsoft.com/office/drawing/2014/main" id="{CC15DA75-0457-445C-84C0-78D57AB39A7F}"/>
              </a:ext>
            </a:extLst>
          </p:cNvPr>
          <p:cNvSpPr>
            <a:spLocks xmlns:a="http://schemas.openxmlformats.org/drawingml/2006/main" noGrp="1"/>
          </p:cNvSpPr>
          <p:nvPr/>
        </p:nvSpPr>
        <p:spPr>
          <a:xfrm xmlns:a="http://schemas.openxmlformats.org/drawingml/2006/main">
            <a:off x="6381750" y="2514600"/>
            <a:ext cx="5143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1B3A"/>
                </a:solidFill>
                <a:latin typeface="Arial"/>
                <a:ea typeface="Arial"/>
                <a:cs typeface="Arial"/>
              </a:defRPr>
            </a:defPPr>
          </a:lstStyle>
          <a:p xmlns:a="http://schemas.openxmlformats.org/drawingml/2006/main">
            <a:pPr algn="l">
              <a:defRPr sz="2625" b="1">
                <a:solidFill>
                  <a:srgbClr val="081B3A"/>
                </a:solidFill>
                <a:latin typeface="Arial"/>
                <a:ea typeface="Arial"/>
                <a:cs typeface="Arial"/>
              </a:defRPr>
            </a:pPr>
            <a:r>
              <a:rPr sz="2625" b="1">
                <a:solidFill>
                  <a:srgbClr val="081B3A"/>
                </a:solidFill>
                <a:latin typeface="Arial"/>
                <a:ea typeface="Arial"/>
                <a:cs typeface="Arial"/>
              </a:rPr>
              <a:t>Satış ve partner operasyonu</a:t>
            </a:r>
          </a:p>
        </p:txBody>
      </p:sp>
      <p:sp>
        <p:nvSpPr>
          <p:cNvPr id="8" name="text-184">
            <a:extLst xmlns:a="http://schemas.openxmlformats.org/drawingml/2006/main">
              <a:ext uri="{FF2B5EF4-FFF2-40B4-BE49-F238E27FC236}">
                <a16:creationId xmlns:a16="http://schemas.microsoft.com/office/drawing/2014/main" id="{3B6C3E2B-3DE9-469D-BCD6-A21230E57B0A}"/>
              </a:ext>
            </a:extLst>
          </p:cNvPr>
          <p:cNvSpPr>
            <a:spLocks xmlns:a="http://schemas.openxmlformats.org/drawingml/2006/main" noGrp="1"/>
          </p:cNvSpPr>
          <p:nvPr/>
        </p:nvSpPr>
        <p:spPr>
          <a:xfrm xmlns:a="http://schemas.openxmlformats.org/drawingml/2006/main">
            <a:off x="6410325" y="3276600"/>
            <a:ext cx="50768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A82"/>
                </a:solidFill>
                <a:latin typeface="Arial"/>
                <a:ea typeface="Arial"/>
                <a:cs typeface="Arial"/>
              </a:defRPr>
            </a:defPPr>
          </a:lstStyle>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Satıcı onboarding, tedarik eşleşmesi ve</a:t>
            </a:r>
          </a:p>
          <a:p xmlns:a="http://schemas.openxmlformats.org/drawingml/2006/main">
            <a:pPr algn="l">
              <a:defRPr sz="1875" b="0">
                <a:solidFill>
                  <a:srgbClr val="596A82"/>
                </a:solidFill>
                <a:latin typeface="Arial"/>
                <a:ea typeface="Arial"/>
                <a:cs typeface="Arial"/>
              </a:defRPr>
            </a:pPr>
            <a:r>
              <a:rPr sz="1875" b="0">
                <a:solidFill>
                  <a:srgbClr val="596A82"/>
                </a:solidFill>
                <a:latin typeface="Arial"/>
                <a:ea typeface="Arial"/>
                <a:cs typeface="Arial"/>
              </a:rPr>
              <a:t>influencer iş birliği yönetimi</a:t>
            </a:r>
          </a:p>
        </p:txBody>
      </p:sp>
      <p:sp>
        <p:nvSpPr>
          <p:cNvPr id="9" name="text-185">
            <a:extLst xmlns:a="http://schemas.openxmlformats.org/drawingml/2006/main">
              <a:ext uri="{FF2B5EF4-FFF2-40B4-BE49-F238E27FC236}">
                <a16:creationId xmlns:a16="http://schemas.microsoft.com/office/drawing/2014/main" id="{5FC4D9B2-B696-4F2B-AEA6-6DF4D445B1D4}"/>
              </a:ext>
            </a:extLst>
          </p:cNvPr>
          <p:cNvSpPr>
            <a:spLocks xmlns:a="http://schemas.openxmlformats.org/drawingml/2006/main" noGrp="1"/>
          </p:cNvSpPr>
          <p:nvPr/>
        </p:nvSpPr>
        <p:spPr>
          <a:xfrm xmlns:a="http://schemas.openxmlformats.org/drawingml/2006/main">
            <a:off x="752475" y="46482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75FF7"/>
                </a:solidFill>
                <a:latin typeface="Arial"/>
                <a:ea typeface="Arial"/>
                <a:cs typeface="Arial"/>
              </a:defRPr>
            </a:defPPr>
          </a:lstStyle>
          <a:p xmlns:a="http://schemas.openxmlformats.org/drawingml/2006/main">
            <a:pPr algn="l">
              <a:defRPr sz="2400" b="1">
                <a:solidFill>
                  <a:srgbClr val="075FF7"/>
                </a:solidFill>
                <a:latin typeface="Arial"/>
                <a:ea typeface="Arial"/>
                <a:cs typeface="Arial"/>
              </a:defRPr>
            </a:pPr>
            <a:r>
              <a:rPr sz="2400" b="1">
                <a:solidFill>
                  <a:srgbClr val="075FF7"/>
                </a:solidFill>
                <a:latin typeface="Arial"/>
                <a:ea typeface="Arial"/>
                <a:cs typeface="Arial"/>
              </a:rPr>
              <a:t>Görüşmede netleşecek bilgiler</a:t>
            </a:r>
          </a:p>
        </p:txBody>
      </p:sp>
      <p:sp>
        <p:nvSpPr>
          <p:cNvPr id="10" name="text-186">
            <a:extLst xmlns:a="http://schemas.openxmlformats.org/drawingml/2006/main">
              <a:ext uri="{FF2B5EF4-FFF2-40B4-BE49-F238E27FC236}">
                <a16:creationId xmlns:a16="http://schemas.microsoft.com/office/drawing/2014/main" id="{2F9D8DB8-7F13-4D9E-9E60-6220F81F7C37}"/>
              </a:ext>
            </a:extLst>
          </p:cNvPr>
          <p:cNvSpPr>
            <a:spLocks xmlns:a="http://schemas.openxmlformats.org/drawingml/2006/main" noGrp="1"/>
          </p:cNvSpPr>
          <p:nvPr/>
        </p:nvSpPr>
        <p:spPr>
          <a:xfrm xmlns:a="http://schemas.openxmlformats.org/drawingml/2006/main">
            <a:off x="771525" y="53816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96A82"/>
                </a:solidFill>
                <a:latin typeface="Arial"/>
                <a:ea typeface="Arial"/>
                <a:cs typeface="Arial"/>
              </a:defRPr>
            </a:defPPr>
          </a:lstStyle>
          <a:p xmlns:a="http://schemas.openxmlformats.org/drawingml/2006/main">
            <a:pPr algn="l">
              <a:defRPr sz="1950" b="0">
                <a:solidFill>
                  <a:srgbClr val="596A82"/>
                </a:solidFill>
                <a:latin typeface="Arial"/>
                <a:ea typeface="Arial"/>
                <a:cs typeface="Arial"/>
              </a:defRPr>
            </a:pPr>
            <a:r>
              <a:rPr sz="1950" b="0">
                <a:solidFill>
                  <a:srgbClr val="596A82"/>
                </a:solidFill>
                <a:latin typeface="Arial"/>
                <a:ea typeface="Arial"/>
                <a:cs typeface="Arial"/>
              </a:rPr>
              <a:t>Kurucu profili ve ekip, yatırım tutarı, bütçe, şirket ve IP sahipliği</a:t>
            </a:r>
          </a:p>
        </p:txBody>
      </p:sp>
    </p:spTree>
    <p:extLst>
      <p:ext uri="{BB962C8B-B14F-4D97-AF65-F5344CB8AC3E}">
        <p14:creationId xmlns:p14="http://schemas.microsoft.com/office/powerpoint/2010/main" val="30723715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187">
            <a:extLst xmlns:a="http://schemas.openxmlformats.org/drawingml/2006/main">
              <a:ext uri="{FF2B5EF4-FFF2-40B4-BE49-F238E27FC236}">
                <a16:creationId xmlns:a16="http://schemas.microsoft.com/office/drawing/2014/main" id="{8A978799-5C4E-4D05-91C8-752A41227FF6}"/>
              </a:ext>
            </a:extLst>
          </p:cNvPr>
          <p:cNvSpPr>
            <a:spLocks xmlns:a="http://schemas.openxmlformats.org/drawingml/2006/main" noGrp="1"/>
          </p:cNvSpPr>
          <p:nvPr/>
        </p:nvSpPr>
        <p:spPr>
          <a:xfrm xmlns:a="http://schemas.openxmlformats.org/drawingml/2006/main">
            <a:off x="685800" y="4953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81B3A"/>
                </a:solidFill>
                <a:latin typeface="Arial"/>
                <a:ea typeface="Arial"/>
                <a:cs typeface="Arial"/>
              </a:defRPr>
            </a:defPPr>
          </a:lstStyle>
          <a:p xmlns:a="http://schemas.openxmlformats.org/drawingml/2006/main">
            <a:pPr algn="l">
              <a:defRPr sz="3600" b="1">
                <a:solidFill>
                  <a:srgbClr val="081B3A"/>
                </a:solidFill>
                <a:latin typeface="Arial"/>
                <a:ea typeface="Arial"/>
                <a:cs typeface="Arial"/>
              </a:defRPr>
            </a:pPr>
            <a:r>
              <a:rPr sz="3600" b="1">
                <a:solidFill>
                  <a:srgbClr val="081B3A"/>
                </a:solidFill>
                <a:latin typeface="Arial"/>
                <a:ea typeface="Arial"/>
                <a:cs typeface="Arial"/>
              </a:rPr>
              <a:t>Ek 5  Kaynaklar</a:t>
            </a:r>
          </a:p>
        </p:txBody>
      </p:sp>
      <p:sp>
        <p:nvSpPr>
          <p:cNvPr id="2" name="text-188">
            <a:extLst xmlns:a="http://schemas.openxmlformats.org/drawingml/2006/main">
              <a:ext uri="{FF2B5EF4-FFF2-40B4-BE49-F238E27FC236}">
                <a16:creationId xmlns:a16="http://schemas.microsoft.com/office/drawing/2014/main" id="{3D5C80F5-74B9-44E7-B097-B59A58B2D9D9}"/>
              </a:ext>
            </a:extLst>
          </p:cNvPr>
          <p:cNvSpPr>
            <a:spLocks xmlns:a="http://schemas.openxmlformats.org/drawingml/2006/main" noGrp="1"/>
          </p:cNvSpPr>
          <p:nvPr/>
        </p:nvSpPr>
        <p:spPr>
          <a:xfrm xmlns:a="http://schemas.openxmlformats.org/drawingml/2006/main">
            <a:off x="685800" y="6448425"/>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596A82"/>
                </a:solidFill>
                <a:latin typeface="Arial"/>
                <a:ea typeface="Arial"/>
                <a:cs typeface="Arial"/>
              </a:defRPr>
            </a:defPPr>
          </a:lstStyle>
          <a:p xmlns:a="http://schemas.openxmlformats.org/drawingml/2006/main">
            <a:pPr algn="l">
              <a:defRPr sz="1125" b="1">
                <a:solidFill>
                  <a:srgbClr val="596A82"/>
                </a:solidFill>
                <a:latin typeface="Arial"/>
                <a:ea typeface="Arial"/>
                <a:cs typeface="Arial"/>
              </a:defRPr>
            </a:pPr>
            <a:r>
              <a:rPr sz="1125" b="1">
                <a:solidFill>
                  <a:srgbClr val="596A82"/>
                </a:solidFill>
                <a:latin typeface="Arial"/>
                <a:ea typeface="Arial"/>
                <a:cs typeface="Arial"/>
              </a:rPr>
              <a:t>ALCEIX</a:t>
            </a:r>
          </a:p>
        </p:txBody>
      </p:sp>
      <p:sp>
        <p:nvSpPr>
          <p:cNvPr id="3" name="text-189">
            <a:extLst xmlns:a="http://schemas.openxmlformats.org/drawingml/2006/main">
              <a:ext uri="{FF2B5EF4-FFF2-40B4-BE49-F238E27FC236}">
                <a16:creationId xmlns:a16="http://schemas.microsoft.com/office/drawing/2014/main" id="{7A71CABC-A187-4F70-A305-56049A391486}"/>
              </a:ext>
            </a:extLst>
          </p:cNvPr>
          <p:cNvSpPr>
            <a:spLocks xmlns:a="http://schemas.openxmlformats.org/drawingml/2006/main" noGrp="1"/>
          </p:cNvSpPr>
          <p:nvPr/>
        </p:nvSpPr>
        <p:spPr>
          <a:xfrm xmlns:a="http://schemas.openxmlformats.org/drawingml/2006/main">
            <a:off x="10953750" y="64484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A82"/>
                </a:solidFill>
                <a:latin typeface="Arial"/>
                <a:ea typeface="Arial"/>
                <a:cs typeface="Arial"/>
              </a:defRPr>
            </a:defPPr>
          </a:lstStyle>
          <a:p xmlns:a="http://schemas.openxmlformats.org/drawingml/2006/main">
            <a:pPr algn="r">
              <a:defRPr sz="1125" b="0">
                <a:solidFill>
                  <a:srgbClr val="596A82"/>
                </a:solidFill>
                <a:latin typeface="Arial"/>
                <a:ea typeface="Arial"/>
                <a:cs typeface="Arial"/>
              </a:defRPr>
            </a:pPr>
            <a:r>
              <a:rPr sz="1125" b="0">
                <a:solidFill>
                  <a:srgbClr val="596A82"/>
                </a:solidFill>
                <a:latin typeface="Arial"/>
                <a:ea typeface="Arial"/>
                <a:cs typeface="Arial"/>
              </a:rPr>
              <a:t>21</a:t>
            </a:r>
          </a:p>
        </p:txBody>
      </p:sp>
      <p:sp>
        <p:nvSpPr>
          <p:cNvPr id="4" name="text-190">
            <a:extLst xmlns:a="http://schemas.openxmlformats.org/drawingml/2006/main">
              <a:ext uri="{FF2B5EF4-FFF2-40B4-BE49-F238E27FC236}">
                <a16:creationId xmlns:a16="http://schemas.microsoft.com/office/drawing/2014/main" id="{1B86F4D6-EA92-4A38-A375-32C8C3FF8C48}"/>
              </a:ext>
            </a:extLst>
          </p:cNvPr>
          <p:cNvSpPr>
            <a:spLocks xmlns:a="http://schemas.openxmlformats.org/drawingml/2006/main" noGrp="1"/>
          </p:cNvSpPr>
          <p:nvPr/>
        </p:nvSpPr>
        <p:spPr>
          <a:xfrm xmlns:a="http://schemas.openxmlformats.org/drawingml/2006/main">
            <a:off x="742950" y="1876425"/>
            <a:ext cx="52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75FF7"/>
                </a:solidFill>
                <a:latin typeface="Arial"/>
                <a:ea typeface="Arial"/>
                <a:cs typeface="Arial"/>
              </a:defRPr>
            </a:defPPr>
          </a:lstStyle>
          <a:p xmlns:a="http://schemas.openxmlformats.org/drawingml/2006/main">
            <a:pPr algn="l">
              <a:defRPr sz="1650" b="1">
                <a:solidFill>
                  <a:srgbClr val="075FF7"/>
                </a:solidFill>
                <a:latin typeface="Arial"/>
                <a:ea typeface="Arial"/>
                <a:cs typeface="Arial"/>
              </a:defRPr>
            </a:pPr>
            <a:r>
              <a:rPr sz="1650" b="1">
                <a:solidFill>
                  <a:srgbClr val="075FF7"/>
                </a:solidFill>
                <a:latin typeface="Arial"/>
                <a:ea typeface="Arial"/>
                <a:cs typeface="Arial"/>
              </a:rPr>
              <a:t>01</a:t>
            </a:r>
          </a:p>
        </p:txBody>
      </p:sp>
      <p:sp>
        <p:nvSpPr>
          <p:cNvPr id="5" name="text-191">
            <a:extLst xmlns:a="http://schemas.openxmlformats.org/drawingml/2006/main">
              <a:ext uri="{FF2B5EF4-FFF2-40B4-BE49-F238E27FC236}">
                <a16:creationId xmlns:a16="http://schemas.microsoft.com/office/drawing/2014/main" id="{82D2A193-C086-4CF0-B5D9-DB58B452A8CA}"/>
              </a:ext>
            </a:extLst>
          </p:cNvPr>
          <p:cNvSpPr>
            <a:spLocks xmlns:a="http://schemas.openxmlformats.org/drawingml/2006/main" noGrp="1"/>
          </p:cNvSpPr>
          <p:nvPr/>
        </p:nvSpPr>
        <p:spPr>
          <a:xfrm xmlns:a="http://schemas.openxmlformats.org/drawingml/2006/main">
            <a:off x="1409700" y="1876425"/>
            <a:ext cx="433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1B3A"/>
                </a:solidFill>
                <a:latin typeface="Arial"/>
                <a:ea typeface="Arial"/>
                <a:cs typeface="Arial"/>
              </a:defRPr>
            </a:defPPr>
          </a:lstStyle>
          <a:p xmlns:a="http://schemas.openxmlformats.org/drawingml/2006/main">
            <a:pPr algn="l">
              <a:defRPr sz="1650" b="1">
                <a:solidFill>
                  <a:srgbClr val="081B3A"/>
                </a:solidFill>
                <a:latin typeface="Arial"/>
                <a:ea typeface="Arial"/>
                <a:cs typeface="Arial"/>
              </a:defRPr>
            </a:pPr>
            <a:r>
              <a:rPr sz="1650" b="1">
                <a:solidFill>
                  <a:srgbClr val="081B3A"/>
                </a:solidFill>
                <a:latin typeface="Arial"/>
                <a:ea typeface="Arial"/>
                <a:cs typeface="Arial"/>
              </a:rPr>
              <a:t>Sequoia Capital</a:t>
            </a:r>
          </a:p>
        </p:txBody>
      </p:sp>
      <p:sp>
        <p:nvSpPr>
          <p:cNvPr id="6" name="text-192">
            <a:extLst xmlns:a="http://schemas.openxmlformats.org/drawingml/2006/main">
              <a:ext uri="{FF2B5EF4-FFF2-40B4-BE49-F238E27FC236}">
                <a16:creationId xmlns:a16="http://schemas.microsoft.com/office/drawing/2014/main" id="{D08A7EAB-3F95-4706-8CDC-75525A61D76B}"/>
              </a:ext>
            </a:extLst>
          </p:cNvPr>
          <p:cNvSpPr>
            <a:spLocks xmlns:a="http://schemas.openxmlformats.org/drawingml/2006/main" noGrp="1"/>
          </p:cNvSpPr>
          <p:nvPr/>
        </p:nvSpPr>
        <p:spPr>
          <a:xfrm xmlns:a="http://schemas.openxmlformats.org/drawingml/2006/main">
            <a:off x="5924550" y="1876425"/>
            <a:ext cx="552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A82"/>
                </a:solidFill>
                <a:latin typeface="Arial"/>
                <a:ea typeface="Arial"/>
                <a:cs typeface="Arial"/>
              </a:defRPr>
            </a:defPPr>
          </a:lstStyle>
          <a:p xmlns:a="http://schemas.openxmlformats.org/drawingml/2006/main">
            <a:pPr algn="l">
              <a:defRPr sz="1575" b="0">
                <a:solidFill>
                  <a:srgbClr val="596A82"/>
                </a:solidFill>
                <a:latin typeface="Arial"/>
                <a:ea typeface="Arial"/>
                <a:cs typeface="Arial"/>
              </a:defRPr>
            </a:pPr>
            <a:r>
              <a:rPr sz="1575" b="0">
                <a:solidFill>
                  <a:srgbClr val="596A82"/>
                </a:solidFill>
                <a:latin typeface="Arial"/>
                <a:ea typeface="Arial"/>
                <a:cs typeface="Arial"/>
              </a:rPr>
              <a:t>Şirket amacı, problem, çözüm, iş modeli ve ekip</a:t>
            </a:r>
          </a:p>
        </p:txBody>
      </p:sp>
      <p:sp>
        <p:nvSpPr>
          <p:cNvPr id="7" name="text-193">
            <a:extLst xmlns:a="http://schemas.openxmlformats.org/drawingml/2006/main">
              <a:ext uri="{FF2B5EF4-FFF2-40B4-BE49-F238E27FC236}">
                <a16:creationId xmlns:a16="http://schemas.microsoft.com/office/drawing/2014/main" id="{CFA0A7D3-F8C4-49D4-9BF9-85E30C1BDCC7}"/>
              </a:ext>
            </a:extLst>
          </p:cNvPr>
          <p:cNvSpPr>
            <a:spLocks xmlns:a="http://schemas.openxmlformats.org/drawingml/2006/main" noGrp="1"/>
          </p:cNvSpPr>
          <p:nvPr/>
        </p:nvSpPr>
        <p:spPr>
          <a:xfrm xmlns:a="http://schemas.openxmlformats.org/drawingml/2006/main">
            <a:off x="742950" y="2381250"/>
            <a:ext cx="52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75FF7"/>
                </a:solidFill>
                <a:latin typeface="Arial"/>
                <a:ea typeface="Arial"/>
                <a:cs typeface="Arial"/>
              </a:defRPr>
            </a:defPPr>
          </a:lstStyle>
          <a:p xmlns:a="http://schemas.openxmlformats.org/drawingml/2006/main">
            <a:pPr algn="l">
              <a:defRPr sz="1650" b="1">
                <a:solidFill>
                  <a:srgbClr val="075FF7"/>
                </a:solidFill>
                <a:latin typeface="Arial"/>
                <a:ea typeface="Arial"/>
                <a:cs typeface="Arial"/>
              </a:defRPr>
            </a:pPr>
            <a:r>
              <a:rPr sz="1650" b="1">
                <a:solidFill>
                  <a:srgbClr val="075FF7"/>
                </a:solidFill>
                <a:latin typeface="Arial"/>
                <a:ea typeface="Arial"/>
                <a:cs typeface="Arial"/>
              </a:rPr>
              <a:t>02</a:t>
            </a:r>
          </a:p>
        </p:txBody>
      </p:sp>
      <p:sp>
        <p:nvSpPr>
          <p:cNvPr id="8" name="text-194">
            <a:extLst xmlns:a="http://schemas.openxmlformats.org/drawingml/2006/main">
              <a:ext uri="{FF2B5EF4-FFF2-40B4-BE49-F238E27FC236}">
                <a16:creationId xmlns:a16="http://schemas.microsoft.com/office/drawing/2014/main" id="{DB9169DB-5F65-4981-B37E-680D31BF12F6}"/>
              </a:ext>
            </a:extLst>
          </p:cNvPr>
          <p:cNvSpPr>
            <a:spLocks xmlns:a="http://schemas.openxmlformats.org/drawingml/2006/main" noGrp="1"/>
          </p:cNvSpPr>
          <p:nvPr/>
        </p:nvSpPr>
        <p:spPr>
          <a:xfrm xmlns:a="http://schemas.openxmlformats.org/drawingml/2006/main">
            <a:off x="1409700" y="2381250"/>
            <a:ext cx="433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1B3A"/>
                </a:solidFill>
                <a:latin typeface="Arial"/>
                <a:ea typeface="Arial"/>
                <a:cs typeface="Arial"/>
              </a:defRPr>
            </a:defPPr>
          </a:lstStyle>
          <a:p xmlns:a="http://schemas.openxmlformats.org/drawingml/2006/main">
            <a:pPr algn="l">
              <a:defRPr sz="1650" b="1">
                <a:solidFill>
                  <a:srgbClr val="081B3A"/>
                </a:solidFill>
                <a:latin typeface="Arial"/>
                <a:ea typeface="Arial"/>
                <a:cs typeface="Arial"/>
              </a:defRPr>
            </a:pPr>
            <a:r>
              <a:rPr sz="1650" b="1">
                <a:solidFill>
                  <a:srgbClr val="081B3A"/>
                </a:solidFill>
                <a:latin typeface="Arial"/>
                <a:ea typeface="Arial"/>
                <a:cs typeface="Arial"/>
              </a:rPr>
              <a:t>Y Combinator</a:t>
            </a:r>
          </a:p>
        </p:txBody>
      </p:sp>
      <p:sp>
        <p:nvSpPr>
          <p:cNvPr id="9" name="text-195">
            <a:extLst xmlns:a="http://schemas.openxmlformats.org/drawingml/2006/main">
              <a:ext uri="{FF2B5EF4-FFF2-40B4-BE49-F238E27FC236}">
                <a16:creationId xmlns:a16="http://schemas.microsoft.com/office/drawing/2014/main" id="{CBD759C6-808B-4B21-BB09-D8D486C998AC}"/>
              </a:ext>
            </a:extLst>
          </p:cNvPr>
          <p:cNvSpPr>
            <a:spLocks xmlns:a="http://schemas.openxmlformats.org/drawingml/2006/main" noGrp="1"/>
          </p:cNvSpPr>
          <p:nvPr/>
        </p:nvSpPr>
        <p:spPr>
          <a:xfrm xmlns:a="http://schemas.openxmlformats.org/drawingml/2006/main">
            <a:off x="5924550" y="2381250"/>
            <a:ext cx="552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A82"/>
                </a:solidFill>
                <a:latin typeface="Arial"/>
                <a:ea typeface="Arial"/>
                <a:cs typeface="Arial"/>
              </a:defRPr>
            </a:defPPr>
          </a:lstStyle>
          <a:p xmlns:a="http://schemas.openxmlformats.org/drawingml/2006/main">
            <a:pPr algn="l">
              <a:defRPr sz="1575" b="0">
                <a:solidFill>
                  <a:srgbClr val="596A82"/>
                </a:solidFill>
                <a:latin typeface="Arial"/>
                <a:ea typeface="Arial"/>
                <a:cs typeface="Arial"/>
              </a:defRPr>
            </a:pPr>
            <a:r>
              <a:rPr sz="1575" b="0">
                <a:solidFill>
                  <a:srgbClr val="596A82"/>
                </a:solidFill>
                <a:latin typeface="Arial"/>
                <a:ea typeface="Arial"/>
                <a:cs typeface="Arial"/>
              </a:rPr>
              <a:t>Okunabilir, sade ve tek fikir taşıyan sunum</a:t>
            </a:r>
          </a:p>
        </p:txBody>
      </p:sp>
      <p:sp>
        <p:nvSpPr>
          <p:cNvPr id="10" name="text-196">
            <a:extLst xmlns:a="http://schemas.openxmlformats.org/drawingml/2006/main">
              <a:ext uri="{FF2B5EF4-FFF2-40B4-BE49-F238E27FC236}">
                <a16:creationId xmlns:a16="http://schemas.microsoft.com/office/drawing/2014/main" id="{3738003F-E692-4178-8746-0818F5AE15B2}"/>
              </a:ext>
            </a:extLst>
          </p:cNvPr>
          <p:cNvSpPr>
            <a:spLocks xmlns:a="http://schemas.openxmlformats.org/drawingml/2006/main" noGrp="1"/>
          </p:cNvSpPr>
          <p:nvPr/>
        </p:nvSpPr>
        <p:spPr>
          <a:xfrm xmlns:a="http://schemas.openxmlformats.org/drawingml/2006/main">
            <a:off x="742950" y="2886075"/>
            <a:ext cx="52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75FF7"/>
                </a:solidFill>
                <a:latin typeface="Arial"/>
                <a:ea typeface="Arial"/>
                <a:cs typeface="Arial"/>
              </a:defRPr>
            </a:defPPr>
          </a:lstStyle>
          <a:p xmlns:a="http://schemas.openxmlformats.org/drawingml/2006/main">
            <a:pPr algn="l">
              <a:defRPr sz="1650" b="1">
                <a:solidFill>
                  <a:srgbClr val="075FF7"/>
                </a:solidFill>
                <a:latin typeface="Arial"/>
                <a:ea typeface="Arial"/>
                <a:cs typeface="Arial"/>
              </a:defRPr>
            </a:pPr>
            <a:r>
              <a:rPr sz="1650" b="1">
                <a:solidFill>
                  <a:srgbClr val="075FF7"/>
                </a:solidFill>
                <a:latin typeface="Arial"/>
                <a:ea typeface="Arial"/>
                <a:cs typeface="Arial"/>
              </a:rPr>
              <a:t>03</a:t>
            </a:r>
          </a:p>
        </p:txBody>
      </p:sp>
      <p:sp>
        <p:nvSpPr>
          <p:cNvPr id="11" name="text-197">
            <a:extLst xmlns:a="http://schemas.openxmlformats.org/drawingml/2006/main">
              <a:ext uri="{FF2B5EF4-FFF2-40B4-BE49-F238E27FC236}">
                <a16:creationId xmlns:a16="http://schemas.microsoft.com/office/drawing/2014/main" id="{03AD1021-E8D5-422C-8C0E-6D74BECF78BC}"/>
              </a:ext>
            </a:extLst>
          </p:cNvPr>
          <p:cNvSpPr>
            <a:spLocks xmlns:a="http://schemas.openxmlformats.org/drawingml/2006/main" noGrp="1"/>
          </p:cNvSpPr>
          <p:nvPr/>
        </p:nvSpPr>
        <p:spPr>
          <a:xfrm xmlns:a="http://schemas.openxmlformats.org/drawingml/2006/main">
            <a:off x="1409700" y="2886075"/>
            <a:ext cx="433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1B3A"/>
                </a:solidFill>
                <a:latin typeface="Arial"/>
                <a:ea typeface="Arial"/>
                <a:cs typeface="Arial"/>
              </a:defRPr>
            </a:defPPr>
          </a:lstStyle>
          <a:p xmlns:a="http://schemas.openxmlformats.org/drawingml/2006/main">
            <a:pPr algn="l">
              <a:defRPr sz="1650" b="1">
                <a:solidFill>
                  <a:srgbClr val="081B3A"/>
                </a:solidFill>
                <a:latin typeface="Arial"/>
                <a:ea typeface="Arial"/>
                <a:cs typeface="Arial"/>
              </a:defRPr>
            </a:pPr>
            <a:r>
              <a:rPr sz="1650" b="1">
                <a:solidFill>
                  <a:srgbClr val="081B3A"/>
                </a:solidFill>
                <a:latin typeface="Arial"/>
                <a:ea typeface="Arial"/>
                <a:cs typeface="Arial"/>
              </a:rPr>
              <a:t>Ticaret Bakanlığı / ETBİS</a:t>
            </a:r>
          </a:p>
        </p:txBody>
      </p:sp>
      <p:sp>
        <p:nvSpPr>
          <p:cNvPr id="12" name="text-198">
            <a:extLst xmlns:a="http://schemas.openxmlformats.org/drawingml/2006/main">
              <a:ext uri="{FF2B5EF4-FFF2-40B4-BE49-F238E27FC236}">
                <a16:creationId xmlns:a16="http://schemas.microsoft.com/office/drawing/2014/main" id="{4619EB3A-FE7F-496E-B3B6-D3CCEDD192D2}"/>
              </a:ext>
            </a:extLst>
          </p:cNvPr>
          <p:cNvSpPr>
            <a:spLocks xmlns:a="http://schemas.openxmlformats.org/drawingml/2006/main" noGrp="1"/>
          </p:cNvSpPr>
          <p:nvPr/>
        </p:nvSpPr>
        <p:spPr>
          <a:xfrm xmlns:a="http://schemas.openxmlformats.org/drawingml/2006/main">
            <a:off x="5924550" y="2886075"/>
            <a:ext cx="552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A82"/>
                </a:solidFill>
                <a:latin typeface="Arial"/>
                <a:ea typeface="Arial"/>
                <a:cs typeface="Arial"/>
              </a:defRPr>
            </a:defPPr>
          </a:lstStyle>
          <a:p xmlns:a="http://schemas.openxmlformats.org/drawingml/2006/main">
            <a:pPr algn="l">
              <a:defRPr sz="1575" b="0">
                <a:solidFill>
                  <a:srgbClr val="596A82"/>
                </a:solidFill>
                <a:latin typeface="Arial"/>
                <a:ea typeface="Arial"/>
                <a:cs typeface="Arial"/>
              </a:defRPr>
            </a:pPr>
            <a:r>
              <a:rPr sz="1575" b="0">
                <a:solidFill>
                  <a:srgbClr val="596A82"/>
                </a:solidFill>
                <a:latin typeface="Arial"/>
                <a:ea typeface="Arial"/>
                <a:cs typeface="Arial"/>
              </a:rPr>
              <a:t>2025 Türkiye e-ticaret görünümü, Mayıs 2026</a:t>
            </a:r>
          </a:p>
        </p:txBody>
      </p:sp>
      <p:sp>
        <p:nvSpPr>
          <p:cNvPr id="13" name="text-199">
            <a:extLst xmlns:a="http://schemas.openxmlformats.org/drawingml/2006/main">
              <a:ext uri="{FF2B5EF4-FFF2-40B4-BE49-F238E27FC236}">
                <a16:creationId xmlns:a16="http://schemas.microsoft.com/office/drawing/2014/main" id="{6087D8B0-0083-4EF0-BF45-900C6B8F910E}"/>
              </a:ext>
            </a:extLst>
          </p:cNvPr>
          <p:cNvSpPr>
            <a:spLocks xmlns:a="http://schemas.openxmlformats.org/drawingml/2006/main" noGrp="1"/>
          </p:cNvSpPr>
          <p:nvPr/>
        </p:nvSpPr>
        <p:spPr>
          <a:xfrm xmlns:a="http://schemas.openxmlformats.org/drawingml/2006/main">
            <a:off x="742950" y="3390900"/>
            <a:ext cx="52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75FF7"/>
                </a:solidFill>
                <a:latin typeface="Arial"/>
                <a:ea typeface="Arial"/>
                <a:cs typeface="Arial"/>
              </a:defRPr>
            </a:defPPr>
          </a:lstStyle>
          <a:p xmlns:a="http://schemas.openxmlformats.org/drawingml/2006/main">
            <a:pPr algn="l">
              <a:defRPr sz="1650" b="1">
                <a:solidFill>
                  <a:srgbClr val="075FF7"/>
                </a:solidFill>
                <a:latin typeface="Arial"/>
                <a:ea typeface="Arial"/>
                <a:cs typeface="Arial"/>
              </a:defRPr>
            </a:pPr>
            <a:r>
              <a:rPr sz="1650" b="1">
                <a:solidFill>
                  <a:srgbClr val="075FF7"/>
                </a:solidFill>
                <a:latin typeface="Arial"/>
                <a:ea typeface="Arial"/>
                <a:cs typeface="Arial"/>
              </a:rPr>
              <a:t>04</a:t>
            </a:r>
          </a:p>
        </p:txBody>
      </p:sp>
      <p:sp>
        <p:nvSpPr>
          <p:cNvPr id="14" name="text-200">
            <a:extLst xmlns:a="http://schemas.openxmlformats.org/drawingml/2006/main">
              <a:ext uri="{FF2B5EF4-FFF2-40B4-BE49-F238E27FC236}">
                <a16:creationId xmlns:a16="http://schemas.microsoft.com/office/drawing/2014/main" id="{AA4F2978-0CC4-4E7D-9706-021BC37F9CE2}"/>
              </a:ext>
            </a:extLst>
          </p:cNvPr>
          <p:cNvSpPr>
            <a:spLocks xmlns:a="http://schemas.openxmlformats.org/drawingml/2006/main" noGrp="1"/>
          </p:cNvSpPr>
          <p:nvPr/>
        </p:nvSpPr>
        <p:spPr>
          <a:xfrm xmlns:a="http://schemas.openxmlformats.org/drawingml/2006/main">
            <a:off x="1409700" y="3390900"/>
            <a:ext cx="433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1B3A"/>
                </a:solidFill>
                <a:latin typeface="Arial"/>
                <a:ea typeface="Arial"/>
                <a:cs typeface="Arial"/>
              </a:defRPr>
            </a:defPPr>
          </a:lstStyle>
          <a:p xmlns:a="http://schemas.openxmlformats.org/drawingml/2006/main">
            <a:pPr algn="l">
              <a:defRPr sz="1650" b="1">
                <a:solidFill>
                  <a:srgbClr val="081B3A"/>
                </a:solidFill>
                <a:latin typeface="Arial"/>
                <a:ea typeface="Arial"/>
                <a:cs typeface="Arial"/>
              </a:defRPr>
            </a:pPr>
            <a:r>
              <a:rPr sz="1650" b="1">
                <a:solidFill>
                  <a:srgbClr val="081B3A"/>
                </a:solidFill>
                <a:latin typeface="Arial"/>
                <a:ea typeface="Arial"/>
                <a:cs typeface="Arial"/>
              </a:rPr>
              <a:t>Shopify Form 10-K</a:t>
            </a:r>
          </a:p>
        </p:txBody>
      </p:sp>
      <p:sp>
        <p:nvSpPr>
          <p:cNvPr id="15" name="text-201">
            <a:extLst xmlns:a="http://schemas.openxmlformats.org/drawingml/2006/main">
              <a:ext uri="{FF2B5EF4-FFF2-40B4-BE49-F238E27FC236}">
                <a16:creationId xmlns:a16="http://schemas.microsoft.com/office/drawing/2014/main" id="{D44C64B9-C3E4-4F52-B278-DC6E7227BFBB}"/>
              </a:ext>
            </a:extLst>
          </p:cNvPr>
          <p:cNvSpPr>
            <a:spLocks xmlns:a="http://schemas.openxmlformats.org/drawingml/2006/main" noGrp="1"/>
          </p:cNvSpPr>
          <p:nvPr/>
        </p:nvSpPr>
        <p:spPr>
          <a:xfrm xmlns:a="http://schemas.openxmlformats.org/drawingml/2006/main">
            <a:off x="5924550" y="3390900"/>
            <a:ext cx="552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A82"/>
                </a:solidFill>
                <a:latin typeface="Arial"/>
                <a:ea typeface="Arial"/>
                <a:cs typeface="Arial"/>
              </a:defRPr>
            </a:defPPr>
          </a:lstStyle>
          <a:p xmlns:a="http://schemas.openxmlformats.org/drawingml/2006/main">
            <a:pPr algn="l">
              <a:defRPr sz="1575" b="0">
                <a:solidFill>
                  <a:srgbClr val="596A82"/>
                </a:solidFill>
                <a:latin typeface="Arial"/>
                <a:ea typeface="Arial"/>
                <a:cs typeface="Arial"/>
              </a:defRPr>
            </a:pPr>
            <a:r>
              <a:rPr sz="1575" b="0">
                <a:solidFill>
                  <a:srgbClr val="596A82"/>
                </a:solidFill>
                <a:latin typeface="Arial"/>
                <a:ea typeface="Arial"/>
                <a:cs typeface="Arial"/>
              </a:rPr>
              <a:t>2025 gerçekleşmiş platform GMV verileri</a:t>
            </a:r>
          </a:p>
        </p:txBody>
      </p:sp>
      <p:sp>
        <p:nvSpPr>
          <p:cNvPr id="16" name="text-202">
            <a:extLst xmlns:a="http://schemas.openxmlformats.org/drawingml/2006/main">
              <a:ext uri="{FF2B5EF4-FFF2-40B4-BE49-F238E27FC236}">
                <a16:creationId xmlns:a16="http://schemas.microsoft.com/office/drawing/2014/main" id="{265B5169-5D73-4A0C-A135-E66E08703952}"/>
              </a:ext>
            </a:extLst>
          </p:cNvPr>
          <p:cNvSpPr>
            <a:spLocks xmlns:a="http://schemas.openxmlformats.org/drawingml/2006/main" noGrp="1"/>
          </p:cNvSpPr>
          <p:nvPr/>
        </p:nvSpPr>
        <p:spPr>
          <a:xfrm xmlns:a="http://schemas.openxmlformats.org/drawingml/2006/main">
            <a:off x="742950" y="3895725"/>
            <a:ext cx="52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75FF7"/>
                </a:solidFill>
                <a:latin typeface="Arial"/>
                <a:ea typeface="Arial"/>
                <a:cs typeface="Arial"/>
              </a:defRPr>
            </a:defPPr>
          </a:lstStyle>
          <a:p xmlns:a="http://schemas.openxmlformats.org/drawingml/2006/main">
            <a:pPr algn="l">
              <a:defRPr sz="1650" b="1">
                <a:solidFill>
                  <a:srgbClr val="075FF7"/>
                </a:solidFill>
                <a:latin typeface="Arial"/>
                <a:ea typeface="Arial"/>
                <a:cs typeface="Arial"/>
              </a:defRPr>
            </a:pPr>
            <a:r>
              <a:rPr sz="1650" b="1">
                <a:solidFill>
                  <a:srgbClr val="075FF7"/>
                </a:solidFill>
                <a:latin typeface="Arial"/>
                <a:ea typeface="Arial"/>
                <a:cs typeface="Arial"/>
              </a:rPr>
              <a:t>05</a:t>
            </a:r>
          </a:p>
        </p:txBody>
      </p:sp>
      <p:sp>
        <p:nvSpPr>
          <p:cNvPr id="17" name="text-203">
            <a:extLst xmlns:a="http://schemas.openxmlformats.org/drawingml/2006/main">
              <a:ext uri="{FF2B5EF4-FFF2-40B4-BE49-F238E27FC236}">
                <a16:creationId xmlns:a16="http://schemas.microsoft.com/office/drawing/2014/main" id="{D6893718-AEA6-426C-B735-AB3371C19A99}"/>
              </a:ext>
            </a:extLst>
          </p:cNvPr>
          <p:cNvSpPr>
            <a:spLocks xmlns:a="http://schemas.openxmlformats.org/drawingml/2006/main" noGrp="1"/>
          </p:cNvSpPr>
          <p:nvPr/>
        </p:nvSpPr>
        <p:spPr>
          <a:xfrm xmlns:a="http://schemas.openxmlformats.org/drawingml/2006/main">
            <a:off x="1409700" y="3895725"/>
            <a:ext cx="433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1B3A"/>
                </a:solidFill>
                <a:latin typeface="Arial"/>
                <a:ea typeface="Arial"/>
                <a:cs typeface="Arial"/>
              </a:defRPr>
            </a:defPPr>
          </a:lstStyle>
          <a:p xmlns:a="http://schemas.openxmlformats.org/drawingml/2006/main">
            <a:pPr algn="l">
              <a:defRPr sz="1650" b="1">
                <a:solidFill>
                  <a:srgbClr val="081B3A"/>
                </a:solidFill>
                <a:latin typeface="Arial"/>
                <a:ea typeface="Arial"/>
                <a:cs typeface="Arial"/>
              </a:defRPr>
            </a:pPr>
            <a:r>
              <a:rPr sz="1650" b="1">
                <a:solidFill>
                  <a:srgbClr val="081B3A"/>
                </a:solidFill>
                <a:latin typeface="Arial"/>
                <a:ea typeface="Arial"/>
                <a:cs typeface="Arial"/>
              </a:rPr>
              <a:t>IAB</a:t>
            </a:r>
          </a:p>
        </p:txBody>
      </p:sp>
      <p:sp>
        <p:nvSpPr>
          <p:cNvPr id="18" name="text-204">
            <a:extLst xmlns:a="http://schemas.openxmlformats.org/drawingml/2006/main">
              <a:ext uri="{FF2B5EF4-FFF2-40B4-BE49-F238E27FC236}">
                <a16:creationId xmlns:a16="http://schemas.microsoft.com/office/drawing/2014/main" id="{6955C2A3-6453-4ACA-A0E6-0D4A643435BA}"/>
              </a:ext>
            </a:extLst>
          </p:cNvPr>
          <p:cNvSpPr>
            <a:spLocks xmlns:a="http://schemas.openxmlformats.org/drawingml/2006/main" noGrp="1"/>
          </p:cNvSpPr>
          <p:nvPr/>
        </p:nvSpPr>
        <p:spPr>
          <a:xfrm xmlns:a="http://schemas.openxmlformats.org/drawingml/2006/main">
            <a:off x="5924550" y="3895725"/>
            <a:ext cx="552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A82"/>
                </a:solidFill>
                <a:latin typeface="Arial"/>
                <a:ea typeface="Arial"/>
                <a:cs typeface="Arial"/>
              </a:defRPr>
            </a:defPPr>
          </a:lstStyle>
          <a:p xmlns:a="http://schemas.openxmlformats.org/drawingml/2006/main">
            <a:pPr algn="l">
              <a:defRPr sz="1575" b="0">
                <a:solidFill>
                  <a:srgbClr val="596A82"/>
                </a:solidFill>
                <a:latin typeface="Arial"/>
                <a:ea typeface="Arial"/>
                <a:cs typeface="Arial"/>
              </a:defRPr>
            </a:pPr>
            <a:r>
              <a:rPr sz="1575" b="0">
                <a:solidFill>
                  <a:srgbClr val="596A82"/>
                </a:solidFill>
                <a:latin typeface="Arial"/>
                <a:ea typeface="Arial"/>
                <a:cs typeface="Arial"/>
              </a:rPr>
              <a:t>2025 ABD creator reklam harcaması tahmini</a:t>
            </a:r>
          </a:p>
        </p:txBody>
      </p:sp>
      <p:sp>
        <p:nvSpPr>
          <p:cNvPr id="19" name="text-205">
            <a:extLst xmlns:a="http://schemas.openxmlformats.org/drawingml/2006/main">
              <a:ext uri="{FF2B5EF4-FFF2-40B4-BE49-F238E27FC236}">
                <a16:creationId xmlns:a16="http://schemas.microsoft.com/office/drawing/2014/main" id="{72F1F03B-E5B0-42AB-96CC-2B628D705CC9}"/>
              </a:ext>
            </a:extLst>
          </p:cNvPr>
          <p:cNvSpPr>
            <a:spLocks xmlns:a="http://schemas.openxmlformats.org/drawingml/2006/main" noGrp="1"/>
          </p:cNvSpPr>
          <p:nvPr/>
        </p:nvSpPr>
        <p:spPr>
          <a:xfrm xmlns:a="http://schemas.openxmlformats.org/drawingml/2006/main">
            <a:off x="742950" y="4400550"/>
            <a:ext cx="52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75FF7"/>
                </a:solidFill>
                <a:latin typeface="Arial"/>
                <a:ea typeface="Arial"/>
                <a:cs typeface="Arial"/>
              </a:defRPr>
            </a:defPPr>
          </a:lstStyle>
          <a:p xmlns:a="http://schemas.openxmlformats.org/drawingml/2006/main">
            <a:pPr algn="l">
              <a:defRPr sz="1650" b="1">
                <a:solidFill>
                  <a:srgbClr val="075FF7"/>
                </a:solidFill>
                <a:latin typeface="Arial"/>
                <a:ea typeface="Arial"/>
                <a:cs typeface="Arial"/>
              </a:defRPr>
            </a:pPr>
            <a:r>
              <a:rPr sz="1650" b="1">
                <a:solidFill>
                  <a:srgbClr val="075FF7"/>
                </a:solidFill>
                <a:latin typeface="Arial"/>
                <a:ea typeface="Arial"/>
                <a:cs typeface="Arial"/>
              </a:rPr>
              <a:t>06</a:t>
            </a:r>
          </a:p>
        </p:txBody>
      </p:sp>
      <p:sp>
        <p:nvSpPr>
          <p:cNvPr id="20" name="text-206">
            <a:extLst xmlns:a="http://schemas.openxmlformats.org/drawingml/2006/main">
              <a:ext uri="{FF2B5EF4-FFF2-40B4-BE49-F238E27FC236}">
                <a16:creationId xmlns:a16="http://schemas.microsoft.com/office/drawing/2014/main" id="{244B85BD-4D0F-41C0-809A-737146D0C445}"/>
              </a:ext>
            </a:extLst>
          </p:cNvPr>
          <p:cNvSpPr>
            <a:spLocks xmlns:a="http://schemas.openxmlformats.org/drawingml/2006/main" noGrp="1"/>
          </p:cNvSpPr>
          <p:nvPr/>
        </p:nvSpPr>
        <p:spPr>
          <a:xfrm xmlns:a="http://schemas.openxmlformats.org/drawingml/2006/main">
            <a:off x="1409700" y="4400550"/>
            <a:ext cx="433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1B3A"/>
                </a:solidFill>
                <a:latin typeface="Arial"/>
                <a:ea typeface="Arial"/>
                <a:cs typeface="Arial"/>
              </a:defRPr>
            </a:defPPr>
          </a:lstStyle>
          <a:p xmlns:a="http://schemas.openxmlformats.org/drawingml/2006/main">
            <a:pPr algn="l">
              <a:defRPr sz="1650" b="1">
                <a:solidFill>
                  <a:srgbClr val="081B3A"/>
                </a:solidFill>
                <a:latin typeface="Arial"/>
                <a:ea typeface="Arial"/>
                <a:cs typeface="Arial"/>
              </a:defRPr>
            </a:pPr>
            <a:r>
              <a:rPr sz="1650" b="1">
                <a:solidFill>
                  <a:srgbClr val="081B3A"/>
                </a:solidFill>
                <a:latin typeface="Arial"/>
                <a:ea typeface="Arial"/>
                <a:cs typeface="Arial"/>
              </a:rPr>
              <a:t>Shopier ve ikas</a:t>
            </a:r>
          </a:p>
        </p:txBody>
      </p:sp>
      <p:sp>
        <p:nvSpPr>
          <p:cNvPr id="21" name="text-207">
            <a:extLst xmlns:a="http://schemas.openxmlformats.org/drawingml/2006/main">
              <a:ext uri="{FF2B5EF4-FFF2-40B4-BE49-F238E27FC236}">
                <a16:creationId xmlns:a16="http://schemas.microsoft.com/office/drawing/2014/main" id="{180D7667-2066-4441-8F70-67CDB35FCAD8}"/>
              </a:ext>
            </a:extLst>
          </p:cNvPr>
          <p:cNvSpPr>
            <a:spLocks xmlns:a="http://schemas.openxmlformats.org/drawingml/2006/main" noGrp="1"/>
          </p:cNvSpPr>
          <p:nvPr/>
        </p:nvSpPr>
        <p:spPr>
          <a:xfrm xmlns:a="http://schemas.openxmlformats.org/drawingml/2006/main">
            <a:off x="5924550" y="4400550"/>
            <a:ext cx="552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A82"/>
                </a:solidFill>
                <a:latin typeface="Arial"/>
                <a:ea typeface="Arial"/>
                <a:cs typeface="Arial"/>
              </a:defRPr>
            </a:defPPr>
          </a:lstStyle>
          <a:p xmlns:a="http://schemas.openxmlformats.org/drawingml/2006/main">
            <a:pPr algn="l">
              <a:defRPr sz="1575" b="0">
                <a:solidFill>
                  <a:srgbClr val="596A82"/>
                </a:solidFill>
                <a:latin typeface="Arial"/>
                <a:ea typeface="Arial"/>
                <a:cs typeface="Arial"/>
              </a:defRPr>
            </a:pPr>
            <a:r>
              <a:rPr sz="1575" b="0">
                <a:solidFill>
                  <a:srgbClr val="596A82"/>
                </a:solidFill>
                <a:latin typeface="Arial"/>
                <a:ea typeface="Arial"/>
                <a:cs typeface="Arial"/>
              </a:rPr>
              <a:t>Resmi ürün kapsamı, Ekim 2026</a:t>
            </a:r>
          </a:p>
        </p:txBody>
      </p:sp>
      <p:sp>
        <p:nvSpPr>
          <p:cNvPr id="22" name="text-208">
            <a:extLst xmlns:a="http://schemas.openxmlformats.org/drawingml/2006/main">
              <a:ext uri="{FF2B5EF4-FFF2-40B4-BE49-F238E27FC236}">
                <a16:creationId xmlns:a16="http://schemas.microsoft.com/office/drawing/2014/main" id="{2D8C36B1-F0A3-4254-A935-A92FAE5FEFBB}"/>
              </a:ext>
            </a:extLst>
          </p:cNvPr>
          <p:cNvSpPr>
            <a:spLocks xmlns:a="http://schemas.openxmlformats.org/drawingml/2006/main" noGrp="1"/>
          </p:cNvSpPr>
          <p:nvPr/>
        </p:nvSpPr>
        <p:spPr>
          <a:xfrm xmlns:a="http://schemas.openxmlformats.org/drawingml/2006/main">
            <a:off x="742950" y="4905375"/>
            <a:ext cx="52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75FF7"/>
                </a:solidFill>
                <a:latin typeface="Arial"/>
                <a:ea typeface="Arial"/>
                <a:cs typeface="Arial"/>
              </a:defRPr>
            </a:defPPr>
          </a:lstStyle>
          <a:p xmlns:a="http://schemas.openxmlformats.org/drawingml/2006/main">
            <a:pPr algn="l">
              <a:defRPr sz="1650" b="1">
                <a:solidFill>
                  <a:srgbClr val="075FF7"/>
                </a:solidFill>
                <a:latin typeface="Arial"/>
                <a:ea typeface="Arial"/>
                <a:cs typeface="Arial"/>
              </a:defRPr>
            </a:pPr>
            <a:r>
              <a:rPr sz="1650" b="1">
                <a:solidFill>
                  <a:srgbClr val="075FF7"/>
                </a:solidFill>
                <a:latin typeface="Arial"/>
                <a:ea typeface="Arial"/>
                <a:cs typeface="Arial"/>
              </a:rPr>
              <a:t>07</a:t>
            </a:r>
          </a:p>
        </p:txBody>
      </p:sp>
      <p:sp>
        <p:nvSpPr>
          <p:cNvPr id="23" name="text-209">
            <a:extLst xmlns:a="http://schemas.openxmlformats.org/drawingml/2006/main">
              <a:ext uri="{FF2B5EF4-FFF2-40B4-BE49-F238E27FC236}">
                <a16:creationId xmlns:a16="http://schemas.microsoft.com/office/drawing/2014/main" id="{AC9D85F7-A7AE-4BAA-87C8-06978637D32D}"/>
              </a:ext>
            </a:extLst>
          </p:cNvPr>
          <p:cNvSpPr>
            <a:spLocks xmlns:a="http://schemas.openxmlformats.org/drawingml/2006/main" noGrp="1"/>
          </p:cNvSpPr>
          <p:nvPr/>
        </p:nvSpPr>
        <p:spPr>
          <a:xfrm xmlns:a="http://schemas.openxmlformats.org/drawingml/2006/main">
            <a:off x="1409700" y="4905375"/>
            <a:ext cx="433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1B3A"/>
                </a:solidFill>
                <a:latin typeface="Arial"/>
                <a:ea typeface="Arial"/>
                <a:cs typeface="Arial"/>
              </a:defRPr>
            </a:defPPr>
          </a:lstStyle>
          <a:p xmlns:a="http://schemas.openxmlformats.org/drawingml/2006/main">
            <a:pPr algn="l">
              <a:defRPr sz="1650" b="1">
                <a:solidFill>
                  <a:srgbClr val="081B3A"/>
                </a:solidFill>
                <a:latin typeface="Arial"/>
                <a:ea typeface="Arial"/>
                <a:cs typeface="Arial"/>
              </a:defRPr>
            </a:pPr>
            <a:r>
              <a:rPr sz="1650" b="1">
                <a:solidFill>
                  <a:srgbClr val="081B3A"/>
                </a:solidFill>
                <a:latin typeface="Arial"/>
                <a:ea typeface="Arial"/>
                <a:cs typeface="Arial"/>
              </a:rPr>
              <a:t>Shopify Collective ve Collabs</a:t>
            </a:r>
          </a:p>
        </p:txBody>
      </p:sp>
      <p:sp>
        <p:nvSpPr>
          <p:cNvPr id="24" name="text-210">
            <a:extLst xmlns:a="http://schemas.openxmlformats.org/drawingml/2006/main">
              <a:ext uri="{FF2B5EF4-FFF2-40B4-BE49-F238E27FC236}">
                <a16:creationId xmlns:a16="http://schemas.microsoft.com/office/drawing/2014/main" id="{A4301CE5-6B1C-4761-8B05-B892F3860303}"/>
              </a:ext>
            </a:extLst>
          </p:cNvPr>
          <p:cNvSpPr>
            <a:spLocks xmlns:a="http://schemas.openxmlformats.org/drawingml/2006/main" noGrp="1"/>
          </p:cNvSpPr>
          <p:nvPr/>
        </p:nvSpPr>
        <p:spPr>
          <a:xfrm xmlns:a="http://schemas.openxmlformats.org/drawingml/2006/main">
            <a:off x="5924550" y="4905375"/>
            <a:ext cx="552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A82"/>
                </a:solidFill>
                <a:latin typeface="Arial"/>
                <a:ea typeface="Arial"/>
                <a:cs typeface="Arial"/>
              </a:defRPr>
            </a:defPPr>
          </a:lstStyle>
          <a:p xmlns:a="http://schemas.openxmlformats.org/drawingml/2006/main">
            <a:pPr algn="l">
              <a:defRPr sz="1575" b="0">
                <a:solidFill>
                  <a:srgbClr val="596A82"/>
                </a:solidFill>
                <a:latin typeface="Arial"/>
                <a:ea typeface="Arial"/>
                <a:cs typeface="Arial"/>
              </a:defRPr>
            </a:pPr>
            <a:r>
              <a:rPr sz="1575" b="0">
                <a:solidFill>
                  <a:srgbClr val="596A82"/>
                </a:solidFill>
                <a:latin typeface="Arial"/>
                <a:ea typeface="Arial"/>
                <a:cs typeface="Arial"/>
              </a:rPr>
              <a:t>Tedarik ve creator iş birliği ürünleri</a:t>
            </a:r>
          </a:p>
        </p:txBody>
      </p:sp>
      <p:sp>
        <p:nvSpPr>
          <p:cNvPr id="25" name="text-211">
            <a:extLst xmlns:a="http://schemas.openxmlformats.org/drawingml/2006/main">
              <a:ext uri="{FF2B5EF4-FFF2-40B4-BE49-F238E27FC236}">
                <a16:creationId xmlns:a16="http://schemas.microsoft.com/office/drawing/2014/main" id="{9BBCDC15-6FD7-4233-8D01-B1E5E256F69B}"/>
              </a:ext>
            </a:extLst>
          </p:cNvPr>
          <p:cNvSpPr>
            <a:spLocks xmlns:a="http://schemas.openxmlformats.org/drawingml/2006/main" noGrp="1"/>
          </p:cNvSpPr>
          <p:nvPr/>
        </p:nvSpPr>
        <p:spPr>
          <a:xfrm xmlns:a="http://schemas.openxmlformats.org/drawingml/2006/main">
            <a:off x="742950" y="5410200"/>
            <a:ext cx="52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75FF7"/>
                </a:solidFill>
                <a:latin typeface="Arial"/>
                <a:ea typeface="Arial"/>
                <a:cs typeface="Arial"/>
              </a:defRPr>
            </a:defPPr>
          </a:lstStyle>
          <a:p xmlns:a="http://schemas.openxmlformats.org/drawingml/2006/main">
            <a:pPr algn="l">
              <a:defRPr sz="1650" b="1">
                <a:solidFill>
                  <a:srgbClr val="075FF7"/>
                </a:solidFill>
                <a:latin typeface="Arial"/>
                <a:ea typeface="Arial"/>
                <a:cs typeface="Arial"/>
              </a:defRPr>
            </a:pPr>
            <a:r>
              <a:rPr sz="1650" b="1">
                <a:solidFill>
                  <a:srgbClr val="075FF7"/>
                </a:solidFill>
                <a:latin typeface="Arial"/>
                <a:ea typeface="Arial"/>
                <a:cs typeface="Arial"/>
              </a:rPr>
              <a:t>08</a:t>
            </a:r>
          </a:p>
        </p:txBody>
      </p:sp>
      <p:sp>
        <p:nvSpPr>
          <p:cNvPr id="26" name="text-212">
            <a:extLst xmlns:a="http://schemas.openxmlformats.org/drawingml/2006/main">
              <a:ext uri="{FF2B5EF4-FFF2-40B4-BE49-F238E27FC236}">
                <a16:creationId xmlns:a16="http://schemas.microsoft.com/office/drawing/2014/main" id="{28D44582-FB72-4E0C-A53B-79E2A1188337}"/>
              </a:ext>
            </a:extLst>
          </p:cNvPr>
          <p:cNvSpPr>
            <a:spLocks xmlns:a="http://schemas.openxmlformats.org/drawingml/2006/main" noGrp="1"/>
          </p:cNvSpPr>
          <p:nvPr/>
        </p:nvSpPr>
        <p:spPr>
          <a:xfrm xmlns:a="http://schemas.openxmlformats.org/drawingml/2006/main">
            <a:off x="1409700" y="5410200"/>
            <a:ext cx="433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1B3A"/>
                </a:solidFill>
                <a:latin typeface="Arial"/>
                <a:ea typeface="Arial"/>
                <a:cs typeface="Arial"/>
              </a:defRPr>
            </a:defPPr>
          </a:lstStyle>
          <a:p xmlns:a="http://schemas.openxmlformats.org/drawingml/2006/main">
            <a:pPr algn="l">
              <a:defRPr sz="1650" b="1">
                <a:solidFill>
                  <a:srgbClr val="081B3A"/>
                </a:solidFill>
                <a:latin typeface="Arial"/>
                <a:ea typeface="Arial"/>
                <a:cs typeface="Arial"/>
              </a:defRPr>
            </a:pPr>
            <a:r>
              <a:rPr sz="1650" b="1">
                <a:solidFill>
                  <a:srgbClr val="081B3A"/>
                </a:solidFill>
                <a:latin typeface="Arial"/>
                <a:ea typeface="Arial"/>
                <a:cs typeface="Arial"/>
              </a:rPr>
              <a:t>Alceix proje raporu</a:t>
            </a:r>
          </a:p>
        </p:txBody>
      </p:sp>
      <p:sp>
        <p:nvSpPr>
          <p:cNvPr id="27" name="text-213">
            <a:extLst xmlns:a="http://schemas.openxmlformats.org/drawingml/2006/main">
              <a:ext uri="{FF2B5EF4-FFF2-40B4-BE49-F238E27FC236}">
                <a16:creationId xmlns:a16="http://schemas.microsoft.com/office/drawing/2014/main" id="{912F2752-7A24-4C48-9B67-FE669C5DE1E4}"/>
              </a:ext>
            </a:extLst>
          </p:cNvPr>
          <p:cNvSpPr>
            <a:spLocks xmlns:a="http://schemas.openxmlformats.org/drawingml/2006/main" noGrp="1"/>
          </p:cNvSpPr>
          <p:nvPr/>
        </p:nvSpPr>
        <p:spPr>
          <a:xfrm xmlns:a="http://schemas.openxmlformats.org/drawingml/2006/main">
            <a:off x="5924550" y="5410200"/>
            <a:ext cx="552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A82"/>
                </a:solidFill>
                <a:latin typeface="Arial"/>
                <a:ea typeface="Arial"/>
                <a:cs typeface="Arial"/>
              </a:defRPr>
            </a:defPPr>
          </a:lstStyle>
          <a:p xmlns:a="http://schemas.openxmlformats.org/drawingml/2006/main">
            <a:pPr algn="l">
              <a:defRPr sz="1575" b="0">
                <a:solidFill>
                  <a:srgbClr val="596A82"/>
                </a:solidFill>
                <a:latin typeface="Arial"/>
                <a:ea typeface="Arial"/>
                <a:cs typeface="Arial"/>
              </a:defRPr>
            </a:pPr>
            <a:r>
              <a:rPr sz="1575" b="0">
                <a:solidFill>
                  <a:srgbClr val="596A82"/>
                </a:solidFill>
                <a:latin typeface="Arial"/>
                <a:ea typeface="Arial"/>
                <a:cs typeface="Arial"/>
              </a:rPr>
              <a:t>13 Ekim teknik ilerleme ve kapsam sınırları</a:t>
            </a:r>
          </a:p>
        </p:txBody>
      </p:sp>
      <p:sp>
        <p:nvSpPr>
          <p:cNvPr id="28" name="text-214">
            <a:extLst xmlns:a="http://schemas.openxmlformats.org/drawingml/2006/main">
              <a:ext uri="{FF2B5EF4-FFF2-40B4-BE49-F238E27FC236}">
                <a16:creationId xmlns:a16="http://schemas.microsoft.com/office/drawing/2014/main" id="{62EE5D47-982E-4E2D-B2AD-BB15A979BD05}"/>
              </a:ext>
            </a:extLst>
          </p:cNvPr>
          <p:cNvSpPr>
            <a:spLocks xmlns:a="http://schemas.openxmlformats.org/drawingml/2006/main" noGrp="1"/>
          </p:cNvSpPr>
          <p:nvPr/>
        </p:nvSpPr>
        <p:spPr>
          <a:xfrm xmlns:a="http://schemas.openxmlformats.org/drawingml/2006/main">
            <a:off x="752475" y="6096000"/>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6A82"/>
                </a:solidFill>
                <a:latin typeface="Arial"/>
                <a:ea typeface="Arial"/>
                <a:cs typeface="Arial"/>
              </a:defRPr>
            </a:defPPr>
          </a:lstStyle>
          <a:p xmlns:a="http://schemas.openxmlformats.org/drawingml/2006/main">
            <a:pPr algn="l">
              <a:defRPr sz="1350" b="0">
                <a:solidFill>
                  <a:srgbClr val="596A82"/>
                </a:solidFill>
                <a:latin typeface="Arial"/>
                <a:ea typeface="Arial"/>
                <a:cs typeface="Arial"/>
              </a:defRPr>
            </a:pPr>
            <a:r>
              <a:rPr sz="1350" b="0">
                <a:solidFill>
                  <a:srgbClr val="596A82"/>
                </a:solidFill>
                <a:latin typeface="Arial"/>
                <a:ea typeface="Arial"/>
                <a:cs typeface="Arial"/>
              </a:rPr>
              <a:t>Tam bağlantılar ilgili slaytların konuşmacı notlarında bulunur.</a:t>
            </a:r>
          </a:p>
        </p:txBody>
      </p:sp>
    </p:spTree>
    <p:extLst>
      <p:ext uri="{BB962C8B-B14F-4D97-AF65-F5344CB8AC3E}">
        <p14:creationId xmlns:p14="http://schemas.microsoft.com/office/powerpoint/2010/main" val="2086396480"/>
      </p:ext>
    </p:extLst>
  </p:cSld>
</p:sld>
</file>

<file path=ppt/theme/theme1.xml><?xml version="1.0" encoding="utf-8"?>
<a:theme xmlns:a="http://schemas.openxmlformats.org/drawingml/2006/main" name="ChatGPT">
  <a:themeElements>
    <a:clrScheme name="Alceix Investor">
      <a:dk1>
        <a:srgbClr val="000000"/>
      </a:dk1>
      <a:lt1>
        <a:srgbClr val="FFFFFF"/>
      </a:lt1>
      <a:dk2>
        <a:srgbClr val="081B3A"/>
      </a:dk2>
      <a:lt2>
        <a:srgbClr val="F5F8FC"/>
      </a:lt2>
      <a:accent1>
        <a:srgbClr val="075FF7"/>
      </a:accent1>
      <a:accent2>
        <a:srgbClr val="19C5D8"/>
      </a:accent2>
      <a:accent3>
        <a:srgbClr val="081B3A"/>
      </a:accent3>
      <a:accent4>
        <a:srgbClr val="138060"/>
      </a:accent4>
      <a:accent5>
        <a:srgbClr val="8CA8D6"/>
      </a:accent5>
      <a:accent6>
        <a:srgbClr val="BAC8DA"/>
      </a:accent6>
      <a:hlink>
        <a:srgbClr val="075FF7"/>
      </a:hlink>
      <a:folHlink>
        <a:srgbClr val="075FF7"/>
      </a:folHlink>
    </a:clrScheme>
    <a:fontScheme name="">
      <a:majorFont>
        <a:latin typeface="Arial"/>
        <a:ea typeface=""/>
        <a:cs typeface=""/>
      </a:majorFont>
      <a:minorFont>
        <a:latin typeface="Arial"/>
        <a:ea typeface=""/>
        <a:cs typeface=""/>
      </a:minorFont>
    </a:fontScheme>
    <a:fmtScheme name="Alceix Investo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2026-10-13T17:23:51.5340000Z</dcterms:created>
  <dcterms:modified xsi:type="dcterms:W3CDTF">2026-10-13T17:23:51.5340000Z</dcterms:modified>
</coreProperties>
</file>